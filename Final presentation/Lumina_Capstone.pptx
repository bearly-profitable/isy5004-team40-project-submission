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68" r:id="rId15"/>
    <p:sldId id="269" r:id="rId1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Weight</c:v>
                </c:pt>
              </c:strCache>
            </c:strRef>
          </c:tx>
          <c:spPr>
            <a:solidFill>
              <a:srgbClr val="8F7BC6"/>
            </a:solidFill>
            <a:effectLst/>
          </c:spPr>
          <c:invertIfNegative val="0"/>
          <c:dLbls>
            <c:numFmt formatCode="0&quot;%&quot;" sourceLinked="0"/>
            <c:spPr>
              <a:noFill/>
              <a:ln>
                <a:noFill/>
              </a:ln>
              <a:effectLst/>
            </c:spPr>
            <c:txPr>
              <a:bodyPr/>
              <a:lstStyle/>
              <a:p>
                <a:pPr>
                  <a:defRPr sz="1200" b="0" i="0" u="none" strike="noStrike">
                    <a:solidFill>
                      <a:srgbClr val="2F244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Centrality</c:v>
                </c:pt>
                <c:pt idx="1">
                  <c:v>Aesthetics (NIMA)</c:v>
                </c:pt>
                <c:pt idx="2">
                  <c:v>Face sharpness</c:v>
                </c:pt>
                <c:pt idx="3">
                  <c:v>Face size</c:v>
                </c:pt>
                <c:pt idx="4">
                  <c:v>Detection conf.</c:v>
                </c:pt>
                <c:pt idx="5">
                  <c:v>Pose</c:v>
                </c:pt>
                <c:pt idx="6">
                  <c:v>Eyes open</c:v>
                </c:pt>
              </c:strCache>
            </c:strRef>
          </c:cat>
          <c:val>
            <c:numRef>
              <c:f>Sheet1!$B$2:$B$8</c:f>
              <c:numCache>
                <c:formatCode>General</c:formatCode>
                <c:ptCount val="7"/>
                <c:pt idx="0">
                  <c:v>25</c:v>
                </c:pt>
                <c:pt idx="1">
                  <c:v>25</c:v>
                </c:pt>
                <c:pt idx="2">
                  <c:v>15</c:v>
                </c:pt>
                <c:pt idx="3">
                  <c:v>10</c:v>
                </c:pt>
                <c:pt idx="4">
                  <c:v>5</c:v>
                </c:pt>
                <c:pt idx="5">
                  <c:v>10</c:v>
                </c:pt>
                <c:pt idx="6">
                  <c:v>10</c:v>
                </c:pt>
              </c:numCache>
            </c:numRef>
          </c:val>
          <c:extLst>
            <c:ext xmlns:c16="http://schemas.microsoft.com/office/drawing/2014/chart" uri="{C3380CC4-5D6E-409C-BE32-E72D297353CC}">
              <c16:uniqueId val="{00000000-8263-44B7-88AC-B2B81BE0D4B3}"/>
            </c:ext>
          </c:extLst>
        </c:ser>
        <c:dLbls>
          <c:showLegendKey val="0"/>
          <c:showVal val="1"/>
          <c:showCatName val="0"/>
          <c:showSerName val="0"/>
          <c:showPercent val="0"/>
          <c:showBubbleSize val="0"/>
        </c:dLbls>
        <c:gapWidth val="5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2F2440"/>
                </a:solidFill>
                <a:latin typeface="Calibri"/>
              </a:defRPr>
            </a:pPr>
            <a:endParaRPr lang="en-US"/>
          </a:p>
        </c:txPr>
        <c:crossAx val="2094734552"/>
        <c:crosses val="autoZero"/>
        <c:auto val="1"/>
        <c:lblAlgn val="ctr"/>
        <c:lblOffset val="100"/>
        <c:noMultiLvlLbl val="1"/>
      </c:catAx>
      <c:valAx>
        <c:axId val="2094734552"/>
        <c:scaling>
          <c:orientation val="minMax"/>
          <c:max val="3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Winners changed (of 16)</c:v>
                </c:pt>
              </c:strCache>
            </c:strRef>
          </c:tx>
          <c:spPr>
            <a:solidFill>
              <a:srgbClr val="E38C9E"/>
            </a:solidFill>
            <a:effectLst/>
          </c:spPr>
          <c:invertIfNegative val="0"/>
          <c:dPt>
            <c:idx val="0"/>
            <c:invertIfNegative val="0"/>
            <c:bubble3D val="0"/>
            <c:extLst>
              <c:ext xmlns:c16="http://schemas.microsoft.com/office/drawing/2014/chart" uri="{C3380CC4-5D6E-409C-BE32-E72D297353CC}">
                <c16:uniqueId val="{00000001-5AED-42AD-9D2E-C211CACF81FD}"/>
              </c:ext>
            </c:extLst>
          </c:dPt>
          <c:dPt>
            <c:idx val="1"/>
            <c:invertIfNegative val="0"/>
            <c:bubble3D val="0"/>
            <c:extLst>
              <c:ext xmlns:c16="http://schemas.microsoft.com/office/drawing/2014/chart" uri="{C3380CC4-5D6E-409C-BE32-E72D297353CC}">
                <c16:uniqueId val="{00000003-5AED-42AD-9D2E-C211CACF81FD}"/>
              </c:ext>
            </c:extLst>
          </c:dPt>
          <c:dPt>
            <c:idx val="2"/>
            <c:invertIfNegative val="0"/>
            <c:bubble3D val="0"/>
            <c:spPr>
              <a:solidFill>
                <a:srgbClr val="C4B4E6"/>
              </a:solidFill>
              <a:effectLst/>
            </c:spPr>
            <c:extLst>
              <c:ext xmlns:c16="http://schemas.microsoft.com/office/drawing/2014/chart" uri="{C3380CC4-5D6E-409C-BE32-E72D297353CC}">
                <c16:uniqueId val="{00000005-5AED-42AD-9D2E-C211CACF81FD}"/>
              </c:ext>
            </c:extLst>
          </c:dPt>
          <c:dPt>
            <c:idx val="3"/>
            <c:invertIfNegative val="0"/>
            <c:bubble3D val="0"/>
            <c:spPr>
              <a:solidFill>
                <a:srgbClr val="C4B4E6"/>
              </a:solidFill>
              <a:effectLst/>
            </c:spPr>
            <c:extLst>
              <c:ext xmlns:c16="http://schemas.microsoft.com/office/drawing/2014/chart" uri="{C3380CC4-5D6E-409C-BE32-E72D297353CC}">
                <c16:uniqueId val="{00000007-5AED-42AD-9D2E-C211CACF81FD}"/>
              </c:ext>
            </c:extLst>
          </c:dPt>
          <c:dPt>
            <c:idx val="4"/>
            <c:invertIfNegative val="0"/>
            <c:bubble3D val="0"/>
            <c:spPr>
              <a:solidFill>
                <a:srgbClr val="C4B4E6"/>
              </a:solidFill>
              <a:effectLst/>
            </c:spPr>
            <c:extLst>
              <c:ext xmlns:c16="http://schemas.microsoft.com/office/drawing/2014/chart" uri="{C3380CC4-5D6E-409C-BE32-E72D297353CC}">
                <c16:uniqueId val="{00000009-5AED-42AD-9D2E-C211CACF81FD}"/>
              </c:ext>
            </c:extLst>
          </c:dPt>
          <c:dPt>
            <c:idx val="5"/>
            <c:invertIfNegative val="0"/>
            <c:bubble3D val="0"/>
            <c:spPr>
              <a:solidFill>
                <a:srgbClr val="C4B4E6"/>
              </a:solidFill>
              <a:effectLst/>
            </c:spPr>
            <c:extLst>
              <c:ext xmlns:c16="http://schemas.microsoft.com/office/drawing/2014/chart" uri="{C3380CC4-5D6E-409C-BE32-E72D297353CC}">
                <c16:uniqueId val="{0000000B-5AED-42AD-9D2E-C211CACF81FD}"/>
              </c:ext>
            </c:extLst>
          </c:dPt>
          <c:dPt>
            <c:idx val="6"/>
            <c:invertIfNegative val="0"/>
            <c:bubble3D val="0"/>
            <c:spPr>
              <a:solidFill>
                <a:srgbClr val="C4B4E6"/>
              </a:solidFill>
              <a:effectLst/>
            </c:spPr>
            <c:extLst>
              <c:ext xmlns:c16="http://schemas.microsoft.com/office/drawing/2014/chart" uri="{C3380CC4-5D6E-409C-BE32-E72D297353CC}">
                <c16:uniqueId val="{0000000D-5AED-42AD-9D2E-C211CACF81FD}"/>
              </c:ext>
            </c:extLst>
          </c:dPt>
          <c:dPt>
            <c:idx val="7"/>
            <c:invertIfNegative val="0"/>
            <c:bubble3D val="0"/>
            <c:spPr>
              <a:solidFill>
                <a:srgbClr val="C4B4E6"/>
              </a:solidFill>
              <a:effectLst/>
            </c:spPr>
            <c:extLst>
              <c:ext xmlns:c16="http://schemas.microsoft.com/office/drawing/2014/chart" uri="{C3380CC4-5D6E-409C-BE32-E72D297353CC}">
                <c16:uniqueId val="{00000027-5AED-42AD-9D2E-C211CACF81FD}"/>
              </c:ext>
            </c:extLst>
          </c:dPt>
          <c:dLbls>
            <c:numFmt formatCode="0" sourceLinked="0"/>
            <c:spPr>
              <a:noFill/>
              <a:ln>
                <a:noFill/>
              </a:ln>
              <a:effectLst/>
            </c:spPr>
            <c:txPr>
              <a:bodyPr/>
              <a:lstStyle/>
              <a:p>
                <a:pPr>
                  <a:defRPr sz="1100" b="0" i="0" u="none" strike="noStrike">
                    <a:solidFill>
                      <a:srgbClr val="2F24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NIMA alone</c:v>
                </c:pt>
                <c:pt idx="1">
                  <c:v>Sem 1 rule</c:v>
                </c:pt>
                <c:pt idx="2">
                  <c:v>No centrality</c:v>
                </c:pt>
                <c:pt idx="3">
                  <c:v>No sharpness</c:v>
                </c:pt>
                <c:pt idx="4">
                  <c:v>No floors</c:v>
                </c:pt>
                <c:pt idx="5">
                  <c:v>No blink rule</c:v>
                </c:pt>
                <c:pt idx="6">
                  <c:v>No NIMA</c:v>
                </c:pt>
                <c:pt idx="7">
                  <c:v>Size, pose, ±20%</c:v>
                </c:pt>
              </c:strCache>
            </c:strRef>
          </c:cat>
          <c:val>
            <c:numRef>
              <c:f>Sheet1!$B$2:$B$9</c:f>
              <c:numCache>
                <c:formatCode>General</c:formatCode>
                <c:ptCount val="8"/>
                <c:pt idx="0">
                  <c:v>12</c:v>
                </c:pt>
                <c:pt idx="1">
                  <c:v>8</c:v>
                </c:pt>
                <c:pt idx="2">
                  <c:v>4</c:v>
                </c:pt>
                <c:pt idx="3">
                  <c:v>4</c:v>
                </c:pt>
                <c:pt idx="4">
                  <c:v>4</c:v>
                </c:pt>
                <c:pt idx="5">
                  <c:v>3</c:v>
                </c:pt>
                <c:pt idx="6">
                  <c:v>1</c:v>
                </c:pt>
                <c:pt idx="7">
                  <c:v>0</c:v>
                </c:pt>
              </c:numCache>
            </c:numRef>
          </c:val>
          <c:extLst>
            <c:ext xmlns:c16="http://schemas.microsoft.com/office/drawing/2014/chart" uri="{C3380CC4-5D6E-409C-BE32-E72D297353CC}">
              <c16:uniqueId val="{0000000E-5AED-42AD-9D2E-C211CACF81FD}"/>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2F2440"/>
                </a:solidFill>
                <a:latin typeface="Calibri"/>
              </a:defRPr>
            </a:pPr>
            <a:endParaRPr lang="en-US"/>
          </a:p>
        </c:txPr>
        <c:crossAx val="2094734552"/>
        <c:crosses val="autoZero"/>
        <c:auto val="1"/>
        <c:lblAlgn val="ctr"/>
        <c:lblOffset val="100"/>
        <c:noMultiLvlLbl val="1"/>
      </c:catAx>
      <c:valAx>
        <c:axId val="2094734552"/>
        <c:scaling>
          <c:orientation val="minMax"/>
          <c:max val="14"/>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9089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presenting Lumina. It's a photo curator: you give it a pile of photos from a trip or an event, and it hands back the best shot of each person at each moment, with a reason. The little bear is Lumi, our mascot. You'll see Lumi a lot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has this problem. One dinner turns into forty photos: burst shots, someone blinking, the same pose four times. Picking the keeper is slow, and people aren't consistent about it. These four photos are one moment from our own test set. Two have closed eyes.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Lumina does four things. It groups photos into moments, recognises who's in them, picks the best shot, and explains the pick in plain words. Everything runs on our own backend. Photos only go to a third party if you ask for Enhance or AI captions.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flow. Upload a batch. Lumi narrates each stage while the models run. You land in a gallery organised by moment and person, with a best shot already picked. Then you keep it: a printable album, a short video, or a zip. [Live demo here if time allows: lumina-production-639d.up.railway.app]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photo is read four ways. ArcFace for faces, YOLOv8 plus OSNet for bodies, DINOv3 for the scene, and CLIP for meaning. Those feed three answers: who is in it, which moment it belongs to, and which shot is best. Moments use the scene plus the photo's capture time, so two similar rooms hours apart can still be told apart. Features are cached by the file's hash, so a photo is never analysed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Faces alone fail when someone turns away. So each detection gets a fused embedding: the face and body vectors are stacked, scaled by the square roots of alpha and one minus alpha, so the similarity is exactly an alpha-weighted blend of face and body similarity. Alpha comes from how confident and how large the face is, and it never drops below 0.7, so a visible face always leads. Agglomerative clustering then groups people across the whole set. On screen, Spotlight on one person highlights them in every group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Within each moment, seven signals are combined: how representative the photo is of the scene, NIMA aesthetics, face sharpness, size, detection confidence, pose and open eyes. Normalisation has a floor, so a tiny difference inside a burst can't decide the winner. And there is one hard rule: a photo with a blink always ranks below any open-eyes alternative. The winner comes with an explanation generated from the signal differences, for example 'beat the runner-up mainly on face sharpness'. Users can see the full breakdown.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you swap in a photo you prefer, that's a pairwise signal: this one beats that one. We take one Bradley-Terry gradient step on the difference in signal vectors, pulled back toward the defaults, so a few noisy swaps can't overwrite the ranker. The profile shows your learned weights against the defaults. We tested this with real people, which is two slides from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Once the curation is done, you can make something. A printable PDF album where Lumi holds your photos, CLIP search in plain words like 'eating lunch together', a 1080p video cut to the beat, a small 3D island where Lumi walks among your moments, and Cleanup, which sets aside duplicates, blinks and blurry shots with a reason and deletes nothing until you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Lumi is our personal touch. Each moment is labelled zero-shot with CLIP, and that label chooses Lumi's outfit: sunglasses for the beach, a party hat for a birthday. The same mapping is used in the gallery, the album and the video. All 30 poses were generated once, offline, under a hard spending cap. The whole mascot cost about $2.60. Outfits are colour matrices, not extra artwork.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Semester 1 report listed six limitations. Each one is now addressed: fixed weights became preference learning; full recomputation became a hash-keyed feature cache; black-box picks now come with reasons; we added CLIP search; MMR gives Quality, Balanced and Diverse selection; and identity moved from body-only HDBSCAN to face-plus-body fusion.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Results on 55 of our own photos in 20 occasions. Events: the label-free threshold reaches an ARI of 0.985 against our grouping, versus 0.549 with the Semester 1 features. People: 526 pairs of faces share a photo, so they cannot be the same person, and clustering merges none of them. The blink rule takes closed-eye winners from 3 to 0. A cached re-run is 43 times faster, 82 seconds down to 1.9. The chart changes one part of the ranker at a time: NIMA alone changes 12 of 16 winners, centrality and sharpness 4 each, and pose, face size or a 20 percent weight change move none. Caveat: one private set, so we read these as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We asked 13 people to keep one photo per occasion, 234 picks in all. Lumina's order scores 0.53 where a random pick scores 0.50: above chance, but not by much. People aren't consistent either: shown the same occasion twice, 16 of 26 second answers matched the first. On one occasion all 13 kept the wide group shot that Lumina ranked last, because everyone was in it. And one learning pass didn't beat the defaults on held-out questions, 24 matches against 26. So we keep several shots, explain any we set aside, and the next signal to add is who is in the frame.</a:t>
            </a:r>
          </a:p>
        </p:txBody>
      </p:sp>
    </p:spTree>
    <p:extLst>
      <p:ext uri="{BB962C8B-B14F-4D97-AF65-F5344CB8AC3E}">
        <p14:creationId xmlns:p14="http://schemas.microsoft.com/office/powerpoint/2010/main" val="41681507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Honest limits: our test set is 55 private photos with no identity labels, one learning pass didn't beat the defaults, the free CPU hosting makes the first load slow, and batches are capped at 200. Next, we'd count who is in the frame, keep several shots with reasons rather than one keeper, run a bigger study with more repeat questions, benchmark on a labelled public album, and ask the user about faces the model is unsure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Lumina finds the people and the moments, picks the best shot and explains it, learns your taste, and turns the result into something you keep. Less time scrolling, more time remembering.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We're happy to take questions. Likely ones: why agglomerative over HDBSCAN for identity (fusion space and stability on small sets); how the explanation is generated (signal deltas vs runner-up); privacy (all inference on our backend; third-party only for Enhance/captions); why a mascot (makes waiting and results feel friendly, and it's reused consistently across app, album and video).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9.jpeg"/><Relationship Id="rId7"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9.jpeg"/><Relationship Id="rId7"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1417320"/>
            <a:ext cx="5486400" cy="27432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NUS-ISS  ·  ISY5004 CAPSTONE</a:t>
            </a:r>
            <a:endParaRPr lang="en-US" sz="1100" dirty="0"/>
          </a:p>
        </p:txBody>
      </p:sp>
      <p:sp>
        <p:nvSpPr>
          <p:cNvPr id="3" name="Text 1"/>
          <p:cNvSpPr txBox="1"/>
          <p:nvPr/>
        </p:nvSpPr>
        <p:spPr>
          <a:xfrm>
            <a:off x="731520" y="1691640"/>
            <a:ext cx="5486400" cy="1371600"/>
          </a:xfrm>
          <a:prstGeom prst="rect">
            <a:avLst/>
          </a:prstGeom>
          <a:noFill/>
          <a:ln/>
        </p:spPr>
        <p:txBody>
          <a:bodyPr wrap="square" lIns="0" tIns="0" rIns="0" bIns="0" rtlCol="0" anchor="ctr"/>
          <a:lstStyle/>
          <a:p>
            <a:pPr marL="0" indent="0">
              <a:buNone/>
            </a:pPr>
            <a:r>
              <a:rPr lang="en-US" sz="9600" dirty="0">
                <a:solidFill>
                  <a:srgbClr val="FFFFFF"/>
                </a:solidFill>
                <a:latin typeface="Georgia" pitchFamily="34" charset="0"/>
                <a:ea typeface="Georgia" pitchFamily="34" charset="-122"/>
                <a:cs typeface="Georgia" pitchFamily="34" charset="-120"/>
              </a:rPr>
              <a:t>Lumina</a:t>
            </a:r>
            <a:endParaRPr lang="en-US" sz="9600" dirty="0"/>
          </a:p>
        </p:txBody>
      </p:sp>
      <p:sp>
        <p:nvSpPr>
          <p:cNvPr id="4" name="Text 2"/>
          <p:cNvSpPr txBox="1"/>
          <p:nvPr/>
        </p:nvSpPr>
        <p:spPr>
          <a:xfrm>
            <a:off x="777240" y="3063240"/>
            <a:ext cx="5486400" cy="457200"/>
          </a:xfrm>
          <a:prstGeom prst="rect">
            <a:avLst/>
          </a:prstGeom>
          <a:noFill/>
          <a:ln/>
        </p:spPr>
        <p:txBody>
          <a:bodyPr wrap="square" lIns="0" tIns="0" rIns="0" bIns="0" rtlCol="0" anchor="ctr"/>
          <a:lstStyle/>
          <a:p>
            <a:pPr marL="0" indent="0">
              <a:buNone/>
            </a:pPr>
            <a:r>
              <a:rPr lang="en-US" sz="2400" i="1" dirty="0">
                <a:solidFill>
                  <a:srgbClr val="FFFFFF"/>
                </a:solidFill>
                <a:latin typeface="Georgia" pitchFamily="34" charset="0"/>
                <a:ea typeface="Georgia" pitchFamily="34" charset="-122"/>
                <a:cs typeface="Georgia" pitchFamily="34" charset="-120"/>
              </a:rPr>
              <a:t>Your best photos, found for you.</a:t>
            </a:r>
            <a:endParaRPr lang="en-US" sz="2400" dirty="0"/>
          </a:p>
        </p:txBody>
      </p:sp>
      <p:sp>
        <p:nvSpPr>
          <p:cNvPr id="5" name="Text 3"/>
          <p:cNvSpPr txBox="1"/>
          <p:nvPr/>
        </p:nvSpPr>
        <p:spPr>
          <a:xfrm>
            <a:off x="777240" y="5623560"/>
            <a:ext cx="6400800" cy="640080"/>
          </a:xfrm>
          <a:prstGeom prst="rect">
            <a:avLst/>
          </a:prstGeom>
          <a:noFill/>
          <a:ln/>
        </p:spPr>
        <p:txBody>
          <a:bodyPr wrap="square" lIns="0" tIns="0" rIns="0" bIns="0" rtlCol="0" anchor="ctr"/>
          <a:lstStyle/>
          <a:p>
            <a:pPr marL="0" indent="0">
              <a:spcAft>
                <a:spcPts val="200"/>
              </a:spcAft>
              <a:buNone/>
            </a:pPr>
            <a:r>
              <a:rPr lang="en-US" sz="1400" b="1" dirty="0">
                <a:solidFill>
                  <a:srgbClr val="2F2440"/>
                </a:solidFill>
                <a:latin typeface="Calibri" pitchFamily="34" charset="0"/>
                <a:ea typeface="Calibri" pitchFamily="34" charset="-122"/>
                <a:cs typeface="Calibri" pitchFamily="34" charset="-120"/>
              </a:rPr>
              <a:t>Agustinus Benyamin Prasetyo  ·  Ong Qing Quan</a:t>
            </a:r>
            <a:endParaRPr lang="en-US" sz="1400" dirty="0"/>
          </a:p>
          <a:p>
            <a:pPr marL="0" indent="0">
              <a:spcAft>
                <a:spcPts val="200"/>
              </a:spcAft>
              <a:buNone/>
            </a:pPr>
            <a:r>
              <a:rPr lang="en-US" sz="1400" dirty="0">
                <a:solidFill>
                  <a:srgbClr val="7D6D8E"/>
                </a:solidFill>
                <a:latin typeface="Calibri" pitchFamily="34" charset="0"/>
                <a:ea typeface="Calibri" pitchFamily="34" charset="-122"/>
                <a:cs typeface="Calibri" pitchFamily="34" charset="-120"/>
              </a:rPr>
              <a:t>AIS Group 40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85800"/>
            <a:ext cx="5486400" cy="274320"/>
          </a:xfrm>
          <a:prstGeom prst="rect">
            <a:avLst/>
          </a:prstGeom>
          <a:noFill/>
          <a:ln/>
        </p:spPr>
        <p:txBody>
          <a:bodyPr wrap="square" lIns="0" tIns="0" rIns="0" bIns="0" rtlCol="0" anchor="ctr"/>
          <a:lstStyle/>
          <a:p>
            <a:pPr marL="0" indent="0">
              <a:buNone/>
            </a:pPr>
            <a:r>
              <a:rPr lang="en-US" sz="1100" b="1" kern="0" spc="300" dirty="0">
                <a:solidFill>
                  <a:srgbClr val="8F7BC6"/>
                </a:solidFill>
                <a:latin typeface="Calibri" pitchFamily="34" charset="0"/>
                <a:ea typeface="Calibri" pitchFamily="34" charset="-122"/>
                <a:cs typeface="Calibri" pitchFamily="34" charset="-120"/>
              </a:rPr>
              <a:t>01  ·  THE PROBLEM</a:t>
            </a:r>
            <a:endParaRPr lang="en-US" sz="1100" dirty="0"/>
          </a:p>
        </p:txBody>
      </p:sp>
      <p:sp>
        <p:nvSpPr>
          <p:cNvPr id="3" name="Text 1"/>
          <p:cNvSpPr txBox="1"/>
          <p:nvPr/>
        </p:nvSpPr>
        <p:spPr>
          <a:xfrm>
            <a:off x="548640" y="1005840"/>
            <a:ext cx="5852160" cy="1463040"/>
          </a:xfrm>
          <a:prstGeom prst="rect">
            <a:avLst/>
          </a:prstGeom>
          <a:noFill/>
          <a:ln/>
        </p:spPr>
        <p:txBody>
          <a:bodyPr wrap="square" lIns="0" tIns="0" rIns="0" bIns="0" rtlCol="0" anchor="t"/>
          <a:lstStyle/>
          <a:p>
            <a:pPr marL="0" indent="0">
              <a:buNone/>
            </a:pPr>
            <a:r>
              <a:rPr lang="en-US" sz="3800" dirty="0">
                <a:solidFill>
                  <a:srgbClr val="2F2440"/>
                </a:solidFill>
                <a:latin typeface="Georgia" pitchFamily="34" charset="0"/>
                <a:ea typeface="Georgia" pitchFamily="34" charset="-122"/>
                <a:cs typeface="Georgia" pitchFamily="34" charset="-120"/>
              </a:rPr>
              <a:t>Hundreds of photos.</a:t>
            </a:r>
            <a:endParaRPr lang="en-US" sz="3800" dirty="0"/>
          </a:p>
          <a:p>
            <a:pPr marL="0" indent="0">
              <a:buNone/>
            </a:pPr>
            <a:r>
              <a:rPr lang="en-US" sz="3800" dirty="0">
                <a:solidFill>
                  <a:srgbClr val="2F2440"/>
                </a:solidFill>
                <a:latin typeface="Georgia" pitchFamily="34" charset="0"/>
                <a:ea typeface="Georgia" pitchFamily="34" charset="-122"/>
                <a:cs typeface="Georgia" pitchFamily="34" charset="-120"/>
              </a:rPr>
              <a:t>A handful worth keeping.</a:t>
            </a:r>
            <a:endParaRPr lang="en-US" sz="3800" dirty="0"/>
          </a:p>
        </p:txBody>
      </p:sp>
      <p:sp>
        <p:nvSpPr>
          <p:cNvPr id="4" name="Shape 2"/>
          <p:cNvSpPr/>
          <p:nvPr/>
        </p:nvSpPr>
        <p:spPr>
          <a:xfrm>
            <a:off x="548640" y="3520440"/>
            <a:ext cx="1783080" cy="1783080"/>
          </a:xfrm>
          <a:prstGeom prst="roundRect">
            <a:avLst>
              <a:gd name="adj" fmla="val 7179"/>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5" name="Shape 3"/>
          <p:cNvSpPr/>
          <p:nvPr/>
        </p:nvSpPr>
        <p:spPr>
          <a:xfrm>
            <a:off x="777240" y="3794760"/>
            <a:ext cx="146304" cy="146304"/>
          </a:xfrm>
          <a:prstGeom prst="ellipse">
            <a:avLst/>
          </a:prstGeom>
          <a:solidFill>
            <a:srgbClr val="8F7BC6"/>
          </a:solidFill>
          <a:ln/>
        </p:spPr>
        <p:txBody>
          <a:bodyPr/>
          <a:lstStyle/>
          <a:p>
            <a:endParaRPr lang="en-US"/>
          </a:p>
        </p:txBody>
      </p:sp>
      <p:sp>
        <p:nvSpPr>
          <p:cNvPr id="6" name="Text 4"/>
          <p:cNvSpPr txBox="1"/>
          <p:nvPr/>
        </p:nvSpPr>
        <p:spPr>
          <a:xfrm>
            <a:off x="777240" y="4087368"/>
            <a:ext cx="1417320" cy="365760"/>
          </a:xfrm>
          <a:prstGeom prst="rect">
            <a:avLst/>
          </a:prstGeom>
          <a:noFill/>
          <a:ln/>
        </p:spPr>
        <p:txBody>
          <a:bodyPr wrap="square" lIns="0" tIns="0" rIns="0" bIns="0" rtlCol="0" anchor="t"/>
          <a:lstStyle/>
          <a:p>
            <a:pPr marL="0" indent="0">
              <a:buNone/>
            </a:pPr>
            <a:r>
              <a:rPr lang="en-US" sz="1800" dirty="0">
                <a:solidFill>
                  <a:srgbClr val="2F2440"/>
                </a:solidFill>
                <a:latin typeface="Georgia" pitchFamily="34" charset="0"/>
                <a:ea typeface="Georgia" pitchFamily="34" charset="-122"/>
                <a:cs typeface="Georgia" pitchFamily="34" charset="-120"/>
              </a:rPr>
              <a:t>Redundancy</a:t>
            </a:r>
            <a:endParaRPr lang="en-US" sz="1800" dirty="0"/>
          </a:p>
        </p:txBody>
      </p:sp>
      <p:sp>
        <p:nvSpPr>
          <p:cNvPr id="7" name="Text 5"/>
          <p:cNvSpPr txBox="1"/>
          <p:nvPr/>
        </p:nvSpPr>
        <p:spPr>
          <a:xfrm>
            <a:off x="777240" y="4480560"/>
            <a:ext cx="1417320" cy="640080"/>
          </a:xfrm>
          <a:prstGeom prst="rect">
            <a:avLst/>
          </a:prstGeom>
          <a:noFill/>
          <a:ln/>
        </p:spPr>
        <p:txBody>
          <a:bodyPr wrap="square" lIns="0" tIns="0" rIns="0" bIns="0" rtlCol="0" anchor="t"/>
          <a:lstStyle/>
          <a:p>
            <a:pPr marL="0" indent="0">
              <a:buNone/>
            </a:pPr>
            <a:r>
              <a:rPr lang="en-US" sz="1250" dirty="0">
                <a:solidFill>
                  <a:srgbClr val="7D6D8E"/>
                </a:solidFill>
                <a:latin typeface="Calibri" pitchFamily="34" charset="0"/>
                <a:ea typeface="Calibri" pitchFamily="34" charset="-122"/>
                <a:cs typeface="Calibri" pitchFamily="34" charset="-120"/>
              </a:rPr>
              <a:t>Bursts and near-duplicates</a:t>
            </a:r>
            <a:endParaRPr lang="en-US" sz="1250" dirty="0"/>
          </a:p>
        </p:txBody>
      </p:sp>
      <p:sp>
        <p:nvSpPr>
          <p:cNvPr id="8" name="Shape 6"/>
          <p:cNvSpPr/>
          <p:nvPr/>
        </p:nvSpPr>
        <p:spPr>
          <a:xfrm>
            <a:off x="2514600" y="3520440"/>
            <a:ext cx="1783080" cy="1783080"/>
          </a:xfrm>
          <a:prstGeom prst="roundRect">
            <a:avLst>
              <a:gd name="adj" fmla="val 7179"/>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9" name="Shape 7"/>
          <p:cNvSpPr/>
          <p:nvPr/>
        </p:nvSpPr>
        <p:spPr>
          <a:xfrm>
            <a:off x="2743200" y="3794760"/>
            <a:ext cx="146304" cy="146304"/>
          </a:xfrm>
          <a:prstGeom prst="ellipse">
            <a:avLst/>
          </a:prstGeom>
          <a:solidFill>
            <a:srgbClr val="E38C9E"/>
          </a:solidFill>
          <a:ln/>
        </p:spPr>
        <p:txBody>
          <a:bodyPr/>
          <a:lstStyle/>
          <a:p>
            <a:endParaRPr lang="en-US"/>
          </a:p>
        </p:txBody>
      </p:sp>
      <p:sp>
        <p:nvSpPr>
          <p:cNvPr id="10" name="Text 8"/>
          <p:cNvSpPr txBox="1"/>
          <p:nvPr/>
        </p:nvSpPr>
        <p:spPr>
          <a:xfrm>
            <a:off x="2743200" y="4087368"/>
            <a:ext cx="1417320" cy="365760"/>
          </a:xfrm>
          <a:prstGeom prst="rect">
            <a:avLst/>
          </a:prstGeom>
          <a:noFill/>
          <a:ln/>
        </p:spPr>
        <p:txBody>
          <a:bodyPr wrap="square" lIns="0" tIns="0" rIns="0" bIns="0" rtlCol="0" anchor="t"/>
          <a:lstStyle/>
          <a:p>
            <a:pPr marL="0" indent="0">
              <a:buNone/>
            </a:pPr>
            <a:r>
              <a:rPr lang="en-US" sz="1800" dirty="0">
                <a:solidFill>
                  <a:srgbClr val="2F2440"/>
                </a:solidFill>
                <a:latin typeface="Georgia" pitchFamily="34" charset="0"/>
                <a:ea typeface="Georgia" pitchFamily="34" charset="-122"/>
                <a:cs typeface="Georgia" pitchFamily="34" charset="-120"/>
              </a:rPr>
              <a:t>Effort</a:t>
            </a:r>
            <a:endParaRPr lang="en-US" sz="1800" dirty="0"/>
          </a:p>
        </p:txBody>
      </p:sp>
      <p:sp>
        <p:nvSpPr>
          <p:cNvPr id="11" name="Text 9"/>
          <p:cNvSpPr txBox="1"/>
          <p:nvPr/>
        </p:nvSpPr>
        <p:spPr>
          <a:xfrm>
            <a:off x="2743200" y="4480560"/>
            <a:ext cx="1417320" cy="640080"/>
          </a:xfrm>
          <a:prstGeom prst="rect">
            <a:avLst/>
          </a:prstGeom>
          <a:noFill/>
          <a:ln/>
        </p:spPr>
        <p:txBody>
          <a:bodyPr wrap="square" lIns="0" tIns="0" rIns="0" bIns="0" rtlCol="0" anchor="t"/>
          <a:lstStyle/>
          <a:p>
            <a:pPr marL="0" indent="0">
              <a:buNone/>
            </a:pPr>
            <a:r>
              <a:rPr lang="en-US" sz="1250" dirty="0">
                <a:solidFill>
                  <a:srgbClr val="7D6D8E"/>
                </a:solidFill>
                <a:latin typeface="Calibri" pitchFamily="34" charset="0"/>
                <a:ea typeface="Calibri" pitchFamily="34" charset="-122"/>
                <a:cs typeface="Calibri" pitchFamily="34" charset="-120"/>
              </a:rPr>
              <a:t>Hours comparing, one by one</a:t>
            </a:r>
            <a:endParaRPr lang="en-US" sz="1250" dirty="0"/>
          </a:p>
        </p:txBody>
      </p:sp>
      <p:sp>
        <p:nvSpPr>
          <p:cNvPr id="12" name="Shape 10"/>
          <p:cNvSpPr/>
          <p:nvPr/>
        </p:nvSpPr>
        <p:spPr>
          <a:xfrm>
            <a:off x="4480560" y="3520440"/>
            <a:ext cx="1783080" cy="1783080"/>
          </a:xfrm>
          <a:prstGeom prst="roundRect">
            <a:avLst>
              <a:gd name="adj" fmla="val 7179"/>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13" name="Shape 11"/>
          <p:cNvSpPr/>
          <p:nvPr/>
        </p:nvSpPr>
        <p:spPr>
          <a:xfrm>
            <a:off x="4709160" y="3794760"/>
            <a:ext cx="146304" cy="146304"/>
          </a:xfrm>
          <a:prstGeom prst="ellipse">
            <a:avLst/>
          </a:prstGeom>
          <a:solidFill>
            <a:srgbClr val="F3AD7F"/>
          </a:solidFill>
          <a:ln/>
        </p:spPr>
        <p:txBody>
          <a:bodyPr/>
          <a:lstStyle/>
          <a:p>
            <a:endParaRPr lang="en-US"/>
          </a:p>
        </p:txBody>
      </p:sp>
      <p:sp>
        <p:nvSpPr>
          <p:cNvPr id="14" name="Text 12"/>
          <p:cNvSpPr txBox="1"/>
          <p:nvPr/>
        </p:nvSpPr>
        <p:spPr>
          <a:xfrm>
            <a:off x="4709160" y="4087368"/>
            <a:ext cx="1417320" cy="365760"/>
          </a:xfrm>
          <a:prstGeom prst="rect">
            <a:avLst/>
          </a:prstGeom>
          <a:noFill/>
          <a:ln/>
        </p:spPr>
        <p:txBody>
          <a:bodyPr wrap="square" lIns="0" tIns="0" rIns="0" bIns="0" rtlCol="0" anchor="t"/>
          <a:lstStyle/>
          <a:p>
            <a:pPr marL="0" indent="0">
              <a:buNone/>
            </a:pPr>
            <a:r>
              <a:rPr lang="en-US" sz="1800" dirty="0">
                <a:solidFill>
                  <a:srgbClr val="2F2440"/>
                </a:solidFill>
                <a:latin typeface="Georgia" pitchFamily="34" charset="0"/>
                <a:ea typeface="Georgia" pitchFamily="34" charset="-122"/>
                <a:cs typeface="Georgia" pitchFamily="34" charset="-120"/>
              </a:rPr>
              <a:t>Judgement</a:t>
            </a:r>
            <a:endParaRPr lang="en-US" sz="1800" dirty="0"/>
          </a:p>
        </p:txBody>
      </p:sp>
      <p:sp>
        <p:nvSpPr>
          <p:cNvPr id="15" name="Text 13"/>
          <p:cNvSpPr txBox="1"/>
          <p:nvPr/>
        </p:nvSpPr>
        <p:spPr>
          <a:xfrm>
            <a:off x="4709160" y="4480560"/>
            <a:ext cx="1417320" cy="640080"/>
          </a:xfrm>
          <a:prstGeom prst="rect">
            <a:avLst/>
          </a:prstGeom>
          <a:noFill/>
          <a:ln/>
        </p:spPr>
        <p:txBody>
          <a:bodyPr wrap="square" lIns="0" tIns="0" rIns="0" bIns="0" rtlCol="0" anchor="t"/>
          <a:lstStyle/>
          <a:p>
            <a:pPr marL="0" indent="0">
              <a:buNone/>
            </a:pPr>
            <a:r>
              <a:rPr lang="en-US" sz="1250" dirty="0">
                <a:solidFill>
                  <a:srgbClr val="7D6D8E"/>
                </a:solidFill>
                <a:latin typeface="Calibri" pitchFamily="34" charset="0"/>
                <a:ea typeface="Calibri" pitchFamily="34" charset="-122"/>
                <a:cs typeface="Calibri" pitchFamily="34" charset="-120"/>
              </a:rPr>
              <a:t>Which one is actually best?</a:t>
            </a:r>
            <a:endParaRPr lang="en-US" sz="1250" dirty="0"/>
          </a:p>
        </p:txBody>
      </p:sp>
      <p:pic>
        <p:nvPicPr>
          <p:cNvPr id="16" name="Image 0" descr="C:\Users\himat\AppData\Local\Temp\claude\c--Ai-stuffs-lumina\f3d460ba-f3ac-44b0-bd4c-6f066a888707\scratchpad\deck\assets\pol_0.png"/>
          <p:cNvPicPr>
            <a:picLocks noChangeAspect="1"/>
          </p:cNvPicPr>
          <p:nvPr/>
        </p:nvPicPr>
        <p:blipFill>
          <a:blip r:embed="rId4"/>
          <a:stretch>
            <a:fillRect/>
          </a:stretch>
        </p:blipFill>
        <p:spPr>
          <a:xfrm rot="-420000">
            <a:off x="6428232" y="713232"/>
            <a:ext cx="2688336" cy="2386584"/>
          </a:xfrm>
          <a:prstGeom prst="rect">
            <a:avLst/>
          </a:prstGeom>
        </p:spPr>
      </p:pic>
      <p:pic>
        <p:nvPicPr>
          <p:cNvPr id="17" name="Image 1" descr="C:\Users\himat\AppData\Local\Temp\claude\c--Ai-stuffs-lumina\f3d460ba-f3ac-44b0-bd4c-6f066a888707\scratchpad\deck\assets\pol_1.png"/>
          <p:cNvPicPr>
            <a:picLocks noChangeAspect="1"/>
          </p:cNvPicPr>
          <p:nvPr/>
        </p:nvPicPr>
        <p:blipFill>
          <a:blip r:embed="rId5"/>
          <a:stretch>
            <a:fillRect/>
          </a:stretch>
        </p:blipFill>
        <p:spPr>
          <a:xfrm rot="360000">
            <a:off x="8897112" y="530352"/>
            <a:ext cx="2688336" cy="2386584"/>
          </a:xfrm>
          <a:prstGeom prst="rect">
            <a:avLst/>
          </a:prstGeom>
        </p:spPr>
      </p:pic>
      <p:pic>
        <p:nvPicPr>
          <p:cNvPr id="18" name="Image 2" descr="C:\Users\himat\AppData\Local\Temp\claude\c--Ai-stuffs-lumina\f3d460ba-f3ac-44b0-bd4c-6f066a888707\scratchpad\deck\assets\pol_2.png"/>
          <p:cNvPicPr>
            <a:picLocks noChangeAspect="1"/>
          </p:cNvPicPr>
          <p:nvPr/>
        </p:nvPicPr>
        <p:blipFill>
          <a:blip r:embed="rId6"/>
          <a:stretch>
            <a:fillRect/>
          </a:stretch>
        </p:blipFill>
        <p:spPr>
          <a:xfrm rot="240000">
            <a:off x="7068312" y="2587752"/>
            <a:ext cx="2688336" cy="2386584"/>
          </a:xfrm>
          <a:prstGeom prst="rect">
            <a:avLst/>
          </a:prstGeom>
        </p:spPr>
      </p:pic>
      <p:pic>
        <p:nvPicPr>
          <p:cNvPr id="19" name="Image 3" descr="C:\Users\himat\AppData\Local\Temp\claude\c--Ai-stuffs-lumina\f3d460ba-f3ac-44b0-bd4c-6f066a888707\scratchpad\deck\assets\pol_3.png"/>
          <p:cNvPicPr>
            <a:picLocks noChangeAspect="1"/>
          </p:cNvPicPr>
          <p:nvPr/>
        </p:nvPicPr>
        <p:blipFill>
          <a:blip r:embed="rId7"/>
          <a:stretch>
            <a:fillRect/>
          </a:stretch>
        </p:blipFill>
        <p:spPr>
          <a:xfrm rot="-300000">
            <a:off x="9034272" y="2679192"/>
            <a:ext cx="2688336" cy="2386584"/>
          </a:xfrm>
          <a:prstGeom prst="rect">
            <a:avLst/>
          </a:prstGeom>
        </p:spPr>
      </p:pic>
      <p:sp>
        <p:nvSpPr>
          <p:cNvPr id="20" name="Shape 14"/>
          <p:cNvSpPr/>
          <p:nvPr/>
        </p:nvSpPr>
        <p:spPr>
          <a:xfrm>
            <a:off x="8321040" y="5440680"/>
            <a:ext cx="2194560" cy="384048"/>
          </a:xfrm>
          <a:prstGeom prst="roundRect">
            <a:avLst>
              <a:gd name="adj" fmla="val 50000"/>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21" name="Text 15"/>
          <p:cNvSpPr txBox="1"/>
          <p:nvPr/>
        </p:nvSpPr>
        <p:spPr>
          <a:xfrm>
            <a:off x="8321040" y="5440680"/>
            <a:ext cx="2194560" cy="384048"/>
          </a:xfrm>
          <a:prstGeom prst="rect">
            <a:avLst/>
          </a:prstGeom>
          <a:noFill/>
          <a:ln/>
        </p:spPr>
        <p:txBody>
          <a:bodyPr wrap="square" lIns="0" tIns="0" rIns="0" bIns="0" rtlCol="0" anchor="ctr"/>
          <a:lstStyle/>
          <a:p>
            <a:pPr marL="0" indent="0" algn="ctr">
              <a:buNone/>
            </a:pPr>
            <a:r>
              <a:rPr lang="en-US" sz="1200" b="1" dirty="0">
                <a:solidFill>
                  <a:srgbClr val="2F2440"/>
                </a:solidFill>
                <a:latin typeface="Calibri" pitchFamily="34" charset="0"/>
                <a:ea typeface="Calibri" pitchFamily="34" charset="-122"/>
                <a:cs typeface="Calibri" pitchFamily="34" charset="-120"/>
              </a:rPr>
              <a:t>One moment. Four shots.</a:t>
            </a:r>
            <a:endParaRPr lang="en-US" sz="1200" dirty="0"/>
          </a:p>
        </p:txBody>
      </p:sp>
      <p:pic>
        <p:nvPicPr>
          <p:cNvPr id="22" name="Image 4" descr="C:\Users\himat\AppData\Local\Temp\claude\c--Ai-stuffs-lumina\f3d460ba-f3ac-44b0-bd4c-6f066a888707\scratchpad\deck\assets\lumi_sad.png"/>
          <p:cNvPicPr>
            <a:picLocks noChangeAspect="1"/>
          </p:cNvPicPr>
          <p:nvPr/>
        </p:nvPicPr>
        <p:blipFill>
          <a:blip r:embed="rId8"/>
          <a:stretch>
            <a:fillRect/>
          </a:stretch>
        </p:blipFill>
        <p:spPr>
          <a:xfrm>
            <a:off x="10635139" y="4800600"/>
            <a:ext cx="1023461" cy="1600200"/>
          </a:xfrm>
          <a:prstGeom prst="rect">
            <a:avLst/>
          </a:prstGeom>
        </p:spPr>
      </p:pic>
      <p:sp>
        <p:nvSpPr>
          <p:cNvPr id="24" name="Text 16"/>
          <p:cNvSpPr txBox="1"/>
          <p:nvPr/>
        </p:nvSpPr>
        <p:spPr>
          <a:xfrm>
            <a:off x="548640" y="6419088"/>
            <a:ext cx="1828800" cy="256032"/>
          </a:xfrm>
          <a:prstGeom prst="rect">
            <a:avLst/>
          </a:prstGeom>
          <a:noFill/>
          <a:ln/>
        </p:spPr>
        <p:txBody>
          <a:bodyPr wrap="square" lIns="0" tIns="0" rIns="0" bIns="0" rtlCol="0" anchor="ctr"/>
          <a:lstStyle/>
          <a:p>
            <a:pPr marL="0" indent="0">
              <a:buNone/>
            </a:pPr>
            <a:r>
              <a:rPr lang="en-US" sz="1000" dirty="0">
                <a:solidFill>
                  <a:srgbClr val="7D6D8E"/>
                </a:solidFill>
                <a:latin typeface="Georgia" pitchFamily="34" charset="0"/>
                <a:ea typeface="Georgia" pitchFamily="34" charset="-122"/>
                <a:cs typeface="Georgia" pitchFamily="34" charset="-120"/>
              </a:rPr>
              <a:t>Lumina</a:t>
            </a:r>
            <a:endParaRPr lang="en-US" sz="1000" dirty="0"/>
          </a:p>
        </p:txBody>
      </p:sp>
      <p:sp>
        <p:nvSpPr>
          <p:cNvPr id="25" name="Text 17"/>
          <p:cNvSpPr txBox="1"/>
          <p:nvPr/>
        </p:nvSpPr>
        <p:spPr>
          <a:xfrm>
            <a:off x="10728655" y="6419088"/>
            <a:ext cx="914400" cy="256032"/>
          </a:xfrm>
          <a:prstGeom prst="rect">
            <a:avLst/>
          </a:prstGeom>
          <a:noFill/>
          <a:ln/>
        </p:spPr>
        <p:txBody>
          <a:bodyPr wrap="square" lIns="0" tIns="0" rIns="0" bIns="0" rtlCol="0" anchor="ctr"/>
          <a:lstStyle/>
          <a:p>
            <a:pPr marL="0" indent="0" algn="r">
              <a:buNone/>
            </a:pPr>
            <a:r>
              <a:rPr lang="en-US" sz="1000" dirty="0">
                <a:solidFill>
                  <a:srgbClr val="7D6D8E"/>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914400"/>
            <a:ext cx="5486400" cy="5029200"/>
          </a:xfrm>
          <a:prstGeom prst="roundRect">
            <a:avLst>
              <a:gd name="adj" fmla="val 3636"/>
            </a:avLst>
          </a:prstGeom>
          <a:solidFill>
            <a:srgbClr val="FFFFFF">
              <a:alpha val="78000"/>
            </a:srgbClr>
          </a:solidFill>
          <a:ln/>
          <a:effectLst>
            <a:outerShdw blurRad="177800" dist="38100" dir="5400000" algn="bl" rotWithShape="0">
              <a:srgbClr val="4A345C">
                <a:alpha val="14000"/>
              </a:srgbClr>
            </a:outerShdw>
          </a:effectLst>
        </p:spPr>
        <p:txBody>
          <a:bodyPr/>
          <a:lstStyle/>
          <a:p>
            <a:endParaRPr lang="en-US"/>
          </a:p>
        </p:txBody>
      </p:sp>
      <p:sp>
        <p:nvSpPr>
          <p:cNvPr id="3" name="Text 1"/>
          <p:cNvSpPr txBox="1"/>
          <p:nvPr/>
        </p:nvSpPr>
        <p:spPr>
          <a:xfrm>
            <a:off x="960120" y="1325880"/>
            <a:ext cx="5486400" cy="274320"/>
          </a:xfrm>
          <a:prstGeom prst="rect">
            <a:avLst/>
          </a:prstGeom>
          <a:noFill/>
          <a:ln/>
        </p:spPr>
        <p:txBody>
          <a:bodyPr wrap="square" lIns="0" tIns="0" rIns="0" bIns="0" rtlCol="0" anchor="ctr"/>
          <a:lstStyle/>
          <a:p>
            <a:pPr marL="0" indent="0">
              <a:buNone/>
            </a:pPr>
            <a:r>
              <a:rPr lang="en-US" sz="1100" b="1" kern="0" spc="300" dirty="0">
                <a:solidFill>
                  <a:srgbClr val="8F7BC6"/>
                </a:solidFill>
                <a:latin typeface="Calibri" pitchFamily="34" charset="0"/>
                <a:ea typeface="Calibri" pitchFamily="34" charset="-122"/>
                <a:cs typeface="Calibri" pitchFamily="34" charset="-120"/>
              </a:rPr>
              <a:t>02  ·  THE IDEA</a:t>
            </a:r>
            <a:endParaRPr lang="en-US" sz="1100" dirty="0"/>
          </a:p>
        </p:txBody>
      </p:sp>
      <p:sp>
        <p:nvSpPr>
          <p:cNvPr id="4" name="Text 2"/>
          <p:cNvSpPr txBox="1"/>
          <p:nvPr/>
        </p:nvSpPr>
        <p:spPr>
          <a:xfrm>
            <a:off x="960120" y="1645920"/>
            <a:ext cx="4754880" cy="731520"/>
          </a:xfrm>
          <a:prstGeom prst="rect">
            <a:avLst/>
          </a:prstGeom>
          <a:noFill/>
          <a:ln/>
        </p:spPr>
        <p:txBody>
          <a:bodyPr wrap="square" lIns="0" tIns="0" rIns="0" bIns="0" rtlCol="0" anchor="t"/>
          <a:lstStyle/>
          <a:p>
            <a:pPr marL="0" indent="0">
              <a:buNone/>
            </a:pPr>
            <a:r>
              <a:rPr lang="en-US" sz="4200" dirty="0">
                <a:solidFill>
                  <a:srgbClr val="2F2440"/>
                </a:solidFill>
                <a:latin typeface="Georgia" pitchFamily="34" charset="0"/>
                <a:ea typeface="Georgia" pitchFamily="34" charset="-122"/>
                <a:cs typeface="Georgia" pitchFamily="34" charset="-120"/>
              </a:rPr>
              <a:t>Meet Lumina</a:t>
            </a:r>
            <a:endParaRPr lang="en-US" sz="4200" dirty="0"/>
          </a:p>
        </p:txBody>
      </p:sp>
      <p:sp>
        <p:nvSpPr>
          <p:cNvPr id="5" name="Text 3"/>
          <p:cNvSpPr txBox="1"/>
          <p:nvPr/>
        </p:nvSpPr>
        <p:spPr>
          <a:xfrm>
            <a:off x="960120" y="2514600"/>
            <a:ext cx="4663440" cy="822960"/>
          </a:xfrm>
          <a:prstGeom prst="rect">
            <a:avLst/>
          </a:prstGeom>
          <a:noFill/>
          <a:ln/>
        </p:spPr>
        <p:txBody>
          <a:bodyPr wrap="square" lIns="0" tIns="0" rIns="0" bIns="0" rtlCol="0" anchor="t"/>
          <a:lstStyle/>
          <a:p>
            <a:pPr marL="0" indent="0">
              <a:buNone/>
            </a:pPr>
            <a:r>
              <a:rPr lang="en-US" sz="1600" dirty="0">
                <a:solidFill>
                  <a:srgbClr val="2F2440"/>
                </a:solidFill>
                <a:latin typeface="Calibri" pitchFamily="34" charset="0"/>
                <a:ea typeface="Calibri" pitchFamily="34" charset="-122"/>
                <a:cs typeface="Calibri" pitchFamily="34" charset="-120"/>
              </a:rPr>
              <a:t>Drop in a whole trip. Lumina returns the best shot of everyone, at every moment, and tells you why.</a:t>
            </a:r>
            <a:endParaRPr lang="en-US" sz="1600" dirty="0"/>
          </a:p>
        </p:txBody>
      </p:sp>
      <p:sp>
        <p:nvSpPr>
          <p:cNvPr id="6" name="Text 4"/>
          <p:cNvSpPr txBox="1"/>
          <p:nvPr/>
        </p:nvSpPr>
        <p:spPr>
          <a:xfrm>
            <a:off x="960120" y="3703320"/>
            <a:ext cx="2286000" cy="411480"/>
          </a:xfrm>
          <a:prstGeom prst="rect">
            <a:avLst/>
          </a:prstGeom>
          <a:noFill/>
          <a:ln/>
        </p:spPr>
        <p:txBody>
          <a:bodyPr wrap="square" lIns="0" tIns="0" rIns="0" bIns="0" rtlCol="0" anchor="t"/>
          <a:lstStyle/>
          <a:p>
            <a:pPr marL="0" indent="0">
              <a:buNone/>
            </a:pPr>
            <a:r>
              <a:rPr lang="en-US" sz="2200" dirty="0">
                <a:solidFill>
                  <a:srgbClr val="2F2440"/>
                </a:solidFill>
                <a:latin typeface="Georgia" pitchFamily="34" charset="0"/>
                <a:ea typeface="Georgia" pitchFamily="34" charset="-122"/>
                <a:cs typeface="Georgia" pitchFamily="34" charset="-120"/>
              </a:rPr>
              <a:t>Groups</a:t>
            </a:r>
            <a:endParaRPr lang="en-US" sz="2200" dirty="0"/>
          </a:p>
        </p:txBody>
      </p:sp>
      <p:sp>
        <p:nvSpPr>
          <p:cNvPr id="7" name="Text 5"/>
          <p:cNvSpPr txBox="1"/>
          <p:nvPr/>
        </p:nvSpPr>
        <p:spPr>
          <a:xfrm>
            <a:off x="960120" y="4114800"/>
            <a:ext cx="2286000" cy="32004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the moments</a:t>
            </a:r>
            <a:endParaRPr lang="en-US" sz="1300" dirty="0"/>
          </a:p>
        </p:txBody>
      </p:sp>
      <p:sp>
        <p:nvSpPr>
          <p:cNvPr id="8" name="Text 6"/>
          <p:cNvSpPr txBox="1"/>
          <p:nvPr/>
        </p:nvSpPr>
        <p:spPr>
          <a:xfrm>
            <a:off x="3337560" y="3703320"/>
            <a:ext cx="2286000" cy="411480"/>
          </a:xfrm>
          <a:prstGeom prst="rect">
            <a:avLst/>
          </a:prstGeom>
          <a:noFill/>
          <a:ln/>
        </p:spPr>
        <p:txBody>
          <a:bodyPr wrap="square" lIns="0" tIns="0" rIns="0" bIns="0" rtlCol="0" anchor="t"/>
          <a:lstStyle/>
          <a:p>
            <a:pPr marL="0" indent="0">
              <a:buNone/>
            </a:pPr>
            <a:r>
              <a:rPr lang="en-US" sz="2200" dirty="0">
                <a:solidFill>
                  <a:srgbClr val="2F2440"/>
                </a:solidFill>
                <a:latin typeface="Georgia" pitchFamily="34" charset="0"/>
                <a:ea typeface="Georgia" pitchFamily="34" charset="-122"/>
                <a:cs typeface="Georgia" pitchFamily="34" charset="-120"/>
              </a:rPr>
              <a:t>Recognises</a:t>
            </a:r>
            <a:endParaRPr lang="en-US" sz="2200" dirty="0"/>
          </a:p>
        </p:txBody>
      </p:sp>
      <p:sp>
        <p:nvSpPr>
          <p:cNvPr id="9" name="Text 7"/>
          <p:cNvSpPr txBox="1"/>
          <p:nvPr/>
        </p:nvSpPr>
        <p:spPr>
          <a:xfrm>
            <a:off x="3337560" y="4114800"/>
            <a:ext cx="2286000" cy="32004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the people</a:t>
            </a:r>
            <a:endParaRPr lang="en-US" sz="1300" dirty="0"/>
          </a:p>
        </p:txBody>
      </p:sp>
      <p:sp>
        <p:nvSpPr>
          <p:cNvPr id="10" name="Text 8"/>
          <p:cNvSpPr txBox="1"/>
          <p:nvPr/>
        </p:nvSpPr>
        <p:spPr>
          <a:xfrm>
            <a:off x="960120" y="4663440"/>
            <a:ext cx="2286000" cy="411480"/>
          </a:xfrm>
          <a:prstGeom prst="rect">
            <a:avLst/>
          </a:prstGeom>
          <a:noFill/>
          <a:ln/>
        </p:spPr>
        <p:txBody>
          <a:bodyPr wrap="square" lIns="0" tIns="0" rIns="0" bIns="0" rtlCol="0" anchor="t"/>
          <a:lstStyle/>
          <a:p>
            <a:pPr marL="0" indent="0">
              <a:buNone/>
            </a:pPr>
            <a:r>
              <a:rPr lang="en-US" sz="2200" dirty="0">
                <a:solidFill>
                  <a:srgbClr val="2F2440"/>
                </a:solidFill>
                <a:latin typeface="Georgia" pitchFamily="34" charset="0"/>
                <a:ea typeface="Georgia" pitchFamily="34" charset="-122"/>
                <a:cs typeface="Georgia" pitchFamily="34" charset="-120"/>
              </a:rPr>
              <a:t>Picks</a:t>
            </a:r>
            <a:endParaRPr lang="en-US" sz="2200" dirty="0"/>
          </a:p>
        </p:txBody>
      </p:sp>
      <p:sp>
        <p:nvSpPr>
          <p:cNvPr id="11" name="Text 9"/>
          <p:cNvSpPr txBox="1"/>
          <p:nvPr/>
        </p:nvSpPr>
        <p:spPr>
          <a:xfrm>
            <a:off x="960120" y="5074920"/>
            <a:ext cx="2286000" cy="32004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the best shot</a:t>
            </a:r>
            <a:endParaRPr lang="en-US" sz="1300" dirty="0"/>
          </a:p>
        </p:txBody>
      </p:sp>
      <p:sp>
        <p:nvSpPr>
          <p:cNvPr id="12" name="Text 10"/>
          <p:cNvSpPr txBox="1"/>
          <p:nvPr/>
        </p:nvSpPr>
        <p:spPr>
          <a:xfrm>
            <a:off x="3337560" y="4663440"/>
            <a:ext cx="2286000" cy="411480"/>
          </a:xfrm>
          <a:prstGeom prst="rect">
            <a:avLst/>
          </a:prstGeom>
          <a:noFill/>
          <a:ln/>
        </p:spPr>
        <p:txBody>
          <a:bodyPr wrap="square" lIns="0" tIns="0" rIns="0" bIns="0" rtlCol="0" anchor="t"/>
          <a:lstStyle/>
          <a:p>
            <a:pPr marL="0" indent="0">
              <a:buNone/>
            </a:pPr>
            <a:r>
              <a:rPr lang="en-US" sz="2200" dirty="0">
                <a:solidFill>
                  <a:srgbClr val="2F2440"/>
                </a:solidFill>
                <a:latin typeface="Georgia" pitchFamily="34" charset="0"/>
                <a:ea typeface="Georgia" pitchFamily="34" charset="-122"/>
                <a:cs typeface="Georgia" pitchFamily="34" charset="-120"/>
              </a:rPr>
              <a:t>Explains</a:t>
            </a:r>
            <a:endParaRPr lang="en-US" sz="2200" dirty="0"/>
          </a:p>
        </p:txBody>
      </p:sp>
      <p:sp>
        <p:nvSpPr>
          <p:cNvPr id="13" name="Text 11"/>
          <p:cNvSpPr txBox="1"/>
          <p:nvPr/>
        </p:nvSpPr>
        <p:spPr>
          <a:xfrm>
            <a:off x="3337560" y="5074920"/>
            <a:ext cx="2286000" cy="32004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in plain words</a:t>
            </a:r>
            <a:endParaRPr lang="en-US" sz="1300" dirty="0"/>
          </a:p>
        </p:txBody>
      </p:sp>
      <p:sp>
        <p:nvSpPr>
          <p:cNvPr id="15" name="Text 12"/>
          <p:cNvSpPr txBox="1"/>
          <p:nvPr/>
        </p:nvSpPr>
        <p:spPr>
          <a:xfrm>
            <a:off x="548640" y="6419088"/>
            <a:ext cx="1828800" cy="256032"/>
          </a:xfrm>
          <a:prstGeom prst="rect">
            <a:avLst/>
          </a:prstGeom>
          <a:noFill/>
          <a:ln/>
        </p:spPr>
        <p:txBody>
          <a:bodyPr wrap="square" lIns="0" tIns="0" rIns="0" bIns="0" rtlCol="0" anchor="ctr"/>
          <a:lstStyle/>
          <a:p>
            <a:pPr marL="0" indent="0">
              <a:buNone/>
            </a:pPr>
            <a:r>
              <a:rPr lang="en-US" sz="1000" dirty="0">
                <a:solidFill>
                  <a:srgbClr val="7D6D8E"/>
                </a:solidFill>
                <a:latin typeface="Georgia" pitchFamily="34" charset="0"/>
                <a:ea typeface="Georgia" pitchFamily="34" charset="-122"/>
                <a:cs typeface="Georgia" pitchFamily="34" charset="-120"/>
              </a:rPr>
              <a:t>Lumina</a:t>
            </a:r>
            <a:endParaRPr lang="en-US" sz="1000" dirty="0"/>
          </a:p>
        </p:txBody>
      </p:sp>
      <p:sp>
        <p:nvSpPr>
          <p:cNvPr id="16" name="Text 13"/>
          <p:cNvSpPr txBox="1"/>
          <p:nvPr/>
        </p:nvSpPr>
        <p:spPr>
          <a:xfrm>
            <a:off x="10728655" y="6419088"/>
            <a:ext cx="914400" cy="256032"/>
          </a:xfrm>
          <a:prstGeom prst="rect">
            <a:avLst/>
          </a:prstGeom>
          <a:noFill/>
          <a:ln/>
        </p:spPr>
        <p:txBody>
          <a:bodyPr wrap="square" lIns="0" tIns="0" rIns="0" bIns="0" rtlCol="0" anchor="ctr"/>
          <a:lstStyle/>
          <a:p>
            <a:pPr marL="0" indent="0" algn="r">
              <a:buNone/>
            </a:pPr>
            <a:r>
              <a:rPr lang="en-US" sz="1000" dirty="0">
                <a:solidFill>
                  <a:srgbClr val="7D6D8E"/>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85800"/>
            <a:ext cx="5486400" cy="274320"/>
          </a:xfrm>
          <a:prstGeom prst="rect">
            <a:avLst/>
          </a:prstGeom>
          <a:noFill/>
          <a:ln/>
        </p:spPr>
        <p:txBody>
          <a:bodyPr wrap="square" lIns="0" tIns="0" rIns="0" bIns="0" rtlCol="0" anchor="ctr"/>
          <a:lstStyle/>
          <a:p>
            <a:pPr marL="0" indent="0">
              <a:buNone/>
            </a:pPr>
            <a:r>
              <a:rPr lang="en-US" sz="1100" b="1" kern="0" spc="300" dirty="0">
                <a:solidFill>
                  <a:srgbClr val="8F7BC6"/>
                </a:solidFill>
                <a:latin typeface="Calibri" pitchFamily="34" charset="0"/>
                <a:ea typeface="Calibri" pitchFamily="34" charset="-122"/>
                <a:cs typeface="Calibri" pitchFamily="34" charset="-120"/>
              </a:rPr>
              <a:t>03  ·  THE EXPERIENCE</a:t>
            </a:r>
            <a:endParaRPr lang="en-US" sz="1100" dirty="0"/>
          </a:p>
        </p:txBody>
      </p:sp>
      <p:sp>
        <p:nvSpPr>
          <p:cNvPr id="3" name="Text 1"/>
          <p:cNvSpPr txBox="1"/>
          <p:nvPr/>
        </p:nvSpPr>
        <p:spPr>
          <a:xfrm>
            <a:off x="548640" y="1005840"/>
            <a:ext cx="7315200" cy="731520"/>
          </a:xfrm>
          <a:prstGeom prst="rect">
            <a:avLst/>
          </a:prstGeom>
          <a:noFill/>
          <a:ln/>
        </p:spPr>
        <p:txBody>
          <a:bodyPr wrap="square" lIns="0" tIns="0" rIns="0" bIns="0" rtlCol="0" anchor="t"/>
          <a:lstStyle/>
          <a:p>
            <a:pPr marL="0" indent="0">
              <a:buNone/>
            </a:pPr>
            <a:r>
              <a:rPr lang="en-US" sz="3800" dirty="0">
                <a:solidFill>
                  <a:srgbClr val="2F2440"/>
                </a:solidFill>
                <a:latin typeface="Georgia" pitchFamily="34" charset="0"/>
                <a:ea typeface="Georgia" pitchFamily="34" charset="-122"/>
                <a:cs typeface="Georgia" pitchFamily="34" charset="-120"/>
              </a:rPr>
              <a:t>Four steps. Zero sorting.</a:t>
            </a:r>
            <a:endParaRPr lang="en-US" sz="3800" dirty="0"/>
          </a:p>
        </p:txBody>
      </p:sp>
      <p:pic>
        <p:nvPicPr>
          <p:cNvPr id="4" name="Image 0" descr="C:\Users\himat\AppData\Local\Temp\claude\c--Ai-stuffs-lumina\f3d460ba-f3ac-44b0-bd4c-6f066a888707\scratchpad\deck\assets\lumi_camera.png"/>
          <p:cNvPicPr>
            <a:picLocks noChangeAspect="1"/>
          </p:cNvPicPr>
          <p:nvPr/>
        </p:nvPicPr>
        <p:blipFill>
          <a:blip r:embed="rId4"/>
          <a:stretch>
            <a:fillRect/>
          </a:stretch>
        </p:blipFill>
        <p:spPr>
          <a:xfrm>
            <a:off x="10565416" y="411480"/>
            <a:ext cx="1074896" cy="1691640"/>
          </a:xfrm>
          <a:prstGeom prst="rect">
            <a:avLst/>
          </a:prstGeom>
        </p:spPr>
      </p:pic>
      <p:pic>
        <p:nvPicPr>
          <p:cNvPr id="5" name="Image 1" descr="C:\Users\himat\AppData\Local\Temp\claude\c--Ai-stuffs-lumina\f3d460ba-f3ac-44b0-bd4c-6f066a888707\scratchpad\deck\assets\t_upload.png"/>
          <p:cNvPicPr>
            <a:picLocks noChangeAspect="1"/>
          </p:cNvPicPr>
          <p:nvPr/>
        </p:nvPicPr>
        <p:blipFill>
          <a:blip r:embed="rId5"/>
          <a:stretch>
            <a:fillRect/>
          </a:stretch>
        </p:blipFill>
        <p:spPr>
          <a:xfrm>
            <a:off x="347472" y="2221992"/>
            <a:ext cx="3008376" cy="2231136"/>
          </a:xfrm>
          <a:prstGeom prst="rect">
            <a:avLst/>
          </a:prstGeom>
        </p:spPr>
      </p:pic>
      <p:sp>
        <p:nvSpPr>
          <p:cNvPr id="6" name="Shape 2"/>
          <p:cNvSpPr/>
          <p:nvPr/>
        </p:nvSpPr>
        <p:spPr>
          <a:xfrm>
            <a:off x="548640" y="4572000"/>
            <a:ext cx="384048" cy="384048"/>
          </a:xfrm>
          <a:prstGeom prst="ellipse">
            <a:avLst/>
          </a:prstGeom>
          <a:solidFill>
            <a:srgbClr val="8F7BC6"/>
          </a:solidFill>
          <a:ln/>
        </p:spPr>
        <p:txBody>
          <a:bodyPr/>
          <a:lstStyle/>
          <a:p>
            <a:endParaRPr lang="en-US"/>
          </a:p>
        </p:txBody>
      </p:sp>
      <p:sp>
        <p:nvSpPr>
          <p:cNvPr id="7" name="Text 3"/>
          <p:cNvSpPr txBox="1"/>
          <p:nvPr/>
        </p:nvSpPr>
        <p:spPr>
          <a:xfrm>
            <a:off x="548640" y="45720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4"/>
          <p:cNvSpPr txBox="1"/>
          <p:nvPr/>
        </p:nvSpPr>
        <p:spPr>
          <a:xfrm>
            <a:off x="1078992" y="4553712"/>
            <a:ext cx="2011680" cy="411480"/>
          </a:xfrm>
          <a:prstGeom prst="rect">
            <a:avLst/>
          </a:prstGeom>
          <a:noFill/>
          <a:ln/>
        </p:spPr>
        <p:txBody>
          <a:bodyPr wrap="square" lIns="0" tIns="0" rIns="0" bIns="0" rtlCol="0" anchor="t"/>
          <a:lstStyle/>
          <a:p>
            <a:pPr marL="0" indent="0">
              <a:buNone/>
            </a:pPr>
            <a:r>
              <a:rPr lang="en-US" sz="2000" dirty="0">
                <a:solidFill>
                  <a:srgbClr val="2F2440"/>
                </a:solidFill>
                <a:latin typeface="Georgia" pitchFamily="34" charset="0"/>
                <a:ea typeface="Georgia" pitchFamily="34" charset="-122"/>
                <a:cs typeface="Georgia" pitchFamily="34" charset="-120"/>
              </a:rPr>
              <a:t>Upload</a:t>
            </a:r>
            <a:endParaRPr lang="en-US" sz="2000" dirty="0"/>
          </a:p>
        </p:txBody>
      </p:sp>
      <p:sp>
        <p:nvSpPr>
          <p:cNvPr id="9" name="Text 5"/>
          <p:cNvSpPr txBox="1"/>
          <p:nvPr/>
        </p:nvSpPr>
        <p:spPr>
          <a:xfrm>
            <a:off x="1078992" y="4965192"/>
            <a:ext cx="2057400" cy="36576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Up to 200 photos</a:t>
            </a:r>
            <a:endParaRPr lang="en-US" sz="1300" dirty="0"/>
          </a:p>
        </p:txBody>
      </p:sp>
      <p:pic>
        <p:nvPicPr>
          <p:cNvPr id="10" name="Image 2" descr="C:\Users\himat\AppData\Local\Temp\claude\c--Ai-stuffs-lumina\f3d460ba-f3ac-44b0-bd4c-6f066a888707\scratchpad\deck\assets\t_processing.png"/>
          <p:cNvPicPr>
            <a:picLocks noChangeAspect="1"/>
          </p:cNvPicPr>
          <p:nvPr/>
        </p:nvPicPr>
        <p:blipFill>
          <a:blip r:embed="rId6"/>
          <a:stretch>
            <a:fillRect/>
          </a:stretch>
        </p:blipFill>
        <p:spPr>
          <a:xfrm>
            <a:off x="3236976" y="2221992"/>
            <a:ext cx="3008376" cy="2231136"/>
          </a:xfrm>
          <a:prstGeom prst="rect">
            <a:avLst/>
          </a:prstGeom>
        </p:spPr>
      </p:pic>
      <p:sp>
        <p:nvSpPr>
          <p:cNvPr id="11" name="Shape 6"/>
          <p:cNvSpPr/>
          <p:nvPr/>
        </p:nvSpPr>
        <p:spPr>
          <a:xfrm>
            <a:off x="3438144" y="4572000"/>
            <a:ext cx="384048" cy="384048"/>
          </a:xfrm>
          <a:prstGeom prst="ellipse">
            <a:avLst/>
          </a:prstGeom>
          <a:solidFill>
            <a:srgbClr val="8F7BC6"/>
          </a:solidFill>
          <a:ln/>
        </p:spPr>
        <p:txBody>
          <a:bodyPr/>
          <a:lstStyle/>
          <a:p>
            <a:endParaRPr lang="en-US"/>
          </a:p>
        </p:txBody>
      </p:sp>
      <p:sp>
        <p:nvSpPr>
          <p:cNvPr id="12" name="Text 7"/>
          <p:cNvSpPr txBox="1"/>
          <p:nvPr/>
        </p:nvSpPr>
        <p:spPr>
          <a:xfrm>
            <a:off x="3438144" y="45720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8"/>
          <p:cNvSpPr txBox="1"/>
          <p:nvPr/>
        </p:nvSpPr>
        <p:spPr>
          <a:xfrm>
            <a:off x="3968496" y="4553712"/>
            <a:ext cx="2011680" cy="411480"/>
          </a:xfrm>
          <a:prstGeom prst="rect">
            <a:avLst/>
          </a:prstGeom>
          <a:noFill/>
          <a:ln/>
        </p:spPr>
        <p:txBody>
          <a:bodyPr wrap="square" lIns="0" tIns="0" rIns="0" bIns="0" rtlCol="0" anchor="t"/>
          <a:lstStyle/>
          <a:p>
            <a:pPr marL="0" indent="0">
              <a:buNone/>
            </a:pPr>
            <a:r>
              <a:rPr lang="en-US" sz="2000" dirty="0">
                <a:solidFill>
                  <a:srgbClr val="2F2440"/>
                </a:solidFill>
                <a:latin typeface="Georgia" pitchFamily="34" charset="0"/>
                <a:ea typeface="Georgia" pitchFamily="34" charset="-122"/>
                <a:cs typeface="Georgia" pitchFamily="34" charset="-120"/>
              </a:rPr>
              <a:t>Analyse</a:t>
            </a:r>
            <a:endParaRPr lang="en-US" sz="2000" dirty="0"/>
          </a:p>
        </p:txBody>
      </p:sp>
      <p:sp>
        <p:nvSpPr>
          <p:cNvPr id="14" name="Text 9"/>
          <p:cNvSpPr txBox="1"/>
          <p:nvPr/>
        </p:nvSpPr>
        <p:spPr>
          <a:xfrm>
            <a:off x="3968496" y="4965192"/>
            <a:ext cx="2057400" cy="36576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Lumi narrates, live</a:t>
            </a:r>
            <a:endParaRPr lang="en-US" sz="1300" dirty="0"/>
          </a:p>
        </p:txBody>
      </p:sp>
      <p:pic>
        <p:nvPicPr>
          <p:cNvPr id="15" name="Image 3" descr="C:\Users\himat\AppData\Local\Temp\claude\c--Ai-stuffs-lumina\f3d460ba-f3ac-44b0-bd4c-6f066a888707\scratchpad\deck\assets\t_gallery.png"/>
          <p:cNvPicPr>
            <a:picLocks noChangeAspect="1"/>
          </p:cNvPicPr>
          <p:nvPr/>
        </p:nvPicPr>
        <p:blipFill>
          <a:blip r:embed="rId7"/>
          <a:stretch>
            <a:fillRect/>
          </a:stretch>
        </p:blipFill>
        <p:spPr>
          <a:xfrm>
            <a:off x="6126480" y="2221992"/>
            <a:ext cx="3008376" cy="2231136"/>
          </a:xfrm>
          <a:prstGeom prst="rect">
            <a:avLst/>
          </a:prstGeom>
        </p:spPr>
      </p:pic>
      <p:sp>
        <p:nvSpPr>
          <p:cNvPr id="16" name="Shape 10"/>
          <p:cNvSpPr/>
          <p:nvPr/>
        </p:nvSpPr>
        <p:spPr>
          <a:xfrm>
            <a:off x="6327648" y="4572000"/>
            <a:ext cx="384048" cy="384048"/>
          </a:xfrm>
          <a:prstGeom prst="ellipse">
            <a:avLst/>
          </a:prstGeom>
          <a:solidFill>
            <a:srgbClr val="8F7BC6"/>
          </a:solidFill>
          <a:ln/>
        </p:spPr>
        <p:txBody>
          <a:bodyPr/>
          <a:lstStyle/>
          <a:p>
            <a:endParaRPr lang="en-US"/>
          </a:p>
        </p:txBody>
      </p:sp>
      <p:sp>
        <p:nvSpPr>
          <p:cNvPr id="17" name="Text 11"/>
          <p:cNvSpPr txBox="1"/>
          <p:nvPr/>
        </p:nvSpPr>
        <p:spPr>
          <a:xfrm>
            <a:off x="6327648" y="45720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2"/>
          <p:cNvSpPr txBox="1"/>
          <p:nvPr/>
        </p:nvSpPr>
        <p:spPr>
          <a:xfrm>
            <a:off x="6858000" y="4553712"/>
            <a:ext cx="2011680" cy="411480"/>
          </a:xfrm>
          <a:prstGeom prst="rect">
            <a:avLst/>
          </a:prstGeom>
          <a:noFill/>
          <a:ln/>
        </p:spPr>
        <p:txBody>
          <a:bodyPr wrap="square" lIns="0" tIns="0" rIns="0" bIns="0" rtlCol="0" anchor="t"/>
          <a:lstStyle/>
          <a:p>
            <a:pPr marL="0" indent="0">
              <a:buNone/>
            </a:pPr>
            <a:r>
              <a:rPr lang="en-US" sz="2000" dirty="0">
                <a:solidFill>
                  <a:srgbClr val="2F2440"/>
                </a:solidFill>
                <a:latin typeface="Georgia" pitchFamily="34" charset="0"/>
                <a:ea typeface="Georgia" pitchFamily="34" charset="-122"/>
                <a:cs typeface="Georgia" pitchFamily="34" charset="-120"/>
              </a:rPr>
              <a:t>Browse</a:t>
            </a:r>
            <a:endParaRPr lang="en-US" sz="2000" dirty="0"/>
          </a:p>
        </p:txBody>
      </p:sp>
      <p:sp>
        <p:nvSpPr>
          <p:cNvPr id="19" name="Text 13"/>
          <p:cNvSpPr txBox="1"/>
          <p:nvPr/>
        </p:nvSpPr>
        <p:spPr>
          <a:xfrm>
            <a:off x="6858000" y="4965192"/>
            <a:ext cx="2057400" cy="36576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Moments, people, best shots</a:t>
            </a:r>
            <a:endParaRPr lang="en-US" sz="1300" dirty="0"/>
          </a:p>
        </p:txBody>
      </p:sp>
      <p:pic>
        <p:nvPicPr>
          <p:cNvPr id="20" name="Image 4" descr="C:\Users\himat\AppData\Local\Temp\claude\c--Ai-stuffs-lumina\f3d460ba-f3ac-44b0-bd4c-6f066a888707\scratchpad\deck\assets\t_album.png"/>
          <p:cNvPicPr>
            <a:picLocks noChangeAspect="1"/>
          </p:cNvPicPr>
          <p:nvPr/>
        </p:nvPicPr>
        <p:blipFill>
          <a:blip r:embed="rId8"/>
          <a:stretch>
            <a:fillRect/>
          </a:stretch>
        </p:blipFill>
        <p:spPr>
          <a:xfrm>
            <a:off x="9015984" y="2221992"/>
            <a:ext cx="3008376" cy="2231136"/>
          </a:xfrm>
          <a:prstGeom prst="rect">
            <a:avLst/>
          </a:prstGeom>
        </p:spPr>
      </p:pic>
      <p:sp>
        <p:nvSpPr>
          <p:cNvPr id="21" name="Shape 14"/>
          <p:cNvSpPr/>
          <p:nvPr/>
        </p:nvSpPr>
        <p:spPr>
          <a:xfrm>
            <a:off x="9217152" y="4572000"/>
            <a:ext cx="384048" cy="384048"/>
          </a:xfrm>
          <a:prstGeom prst="ellipse">
            <a:avLst/>
          </a:prstGeom>
          <a:solidFill>
            <a:srgbClr val="8F7BC6"/>
          </a:solidFill>
          <a:ln/>
        </p:spPr>
        <p:txBody>
          <a:bodyPr/>
          <a:lstStyle/>
          <a:p>
            <a:endParaRPr lang="en-US"/>
          </a:p>
        </p:txBody>
      </p:sp>
      <p:sp>
        <p:nvSpPr>
          <p:cNvPr id="22" name="Text 15"/>
          <p:cNvSpPr txBox="1"/>
          <p:nvPr/>
        </p:nvSpPr>
        <p:spPr>
          <a:xfrm>
            <a:off x="9217152" y="45720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16"/>
          <p:cNvSpPr txBox="1"/>
          <p:nvPr/>
        </p:nvSpPr>
        <p:spPr>
          <a:xfrm>
            <a:off x="9747504" y="4553712"/>
            <a:ext cx="2011680" cy="411480"/>
          </a:xfrm>
          <a:prstGeom prst="rect">
            <a:avLst/>
          </a:prstGeom>
          <a:noFill/>
          <a:ln/>
        </p:spPr>
        <p:txBody>
          <a:bodyPr wrap="square" lIns="0" tIns="0" rIns="0" bIns="0" rtlCol="0" anchor="t"/>
          <a:lstStyle/>
          <a:p>
            <a:pPr marL="0" indent="0">
              <a:buNone/>
            </a:pPr>
            <a:r>
              <a:rPr lang="en-US" sz="2000" dirty="0">
                <a:solidFill>
                  <a:srgbClr val="2F2440"/>
                </a:solidFill>
                <a:latin typeface="Georgia" pitchFamily="34" charset="0"/>
                <a:ea typeface="Georgia" pitchFamily="34" charset="-122"/>
                <a:cs typeface="Georgia" pitchFamily="34" charset="-120"/>
              </a:rPr>
              <a:t>Keep</a:t>
            </a:r>
            <a:endParaRPr lang="en-US" sz="2000" dirty="0"/>
          </a:p>
        </p:txBody>
      </p:sp>
      <p:sp>
        <p:nvSpPr>
          <p:cNvPr id="24" name="Text 17"/>
          <p:cNvSpPr txBox="1"/>
          <p:nvPr/>
        </p:nvSpPr>
        <p:spPr>
          <a:xfrm>
            <a:off x="9747504" y="4965192"/>
            <a:ext cx="2057400" cy="36576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Album, video or export</a:t>
            </a:r>
            <a:endParaRPr lang="en-US" sz="1300" dirty="0"/>
          </a:p>
        </p:txBody>
      </p:sp>
      <p:sp>
        <p:nvSpPr>
          <p:cNvPr id="26" name="Text 18"/>
          <p:cNvSpPr txBox="1"/>
          <p:nvPr/>
        </p:nvSpPr>
        <p:spPr>
          <a:xfrm>
            <a:off x="548640" y="6419088"/>
            <a:ext cx="1828800" cy="256032"/>
          </a:xfrm>
          <a:prstGeom prst="rect">
            <a:avLst/>
          </a:prstGeom>
          <a:noFill/>
          <a:ln/>
        </p:spPr>
        <p:txBody>
          <a:bodyPr wrap="square" lIns="0" tIns="0" rIns="0" bIns="0" rtlCol="0" anchor="ctr"/>
          <a:lstStyle/>
          <a:p>
            <a:pPr marL="0" indent="0">
              <a:buNone/>
            </a:pPr>
            <a:r>
              <a:rPr lang="en-US" sz="1000" dirty="0">
                <a:solidFill>
                  <a:srgbClr val="7D6D8E"/>
                </a:solidFill>
                <a:latin typeface="Georgia" pitchFamily="34" charset="0"/>
                <a:ea typeface="Georgia" pitchFamily="34" charset="-122"/>
                <a:cs typeface="Georgia" pitchFamily="34" charset="-120"/>
              </a:rPr>
              <a:t>Lumina</a:t>
            </a:r>
            <a:endParaRPr lang="en-US" sz="1000" dirty="0"/>
          </a:p>
        </p:txBody>
      </p:sp>
      <p:sp>
        <p:nvSpPr>
          <p:cNvPr id="27" name="Text 19"/>
          <p:cNvSpPr txBox="1"/>
          <p:nvPr/>
        </p:nvSpPr>
        <p:spPr>
          <a:xfrm>
            <a:off x="10728655" y="6419088"/>
            <a:ext cx="914400" cy="256032"/>
          </a:xfrm>
          <a:prstGeom prst="rect">
            <a:avLst/>
          </a:prstGeom>
          <a:noFill/>
          <a:ln/>
        </p:spPr>
        <p:txBody>
          <a:bodyPr wrap="square" lIns="0" tIns="0" rIns="0" bIns="0" rtlCol="0" anchor="ctr"/>
          <a:lstStyle/>
          <a:p>
            <a:pPr marL="0" indent="0" algn="r">
              <a:buNone/>
            </a:pPr>
            <a:r>
              <a:rPr lang="en-US" sz="1000" dirty="0">
                <a:solidFill>
                  <a:srgbClr val="7D6D8E"/>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85800"/>
            <a:ext cx="5486400" cy="274320"/>
          </a:xfrm>
          <a:prstGeom prst="rect">
            <a:avLst/>
          </a:prstGeom>
          <a:noFill/>
          <a:ln/>
        </p:spPr>
        <p:txBody>
          <a:bodyPr wrap="square" lIns="0" tIns="0" rIns="0" bIns="0" rtlCol="0" anchor="ctr"/>
          <a:lstStyle/>
          <a:p>
            <a:pPr marL="0" indent="0">
              <a:buNone/>
            </a:pPr>
            <a:r>
              <a:rPr lang="en-US" sz="1100" b="1" kern="0" spc="300" dirty="0">
                <a:solidFill>
                  <a:srgbClr val="8F7BC6"/>
                </a:solidFill>
                <a:latin typeface="Calibri" pitchFamily="34" charset="0"/>
                <a:ea typeface="Calibri" pitchFamily="34" charset="-122"/>
                <a:cs typeface="Calibri" pitchFamily="34" charset="-120"/>
              </a:rPr>
              <a:t>04  ·  UNDER THE HOOD</a:t>
            </a:r>
            <a:endParaRPr lang="en-US" sz="1100" dirty="0"/>
          </a:p>
        </p:txBody>
      </p:sp>
      <p:sp>
        <p:nvSpPr>
          <p:cNvPr id="3" name="Text 1"/>
          <p:cNvSpPr txBox="1"/>
          <p:nvPr/>
        </p:nvSpPr>
        <p:spPr>
          <a:xfrm>
            <a:off x="548640" y="1005840"/>
            <a:ext cx="8229600" cy="731520"/>
          </a:xfrm>
          <a:prstGeom prst="rect">
            <a:avLst/>
          </a:prstGeom>
          <a:noFill/>
          <a:ln/>
        </p:spPr>
        <p:txBody>
          <a:bodyPr wrap="square" lIns="0" tIns="0" rIns="0" bIns="0" rtlCol="0" anchor="t"/>
          <a:lstStyle/>
          <a:p>
            <a:pPr marL="0" indent="0">
              <a:buNone/>
            </a:pPr>
            <a:r>
              <a:rPr lang="en-US" sz="3800" dirty="0">
                <a:solidFill>
                  <a:srgbClr val="2F2440"/>
                </a:solidFill>
                <a:latin typeface="Georgia" pitchFamily="34" charset="0"/>
                <a:ea typeface="Georgia" pitchFamily="34" charset="-122"/>
                <a:cs typeface="Georgia" pitchFamily="34" charset="-120"/>
              </a:rPr>
              <a:t>One photo, four ways of seeing</a:t>
            </a:r>
            <a:endParaRPr lang="en-US" sz="3800" dirty="0"/>
          </a:p>
        </p:txBody>
      </p:sp>
      <p:pic>
        <p:nvPicPr>
          <p:cNvPr id="4" name="Image 0" descr="C:\Users\himat\AppData\Local\Temp\claude\c--Ai-stuffs-lumina\f3d460ba-f3ac-44b0-bd4c-6f066a888707\scratchpad\deck\assets\t_photo.png"/>
          <p:cNvPicPr>
            <a:picLocks noChangeAspect="1"/>
          </p:cNvPicPr>
          <p:nvPr/>
        </p:nvPicPr>
        <p:blipFill>
          <a:blip r:embed="rId4"/>
          <a:stretch>
            <a:fillRect/>
          </a:stretch>
        </p:blipFill>
        <p:spPr>
          <a:xfrm>
            <a:off x="347472" y="2770632"/>
            <a:ext cx="2596896" cy="2048256"/>
          </a:xfrm>
          <a:prstGeom prst="rect">
            <a:avLst/>
          </a:prstGeom>
        </p:spPr>
      </p:pic>
      <p:sp>
        <p:nvSpPr>
          <p:cNvPr id="5" name="Text 2"/>
          <p:cNvSpPr txBox="1"/>
          <p:nvPr/>
        </p:nvSpPr>
        <p:spPr>
          <a:xfrm>
            <a:off x="548640" y="4754880"/>
            <a:ext cx="2194560" cy="274320"/>
          </a:xfrm>
          <a:prstGeom prst="rect">
            <a:avLst/>
          </a:prstGeom>
          <a:noFill/>
          <a:ln/>
        </p:spPr>
        <p:txBody>
          <a:bodyPr wrap="square" lIns="0" tIns="0" rIns="0" bIns="0" rtlCol="0" anchor="t"/>
          <a:lstStyle/>
          <a:p>
            <a:pPr marL="0" indent="0" algn="ctr">
              <a:buNone/>
            </a:pPr>
            <a:r>
              <a:rPr lang="en-US" sz="1100" dirty="0">
                <a:solidFill>
                  <a:srgbClr val="7D6D8E"/>
                </a:solidFill>
                <a:latin typeface="Calibri" pitchFamily="34" charset="0"/>
                <a:ea typeface="Calibri" pitchFamily="34" charset="-122"/>
                <a:cs typeface="Calibri" pitchFamily="34" charset="-120"/>
              </a:rPr>
              <a:t>Features cached by SHA-256</a:t>
            </a:r>
            <a:endParaRPr lang="en-US" sz="1100" dirty="0"/>
          </a:p>
        </p:txBody>
      </p:sp>
      <p:sp>
        <p:nvSpPr>
          <p:cNvPr id="6" name="Shape 3"/>
          <p:cNvSpPr/>
          <p:nvPr/>
        </p:nvSpPr>
        <p:spPr>
          <a:xfrm>
            <a:off x="2743200" y="3794760"/>
            <a:ext cx="228600" cy="0"/>
          </a:xfrm>
          <a:prstGeom prst="line">
            <a:avLst/>
          </a:prstGeom>
          <a:noFill/>
          <a:ln w="19050">
            <a:solidFill>
              <a:srgbClr val="CDBFE3"/>
            </a:solidFill>
            <a:prstDash val="solid"/>
          </a:ln>
        </p:spPr>
        <p:txBody>
          <a:bodyPr/>
          <a:lstStyle/>
          <a:p>
            <a:endParaRPr lang="en-US"/>
          </a:p>
        </p:txBody>
      </p:sp>
      <p:sp>
        <p:nvSpPr>
          <p:cNvPr id="7" name="Shape 4"/>
          <p:cNvSpPr/>
          <p:nvPr/>
        </p:nvSpPr>
        <p:spPr>
          <a:xfrm>
            <a:off x="2971800" y="2505456"/>
            <a:ext cx="0" cy="2606040"/>
          </a:xfrm>
          <a:prstGeom prst="line">
            <a:avLst/>
          </a:prstGeom>
          <a:noFill/>
          <a:ln w="19050">
            <a:solidFill>
              <a:srgbClr val="CDBFE3"/>
            </a:solidFill>
            <a:prstDash val="solid"/>
          </a:ln>
        </p:spPr>
        <p:txBody>
          <a:bodyPr/>
          <a:lstStyle/>
          <a:p>
            <a:endParaRPr lang="en-US"/>
          </a:p>
        </p:txBody>
      </p:sp>
      <p:sp>
        <p:nvSpPr>
          <p:cNvPr id="8" name="Shape 5"/>
          <p:cNvSpPr/>
          <p:nvPr/>
        </p:nvSpPr>
        <p:spPr>
          <a:xfrm>
            <a:off x="2971800" y="2505456"/>
            <a:ext cx="274320" cy="0"/>
          </a:xfrm>
          <a:prstGeom prst="line">
            <a:avLst/>
          </a:prstGeom>
          <a:noFill/>
          <a:ln w="19050">
            <a:solidFill>
              <a:srgbClr val="CDBFE3"/>
            </a:solidFill>
            <a:prstDash val="solid"/>
          </a:ln>
        </p:spPr>
        <p:txBody>
          <a:bodyPr/>
          <a:lstStyle/>
          <a:p>
            <a:endParaRPr lang="en-US"/>
          </a:p>
        </p:txBody>
      </p:sp>
      <p:sp>
        <p:nvSpPr>
          <p:cNvPr id="9" name="Shape 6"/>
          <p:cNvSpPr/>
          <p:nvPr/>
        </p:nvSpPr>
        <p:spPr>
          <a:xfrm>
            <a:off x="3246120" y="2148840"/>
            <a:ext cx="2926080" cy="713232"/>
          </a:xfrm>
          <a:prstGeom prst="roundRect">
            <a:avLst>
              <a:gd name="adj" fmla="val 15385"/>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10" name="Shape 7"/>
          <p:cNvSpPr/>
          <p:nvPr/>
        </p:nvSpPr>
        <p:spPr>
          <a:xfrm>
            <a:off x="3456432" y="2441448"/>
            <a:ext cx="128016" cy="128016"/>
          </a:xfrm>
          <a:prstGeom prst="ellipse">
            <a:avLst/>
          </a:prstGeom>
          <a:solidFill>
            <a:srgbClr val="8F7BC6"/>
          </a:solidFill>
          <a:ln/>
        </p:spPr>
        <p:txBody>
          <a:bodyPr/>
          <a:lstStyle/>
          <a:p>
            <a:endParaRPr lang="en-US"/>
          </a:p>
        </p:txBody>
      </p:sp>
      <p:sp>
        <p:nvSpPr>
          <p:cNvPr id="11" name="Text 8"/>
          <p:cNvSpPr txBox="1"/>
          <p:nvPr/>
        </p:nvSpPr>
        <p:spPr>
          <a:xfrm>
            <a:off x="3730752" y="2221992"/>
            <a:ext cx="2377440" cy="566928"/>
          </a:xfrm>
          <a:prstGeom prst="rect">
            <a:avLst/>
          </a:prstGeom>
          <a:noFill/>
          <a:ln/>
        </p:spPr>
        <p:txBody>
          <a:bodyPr wrap="square" lIns="0" tIns="0" rIns="0" bIns="0" rtlCol="0" anchor="ctr"/>
          <a:lstStyle/>
          <a:p>
            <a:pPr marL="0" indent="0">
              <a:buNone/>
            </a:pPr>
            <a:r>
              <a:rPr lang="en-US" sz="1400" b="1" dirty="0">
                <a:solidFill>
                  <a:srgbClr val="2F2440"/>
                </a:solidFill>
                <a:latin typeface="Calibri" pitchFamily="34" charset="0"/>
                <a:ea typeface="Calibri" pitchFamily="34" charset="-122"/>
                <a:cs typeface="Calibri" pitchFamily="34" charset="-120"/>
              </a:rPr>
              <a:t>ArcFace</a:t>
            </a:r>
            <a:endParaRPr lang="en-US" sz="1400" dirty="0"/>
          </a:p>
          <a:p>
            <a:pPr marL="0" indent="0">
              <a:buNone/>
            </a:pPr>
            <a:r>
              <a:rPr lang="en-US" sz="1100" dirty="0">
                <a:solidFill>
                  <a:srgbClr val="7D6D8E"/>
                </a:solidFill>
                <a:latin typeface="Calibri" pitchFamily="34" charset="0"/>
                <a:ea typeface="Calibri" pitchFamily="34" charset="-122"/>
                <a:cs typeface="Calibri" pitchFamily="34" charset="-120"/>
              </a:rPr>
              <a:t>Faces · identity, quality</a:t>
            </a:r>
            <a:endParaRPr lang="en-US" sz="1400" dirty="0"/>
          </a:p>
        </p:txBody>
      </p:sp>
      <p:sp>
        <p:nvSpPr>
          <p:cNvPr id="12" name="Shape 9"/>
          <p:cNvSpPr/>
          <p:nvPr/>
        </p:nvSpPr>
        <p:spPr>
          <a:xfrm>
            <a:off x="6172200" y="2505456"/>
            <a:ext cx="365760" cy="0"/>
          </a:xfrm>
          <a:prstGeom prst="line">
            <a:avLst/>
          </a:prstGeom>
          <a:noFill/>
          <a:ln w="19050">
            <a:solidFill>
              <a:srgbClr val="CDBFE3"/>
            </a:solidFill>
            <a:prstDash val="solid"/>
          </a:ln>
        </p:spPr>
        <p:txBody>
          <a:bodyPr/>
          <a:lstStyle/>
          <a:p>
            <a:endParaRPr lang="en-US"/>
          </a:p>
        </p:txBody>
      </p:sp>
      <p:sp>
        <p:nvSpPr>
          <p:cNvPr id="13" name="Shape 10"/>
          <p:cNvSpPr/>
          <p:nvPr/>
        </p:nvSpPr>
        <p:spPr>
          <a:xfrm>
            <a:off x="2971800" y="3374136"/>
            <a:ext cx="274320" cy="0"/>
          </a:xfrm>
          <a:prstGeom prst="line">
            <a:avLst/>
          </a:prstGeom>
          <a:noFill/>
          <a:ln w="19050">
            <a:solidFill>
              <a:srgbClr val="CDBFE3"/>
            </a:solidFill>
            <a:prstDash val="solid"/>
          </a:ln>
        </p:spPr>
        <p:txBody>
          <a:bodyPr/>
          <a:lstStyle/>
          <a:p>
            <a:endParaRPr lang="en-US"/>
          </a:p>
        </p:txBody>
      </p:sp>
      <p:sp>
        <p:nvSpPr>
          <p:cNvPr id="14" name="Shape 11"/>
          <p:cNvSpPr/>
          <p:nvPr/>
        </p:nvSpPr>
        <p:spPr>
          <a:xfrm>
            <a:off x="3246120" y="3017520"/>
            <a:ext cx="2926080" cy="713232"/>
          </a:xfrm>
          <a:prstGeom prst="roundRect">
            <a:avLst>
              <a:gd name="adj" fmla="val 15385"/>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15" name="Shape 12"/>
          <p:cNvSpPr/>
          <p:nvPr/>
        </p:nvSpPr>
        <p:spPr>
          <a:xfrm>
            <a:off x="3456432" y="3310128"/>
            <a:ext cx="128016" cy="128016"/>
          </a:xfrm>
          <a:prstGeom prst="ellipse">
            <a:avLst/>
          </a:prstGeom>
          <a:solidFill>
            <a:srgbClr val="E38C9E"/>
          </a:solidFill>
          <a:ln/>
        </p:spPr>
        <p:txBody>
          <a:bodyPr/>
          <a:lstStyle/>
          <a:p>
            <a:endParaRPr lang="en-US"/>
          </a:p>
        </p:txBody>
      </p:sp>
      <p:sp>
        <p:nvSpPr>
          <p:cNvPr id="16" name="Text 13"/>
          <p:cNvSpPr txBox="1"/>
          <p:nvPr/>
        </p:nvSpPr>
        <p:spPr>
          <a:xfrm>
            <a:off x="3730752" y="3090672"/>
            <a:ext cx="2377440" cy="566928"/>
          </a:xfrm>
          <a:prstGeom prst="rect">
            <a:avLst/>
          </a:prstGeom>
          <a:noFill/>
          <a:ln/>
        </p:spPr>
        <p:txBody>
          <a:bodyPr wrap="square" lIns="0" tIns="0" rIns="0" bIns="0" rtlCol="0" anchor="ctr"/>
          <a:lstStyle/>
          <a:p>
            <a:pPr marL="0" indent="0">
              <a:buNone/>
            </a:pPr>
            <a:r>
              <a:rPr lang="en-US" sz="1400" b="1" dirty="0">
                <a:solidFill>
                  <a:srgbClr val="2F2440"/>
                </a:solidFill>
                <a:latin typeface="Calibri" pitchFamily="34" charset="0"/>
                <a:ea typeface="Calibri" pitchFamily="34" charset="-122"/>
                <a:cs typeface="Calibri" pitchFamily="34" charset="-120"/>
              </a:rPr>
              <a:t>YOLOv8 + OSNet</a:t>
            </a:r>
            <a:endParaRPr lang="en-US" sz="1400" dirty="0"/>
          </a:p>
          <a:p>
            <a:pPr marL="0" indent="0">
              <a:buNone/>
            </a:pPr>
            <a:r>
              <a:rPr lang="en-US" sz="1100" dirty="0">
                <a:solidFill>
                  <a:srgbClr val="7D6D8E"/>
                </a:solidFill>
                <a:latin typeface="Calibri" pitchFamily="34" charset="0"/>
                <a:ea typeface="Calibri" pitchFamily="34" charset="-122"/>
                <a:cs typeface="Calibri" pitchFamily="34" charset="-120"/>
              </a:rPr>
              <a:t>Bodies · re-identification</a:t>
            </a:r>
            <a:endParaRPr lang="en-US" sz="1400" dirty="0"/>
          </a:p>
        </p:txBody>
      </p:sp>
      <p:sp>
        <p:nvSpPr>
          <p:cNvPr id="17" name="Shape 14"/>
          <p:cNvSpPr/>
          <p:nvPr/>
        </p:nvSpPr>
        <p:spPr>
          <a:xfrm>
            <a:off x="6172200" y="3374136"/>
            <a:ext cx="365760" cy="0"/>
          </a:xfrm>
          <a:prstGeom prst="line">
            <a:avLst/>
          </a:prstGeom>
          <a:noFill/>
          <a:ln w="19050">
            <a:solidFill>
              <a:srgbClr val="CDBFE3"/>
            </a:solidFill>
            <a:prstDash val="solid"/>
          </a:ln>
        </p:spPr>
        <p:txBody>
          <a:bodyPr/>
          <a:lstStyle/>
          <a:p>
            <a:endParaRPr lang="en-US"/>
          </a:p>
        </p:txBody>
      </p:sp>
      <p:sp>
        <p:nvSpPr>
          <p:cNvPr id="18" name="Shape 15"/>
          <p:cNvSpPr/>
          <p:nvPr/>
        </p:nvSpPr>
        <p:spPr>
          <a:xfrm>
            <a:off x="2971800" y="4242816"/>
            <a:ext cx="274320" cy="0"/>
          </a:xfrm>
          <a:prstGeom prst="line">
            <a:avLst/>
          </a:prstGeom>
          <a:noFill/>
          <a:ln w="19050">
            <a:solidFill>
              <a:srgbClr val="CDBFE3"/>
            </a:solidFill>
            <a:prstDash val="solid"/>
          </a:ln>
        </p:spPr>
        <p:txBody>
          <a:bodyPr/>
          <a:lstStyle/>
          <a:p>
            <a:endParaRPr lang="en-US"/>
          </a:p>
        </p:txBody>
      </p:sp>
      <p:sp>
        <p:nvSpPr>
          <p:cNvPr id="19" name="Shape 16"/>
          <p:cNvSpPr/>
          <p:nvPr/>
        </p:nvSpPr>
        <p:spPr>
          <a:xfrm>
            <a:off x="3246120" y="3886200"/>
            <a:ext cx="2926080" cy="713232"/>
          </a:xfrm>
          <a:prstGeom prst="roundRect">
            <a:avLst>
              <a:gd name="adj" fmla="val 15385"/>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20" name="Shape 17"/>
          <p:cNvSpPr/>
          <p:nvPr/>
        </p:nvSpPr>
        <p:spPr>
          <a:xfrm>
            <a:off x="3456432" y="4178808"/>
            <a:ext cx="128016" cy="128016"/>
          </a:xfrm>
          <a:prstGeom prst="ellipse">
            <a:avLst/>
          </a:prstGeom>
          <a:solidFill>
            <a:srgbClr val="F3AD7F"/>
          </a:solidFill>
          <a:ln/>
        </p:spPr>
        <p:txBody>
          <a:bodyPr/>
          <a:lstStyle/>
          <a:p>
            <a:endParaRPr lang="en-US"/>
          </a:p>
        </p:txBody>
      </p:sp>
      <p:sp>
        <p:nvSpPr>
          <p:cNvPr id="21" name="Text 18"/>
          <p:cNvSpPr txBox="1"/>
          <p:nvPr/>
        </p:nvSpPr>
        <p:spPr>
          <a:xfrm>
            <a:off x="3730752" y="3959352"/>
            <a:ext cx="2377440" cy="566928"/>
          </a:xfrm>
          <a:prstGeom prst="rect">
            <a:avLst/>
          </a:prstGeom>
          <a:noFill/>
          <a:ln/>
        </p:spPr>
        <p:txBody>
          <a:bodyPr wrap="square" lIns="0" tIns="0" rIns="0" bIns="0" rtlCol="0" anchor="ctr"/>
          <a:lstStyle/>
          <a:p>
            <a:pPr marL="0" indent="0">
              <a:buNone/>
            </a:pPr>
            <a:r>
              <a:rPr lang="en-US" sz="1400" b="1" dirty="0">
                <a:solidFill>
                  <a:srgbClr val="2F2440"/>
                </a:solidFill>
                <a:latin typeface="Calibri" pitchFamily="34" charset="0"/>
                <a:ea typeface="Calibri" pitchFamily="34" charset="-122"/>
                <a:cs typeface="Calibri" pitchFamily="34" charset="-120"/>
              </a:rPr>
              <a:t>DINOv3</a:t>
            </a:r>
            <a:endParaRPr lang="en-US" sz="1400" dirty="0"/>
          </a:p>
          <a:p>
            <a:pPr marL="0" indent="0">
              <a:buNone/>
            </a:pPr>
            <a:r>
              <a:rPr lang="en-US" sz="1100" dirty="0">
                <a:solidFill>
                  <a:srgbClr val="7D6D8E"/>
                </a:solidFill>
                <a:latin typeface="Calibri" pitchFamily="34" charset="0"/>
                <a:ea typeface="Calibri" pitchFamily="34" charset="-122"/>
                <a:cs typeface="Calibri" pitchFamily="34" charset="-120"/>
              </a:rPr>
              <a:t>Scenes · event context</a:t>
            </a:r>
            <a:endParaRPr lang="en-US" sz="1400" dirty="0"/>
          </a:p>
        </p:txBody>
      </p:sp>
      <p:sp>
        <p:nvSpPr>
          <p:cNvPr id="22" name="Shape 19"/>
          <p:cNvSpPr/>
          <p:nvPr/>
        </p:nvSpPr>
        <p:spPr>
          <a:xfrm>
            <a:off x="6172200" y="4242816"/>
            <a:ext cx="365760" cy="0"/>
          </a:xfrm>
          <a:prstGeom prst="line">
            <a:avLst/>
          </a:prstGeom>
          <a:noFill/>
          <a:ln w="19050">
            <a:solidFill>
              <a:srgbClr val="CDBFE3"/>
            </a:solidFill>
            <a:prstDash val="solid"/>
          </a:ln>
        </p:spPr>
        <p:txBody>
          <a:bodyPr/>
          <a:lstStyle/>
          <a:p>
            <a:endParaRPr lang="en-US"/>
          </a:p>
        </p:txBody>
      </p:sp>
      <p:sp>
        <p:nvSpPr>
          <p:cNvPr id="23" name="Shape 20"/>
          <p:cNvSpPr/>
          <p:nvPr/>
        </p:nvSpPr>
        <p:spPr>
          <a:xfrm>
            <a:off x="2971800" y="5111496"/>
            <a:ext cx="274320" cy="0"/>
          </a:xfrm>
          <a:prstGeom prst="line">
            <a:avLst/>
          </a:prstGeom>
          <a:noFill/>
          <a:ln w="19050">
            <a:solidFill>
              <a:srgbClr val="CDBFE3"/>
            </a:solidFill>
            <a:prstDash val="solid"/>
          </a:ln>
        </p:spPr>
        <p:txBody>
          <a:bodyPr/>
          <a:lstStyle/>
          <a:p>
            <a:endParaRPr lang="en-US"/>
          </a:p>
        </p:txBody>
      </p:sp>
      <p:sp>
        <p:nvSpPr>
          <p:cNvPr id="24" name="Shape 21"/>
          <p:cNvSpPr/>
          <p:nvPr/>
        </p:nvSpPr>
        <p:spPr>
          <a:xfrm>
            <a:off x="3246120" y="4754880"/>
            <a:ext cx="2926080" cy="713232"/>
          </a:xfrm>
          <a:prstGeom prst="roundRect">
            <a:avLst>
              <a:gd name="adj" fmla="val 15385"/>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25" name="Shape 22"/>
          <p:cNvSpPr/>
          <p:nvPr/>
        </p:nvSpPr>
        <p:spPr>
          <a:xfrm>
            <a:off x="3456432" y="5047488"/>
            <a:ext cx="128016" cy="128016"/>
          </a:xfrm>
          <a:prstGeom prst="ellipse">
            <a:avLst/>
          </a:prstGeom>
          <a:solidFill>
            <a:srgbClr val="2F2440"/>
          </a:solidFill>
          <a:ln/>
        </p:spPr>
        <p:txBody>
          <a:bodyPr/>
          <a:lstStyle/>
          <a:p>
            <a:endParaRPr lang="en-US"/>
          </a:p>
        </p:txBody>
      </p:sp>
      <p:sp>
        <p:nvSpPr>
          <p:cNvPr id="26" name="Text 23"/>
          <p:cNvSpPr txBox="1"/>
          <p:nvPr/>
        </p:nvSpPr>
        <p:spPr>
          <a:xfrm>
            <a:off x="3730752" y="4828032"/>
            <a:ext cx="2377440" cy="566928"/>
          </a:xfrm>
          <a:prstGeom prst="rect">
            <a:avLst/>
          </a:prstGeom>
          <a:noFill/>
          <a:ln/>
        </p:spPr>
        <p:txBody>
          <a:bodyPr wrap="square" lIns="0" tIns="0" rIns="0" bIns="0" rtlCol="0" anchor="ctr"/>
          <a:lstStyle/>
          <a:p>
            <a:pPr marL="0" indent="0">
              <a:buNone/>
            </a:pPr>
            <a:r>
              <a:rPr lang="en-US" sz="1400" b="1" dirty="0">
                <a:solidFill>
                  <a:srgbClr val="2F2440"/>
                </a:solidFill>
                <a:latin typeface="Calibri" pitchFamily="34" charset="0"/>
                <a:ea typeface="Calibri" pitchFamily="34" charset="-122"/>
                <a:cs typeface="Calibri" pitchFamily="34" charset="-120"/>
              </a:rPr>
              <a:t>CLIP</a:t>
            </a:r>
            <a:endParaRPr lang="en-US" sz="1400" dirty="0"/>
          </a:p>
          <a:p>
            <a:pPr marL="0" indent="0">
              <a:buNone/>
            </a:pPr>
            <a:r>
              <a:rPr lang="en-US" sz="1100" dirty="0">
                <a:solidFill>
                  <a:srgbClr val="7D6D8E"/>
                </a:solidFill>
                <a:latin typeface="Calibri" pitchFamily="34" charset="0"/>
                <a:ea typeface="Calibri" pitchFamily="34" charset="-122"/>
                <a:cs typeface="Calibri" pitchFamily="34" charset="-120"/>
              </a:rPr>
              <a:t>Meaning · search, naming</a:t>
            </a:r>
            <a:endParaRPr lang="en-US" sz="1400" dirty="0"/>
          </a:p>
        </p:txBody>
      </p:sp>
      <p:sp>
        <p:nvSpPr>
          <p:cNvPr id="27" name="Shape 24"/>
          <p:cNvSpPr/>
          <p:nvPr/>
        </p:nvSpPr>
        <p:spPr>
          <a:xfrm>
            <a:off x="6172200" y="5111496"/>
            <a:ext cx="365760" cy="0"/>
          </a:xfrm>
          <a:prstGeom prst="line">
            <a:avLst/>
          </a:prstGeom>
          <a:noFill/>
          <a:ln w="19050">
            <a:solidFill>
              <a:srgbClr val="CDBFE3"/>
            </a:solidFill>
            <a:prstDash val="solid"/>
          </a:ln>
        </p:spPr>
        <p:txBody>
          <a:bodyPr/>
          <a:lstStyle/>
          <a:p>
            <a:endParaRPr lang="en-US"/>
          </a:p>
        </p:txBody>
      </p:sp>
      <p:sp>
        <p:nvSpPr>
          <p:cNvPr id="28" name="Shape 25"/>
          <p:cNvSpPr/>
          <p:nvPr/>
        </p:nvSpPr>
        <p:spPr>
          <a:xfrm>
            <a:off x="6537960" y="2505456"/>
            <a:ext cx="0" cy="2606040"/>
          </a:xfrm>
          <a:prstGeom prst="line">
            <a:avLst/>
          </a:prstGeom>
          <a:noFill/>
          <a:ln w="19050">
            <a:solidFill>
              <a:srgbClr val="CDBFE3"/>
            </a:solidFill>
            <a:prstDash val="solid"/>
          </a:ln>
        </p:spPr>
        <p:txBody>
          <a:bodyPr/>
          <a:lstStyle/>
          <a:p>
            <a:endParaRPr lang="en-US"/>
          </a:p>
        </p:txBody>
      </p:sp>
      <p:sp>
        <p:nvSpPr>
          <p:cNvPr id="29" name="Shape 26"/>
          <p:cNvSpPr/>
          <p:nvPr/>
        </p:nvSpPr>
        <p:spPr>
          <a:xfrm>
            <a:off x="6537960" y="2628900"/>
            <a:ext cx="347472" cy="0"/>
          </a:xfrm>
          <a:prstGeom prst="line">
            <a:avLst/>
          </a:prstGeom>
          <a:noFill/>
          <a:ln w="19050">
            <a:solidFill>
              <a:srgbClr val="CDBFE3"/>
            </a:solidFill>
            <a:prstDash val="solid"/>
            <a:tailEnd type="triangle"/>
          </a:ln>
        </p:spPr>
        <p:txBody>
          <a:bodyPr/>
          <a:lstStyle/>
          <a:p>
            <a:endParaRPr lang="en-US"/>
          </a:p>
        </p:txBody>
      </p:sp>
      <p:sp>
        <p:nvSpPr>
          <p:cNvPr id="30" name="Shape 27"/>
          <p:cNvSpPr/>
          <p:nvPr/>
        </p:nvSpPr>
        <p:spPr>
          <a:xfrm>
            <a:off x="6903720" y="2148840"/>
            <a:ext cx="2743200" cy="960120"/>
          </a:xfrm>
          <a:prstGeom prst="roundRect">
            <a:avLst>
              <a:gd name="adj" fmla="val 11429"/>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31" name="Text 28"/>
          <p:cNvSpPr txBox="1"/>
          <p:nvPr/>
        </p:nvSpPr>
        <p:spPr>
          <a:xfrm>
            <a:off x="7132320" y="2240280"/>
            <a:ext cx="2423160" cy="777240"/>
          </a:xfrm>
          <a:prstGeom prst="rect">
            <a:avLst/>
          </a:prstGeom>
          <a:noFill/>
          <a:ln/>
        </p:spPr>
        <p:txBody>
          <a:bodyPr wrap="square" lIns="0" tIns="0" rIns="0" bIns="0" rtlCol="0" anchor="ctr"/>
          <a:lstStyle/>
          <a:p>
            <a:pPr marL="0" indent="0">
              <a:buNone/>
            </a:pPr>
            <a:r>
              <a:rPr lang="en-US" sz="950" b="1" kern="0" spc="300" dirty="0">
                <a:solidFill>
                  <a:srgbClr val="8F7BC6"/>
                </a:solidFill>
                <a:latin typeface="Calibri" pitchFamily="34" charset="0"/>
                <a:ea typeface="Calibri" pitchFamily="34" charset="-122"/>
                <a:cs typeface="Calibri" pitchFamily="34" charset="-120"/>
              </a:rPr>
              <a:t>WHO</a:t>
            </a:r>
            <a:endParaRPr lang="en-US" sz="950" dirty="0"/>
          </a:p>
          <a:p>
            <a:pPr marL="0" indent="0">
              <a:buNone/>
            </a:pPr>
            <a:r>
              <a:rPr lang="en-US" sz="1800" dirty="0">
                <a:solidFill>
                  <a:srgbClr val="2F2440"/>
                </a:solidFill>
                <a:latin typeface="Georgia" pitchFamily="34" charset="0"/>
                <a:ea typeface="Georgia" pitchFamily="34" charset="-122"/>
                <a:cs typeface="Georgia" pitchFamily="34" charset="-120"/>
              </a:rPr>
              <a:t>People</a:t>
            </a:r>
            <a:endParaRPr lang="en-US" sz="950" dirty="0"/>
          </a:p>
          <a:p>
            <a:pPr marL="0" indent="0">
              <a:buNone/>
            </a:pPr>
            <a:r>
              <a:rPr lang="en-US" sz="1100" dirty="0">
                <a:solidFill>
                  <a:srgbClr val="7D6D8E"/>
                </a:solidFill>
                <a:latin typeface="Calibri" pitchFamily="34" charset="0"/>
                <a:ea typeface="Calibri" pitchFamily="34" charset="-122"/>
                <a:cs typeface="Calibri" pitchFamily="34" charset="-120"/>
              </a:rPr>
              <a:t>Face + body fusion</a:t>
            </a:r>
            <a:endParaRPr lang="en-US" sz="950" dirty="0"/>
          </a:p>
        </p:txBody>
      </p:sp>
      <p:sp>
        <p:nvSpPr>
          <p:cNvPr id="32" name="Shape 29"/>
          <p:cNvSpPr/>
          <p:nvPr/>
        </p:nvSpPr>
        <p:spPr>
          <a:xfrm>
            <a:off x="6537960" y="3790188"/>
            <a:ext cx="347472" cy="0"/>
          </a:xfrm>
          <a:prstGeom prst="line">
            <a:avLst/>
          </a:prstGeom>
          <a:noFill/>
          <a:ln w="19050">
            <a:solidFill>
              <a:srgbClr val="CDBFE3"/>
            </a:solidFill>
            <a:prstDash val="solid"/>
            <a:tailEnd type="triangle"/>
          </a:ln>
        </p:spPr>
        <p:txBody>
          <a:bodyPr/>
          <a:lstStyle/>
          <a:p>
            <a:endParaRPr lang="en-US"/>
          </a:p>
        </p:txBody>
      </p:sp>
      <p:sp>
        <p:nvSpPr>
          <p:cNvPr id="33" name="Shape 30"/>
          <p:cNvSpPr/>
          <p:nvPr/>
        </p:nvSpPr>
        <p:spPr>
          <a:xfrm>
            <a:off x="6903720" y="3310128"/>
            <a:ext cx="2743200" cy="960120"/>
          </a:xfrm>
          <a:prstGeom prst="roundRect">
            <a:avLst>
              <a:gd name="adj" fmla="val 11429"/>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34" name="Text 31"/>
          <p:cNvSpPr txBox="1"/>
          <p:nvPr/>
        </p:nvSpPr>
        <p:spPr>
          <a:xfrm>
            <a:off x="7132320" y="3401568"/>
            <a:ext cx="2423160" cy="777240"/>
          </a:xfrm>
          <a:prstGeom prst="rect">
            <a:avLst/>
          </a:prstGeom>
          <a:noFill/>
          <a:ln/>
        </p:spPr>
        <p:txBody>
          <a:bodyPr wrap="square" lIns="0" tIns="0" rIns="0" bIns="0" rtlCol="0" anchor="ctr"/>
          <a:lstStyle/>
          <a:p>
            <a:pPr marL="0" indent="0">
              <a:buNone/>
            </a:pPr>
            <a:r>
              <a:rPr lang="en-US" sz="950" b="1" kern="0" spc="300" dirty="0">
                <a:solidFill>
                  <a:srgbClr val="8F7BC6"/>
                </a:solidFill>
                <a:latin typeface="Calibri" pitchFamily="34" charset="0"/>
                <a:ea typeface="Calibri" pitchFamily="34" charset="-122"/>
                <a:cs typeface="Calibri" pitchFamily="34" charset="-120"/>
              </a:rPr>
              <a:t>WHEN</a:t>
            </a:r>
            <a:endParaRPr lang="en-US" sz="950" dirty="0"/>
          </a:p>
          <a:p>
            <a:pPr marL="0" indent="0">
              <a:buNone/>
            </a:pPr>
            <a:r>
              <a:rPr lang="en-US" sz="1800" dirty="0">
                <a:solidFill>
                  <a:srgbClr val="2F2440"/>
                </a:solidFill>
                <a:latin typeface="Georgia" pitchFamily="34" charset="0"/>
                <a:ea typeface="Georgia" pitchFamily="34" charset="-122"/>
                <a:cs typeface="Georgia" pitchFamily="34" charset="-120"/>
              </a:rPr>
              <a:t>Moments</a:t>
            </a:r>
            <a:endParaRPr lang="en-US" sz="950" dirty="0"/>
          </a:p>
          <a:p>
            <a:pPr marL="0" indent="0">
              <a:buNone/>
            </a:pPr>
            <a:r>
              <a:rPr lang="en-US" sz="1100" dirty="0">
                <a:solidFill>
                  <a:srgbClr val="7D6D8E"/>
                </a:solidFill>
                <a:latin typeface="Calibri" pitchFamily="34" charset="0"/>
                <a:ea typeface="Calibri" pitchFamily="34" charset="-122"/>
                <a:cs typeface="Calibri" pitchFamily="34" charset="-120"/>
              </a:rPr>
              <a:t>Scene + capture time</a:t>
            </a:r>
            <a:endParaRPr lang="en-US" sz="950" dirty="0"/>
          </a:p>
        </p:txBody>
      </p:sp>
      <p:sp>
        <p:nvSpPr>
          <p:cNvPr id="35" name="Shape 32"/>
          <p:cNvSpPr/>
          <p:nvPr/>
        </p:nvSpPr>
        <p:spPr>
          <a:xfrm>
            <a:off x="6537960" y="4951476"/>
            <a:ext cx="347472" cy="0"/>
          </a:xfrm>
          <a:prstGeom prst="line">
            <a:avLst/>
          </a:prstGeom>
          <a:noFill/>
          <a:ln w="19050">
            <a:solidFill>
              <a:srgbClr val="CDBFE3"/>
            </a:solidFill>
            <a:prstDash val="solid"/>
            <a:tailEnd type="triangle"/>
          </a:ln>
        </p:spPr>
        <p:txBody>
          <a:bodyPr/>
          <a:lstStyle/>
          <a:p>
            <a:endParaRPr lang="en-US"/>
          </a:p>
        </p:txBody>
      </p:sp>
      <p:sp>
        <p:nvSpPr>
          <p:cNvPr id="36" name="Shape 33"/>
          <p:cNvSpPr/>
          <p:nvPr/>
        </p:nvSpPr>
        <p:spPr>
          <a:xfrm>
            <a:off x="6903720" y="4471416"/>
            <a:ext cx="2743200" cy="960120"/>
          </a:xfrm>
          <a:prstGeom prst="roundRect">
            <a:avLst>
              <a:gd name="adj" fmla="val 11429"/>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37" name="Text 34"/>
          <p:cNvSpPr txBox="1"/>
          <p:nvPr/>
        </p:nvSpPr>
        <p:spPr>
          <a:xfrm>
            <a:off x="7132320" y="4562856"/>
            <a:ext cx="2423160" cy="777240"/>
          </a:xfrm>
          <a:prstGeom prst="rect">
            <a:avLst/>
          </a:prstGeom>
          <a:noFill/>
          <a:ln/>
        </p:spPr>
        <p:txBody>
          <a:bodyPr wrap="square" lIns="0" tIns="0" rIns="0" bIns="0" rtlCol="0" anchor="ctr"/>
          <a:lstStyle/>
          <a:p>
            <a:pPr marL="0" indent="0">
              <a:buNone/>
            </a:pPr>
            <a:r>
              <a:rPr lang="en-US" sz="950" b="1" kern="0" spc="300" dirty="0">
                <a:solidFill>
                  <a:srgbClr val="8F7BC6"/>
                </a:solidFill>
                <a:latin typeface="Calibri" pitchFamily="34" charset="0"/>
                <a:ea typeface="Calibri" pitchFamily="34" charset="-122"/>
                <a:cs typeface="Calibri" pitchFamily="34" charset="-120"/>
              </a:rPr>
              <a:t>WHICH</a:t>
            </a:r>
            <a:endParaRPr lang="en-US" sz="950" dirty="0"/>
          </a:p>
          <a:p>
            <a:pPr marL="0" indent="0">
              <a:buNone/>
            </a:pPr>
            <a:r>
              <a:rPr lang="en-US" sz="1800" dirty="0">
                <a:solidFill>
                  <a:srgbClr val="2F2440"/>
                </a:solidFill>
                <a:latin typeface="Georgia" pitchFamily="34" charset="0"/>
                <a:ea typeface="Georgia" pitchFamily="34" charset="-122"/>
                <a:cs typeface="Georgia" pitchFamily="34" charset="-120"/>
              </a:rPr>
              <a:t>Best shot</a:t>
            </a:r>
            <a:endParaRPr lang="en-US" sz="950" dirty="0"/>
          </a:p>
          <a:p>
            <a:pPr marL="0" indent="0">
              <a:buNone/>
            </a:pPr>
            <a:r>
              <a:rPr lang="en-US" sz="1100" dirty="0">
                <a:solidFill>
                  <a:srgbClr val="7D6D8E"/>
                </a:solidFill>
                <a:latin typeface="Calibri" pitchFamily="34" charset="0"/>
                <a:ea typeface="Calibri" pitchFamily="34" charset="-122"/>
                <a:cs typeface="Calibri" pitchFamily="34" charset="-120"/>
              </a:rPr>
              <a:t>7 signals, plus a reason</a:t>
            </a:r>
            <a:endParaRPr lang="en-US" sz="950" dirty="0"/>
          </a:p>
        </p:txBody>
      </p:sp>
      <p:pic>
        <p:nvPicPr>
          <p:cNvPr id="38" name="Image 1" descr="C:\Users\himat\AppData\Local\Temp\claude\c--Ai-stuffs-lumina\f3d460ba-f3ac-44b0-bd4c-6f066a888707\scratchpad\deck\assets\lumi_search.png"/>
          <p:cNvPicPr>
            <a:picLocks noChangeAspect="1"/>
          </p:cNvPicPr>
          <p:nvPr/>
        </p:nvPicPr>
        <p:blipFill>
          <a:blip r:embed="rId5"/>
          <a:stretch>
            <a:fillRect/>
          </a:stretch>
        </p:blipFill>
        <p:spPr>
          <a:xfrm>
            <a:off x="9577197" y="2651760"/>
            <a:ext cx="2063115" cy="2743200"/>
          </a:xfrm>
          <a:prstGeom prst="rect">
            <a:avLst/>
          </a:prstGeom>
        </p:spPr>
      </p:pic>
      <p:sp>
        <p:nvSpPr>
          <p:cNvPr id="40" name="Text 35"/>
          <p:cNvSpPr txBox="1"/>
          <p:nvPr/>
        </p:nvSpPr>
        <p:spPr>
          <a:xfrm>
            <a:off x="548640" y="6419088"/>
            <a:ext cx="1828800" cy="256032"/>
          </a:xfrm>
          <a:prstGeom prst="rect">
            <a:avLst/>
          </a:prstGeom>
          <a:noFill/>
          <a:ln/>
        </p:spPr>
        <p:txBody>
          <a:bodyPr wrap="square" lIns="0" tIns="0" rIns="0" bIns="0" rtlCol="0" anchor="ctr"/>
          <a:lstStyle/>
          <a:p>
            <a:pPr marL="0" indent="0">
              <a:buNone/>
            </a:pPr>
            <a:r>
              <a:rPr lang="en-US" sz="1000" dirty="0">
                <a:solidFill>
                  <a:srgbClr val="7D6D8E"/>
                </a:solidFill>
                <a:latin typeface="Georgia" pitchFamily="34" charset="0"/>
                <a:ea typeface="Georgia" pitchFamily="34" charset="-122"/>
                <a:cs typeface="Georgia" pitchFamily="34" charset="-120"/>
              </a:rPr>
              <a:t>Lumina</a:t>
            </a:r>
            <a:endParaRPr lang="en-US" sz="1000" dirty="0"/>
          </a:p>
        </p:txBody>
      </p:sp>
      <p:sp>
        <p:nvSpPr>
          <p:cNvPr id="41" name="Text 36"/>
          <p:cNvSpPr txBox="1"/>
          <p:nvPr/>
        </p:nvSpPr>
        <p:spPr>
          <a:xfrm>
            <a:off x="10728655" y="6419088"/>
            <a:ext cx="914400" cy="256032"/>
          </a:xfrm>
          <a:prstGeom prst="rect">
            <a:avLst/>
          </a:prstGeom>
          <a:noFill/>
          <a:ln/>
        </p:spPr>
        <p:txBody>
          <a:bodyPr wrap="square" lIns="0" tIns="0" rIns="0" bIns="0" rtlCol="0" anchor="ctr"/>
          <a:lstStyle/>
          <a:p>
            <a:pPr marL="0" indent="0" algn="r">
              <a:buNone/>
            </a:pPr>
            <a:r>
              <a:rPr lang="en-US" sz="1000" dirty="0">
                <a:solidFill>
                  <a:srgbClr val="7D6D8E"/>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85800"/>
            <a:ext cx="5486400" cy="274320"/>
          </a:xfrm>
          <a:prstGeom prst="rect">
            <a:avLst/>
          </a:prstGeom>
          <a:noFill/>
          <a:ln/>
        </p:spPr>
        <p:txBody>
          <a:bodyPr wrap="square" lIns="0" tIns="0" rIns="0" bIns="0" rtlCol="0" anchor="ctr"/>
          <a:lstStyle/>
          <a:p>
            <a:pPr marL="0" indent="0">
              <a:buNone/>
            </a:pPr>
            <a:r>
              <a:rPr lang="en-US" sz="1100" b="1" kern="0" spc="300" dirty="0">
                <a:solidFill>
                  <a:srgbClr val="8F7BC6"/>
                </a:solidFill>
                <a:latin typeface="Calibri" pitchFamily="34" charset="0"/>
                <a:ea typeface="Calibri" pitchFamily="34" charset="-122"/>
                <a:cs typeface="Calibri" pitchFamily="34" charset="-120"/>
              </a:rPr>
              <a:t>05  ·  PEOPLE</a:t>
            </a:r>
            <a:endParaRPr lang="en-US" sz="1100" dirty="0"/>
          </a:p>
        </p:txBody>
      </p:sp>
      <p:sp>
        <p:nvSpPr>
          <p:cNvPr id="3" name="Text 1"/>
          <p:cNvSpPr txBox="1"/>
          <p:nvPr/>
        </p:nvSpPr>
        <p:spPr>
          <a:xfrm>
            <a:off x="548640" y="1005840"/>
            <a:ext cx="7315200" cy="731520"/>
          </a:xfrm>
          <a:prstGeom prst="rect">
            <a:avLst/>
          </a:prstGeom>
          <a:noFill/>
          <a:ln/>
        </p:spPr>
        <p:txBody>
          <a:bodyPr wrap="square" lIns="0" tIns="0" rIns="0" bIns="0" rtlCol="0" anchor="t"/>
          <a:lstStyle/>
          <a:p>
            <a:pPr marL="0" indent="0">
              <a:buNone/>
            </a:pPr>
            <a:r>
              <a:rPr lang="en-US" sz="3800" dirty="0">
                <a:solidFill>
                  <a:srgbClr val="2F2440"/>
                </a:solidFill>
                <a:latin typeface="Georgia" pitchFamily="34" charset="0"/>
                <a:ea typeface="Georgia" pitchFamily="34" charset="-122"/>
                <a:cs typeface="Georgia" pitchFamily="34" charset="-120"/>
              </a:rPr>
              <a:t>Recognised, even facing away</a:t>
            </a:r>
            <a:endParaRPr lang="en-US" sz="3800" dirty="0"/>
          </a:p>
        </p:txBody>
      </p:sp>
      <p:sp>
        <p:nvSpPr>
          <p:cNvPr id="4" name="Shape 2"/>
          <p:cNvSpPr/>
          <p:nvPr/>
        </p:nvSpPr>
        <p:spPr>
          <a:xfrm>
            <a:off x="548640" y="2148840"/>
            <a:ext cx="4846320" cy="1143000"/>
          </a:xfrm>
          <a:prstGeom prst="roundRect">
            <a:avLst>
              <a:gd name="adj" fmla="val 11200"/>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5" name="Text 3"/>
          <p:cNvSpPr txBox="1"/>
          <p:nvPr/>
        </p:nvSpPr>
        <p:spPr>
          <a:xfrm>
            <a:off x="548640" y="2148840"/>
            <a:ext cx="4846320" cy="1143000"/>
          </a:xfrm>
          <a:prstGeom prst="rect">
            <a:avLst/>
          </a:prstGeom>
          <a:noFill/>
          <a:ln/>
        </p:spPr>
        <p:txBody>
          <a:bodyPr wrap="square" lIns="0" tIns="0" rIns="0" bIns="0" rtlCol="0" anchor="ctr"/>
          <a:lstStyle/>
          <a:p>
            <a:pPr marL="0" indent="0" algn="ctr">
              <a:buNone/>
            </a:pPr>
            <a:r>
              <a:rPr lang="en-US" sz="2200" i="1" dirty="0">
                <a:solidFill>
                  <a:srgbClr val="2F2440"/>
                </a:solidFill>
                <a:latin typeface="Georgia" pitchFamily="34" charset="0"/>
                <a:ea typeface="Georgia" pitchFamily="34" charset="-122"/>
                <a:cs typeface="Georgia" pitchFamily="34" charset="-120"/>
              </a:rPr>
              <a:t>e</a:t>
            </a:r>
            <a:r>
              <a:rPr lang="en-US" sz="2200" dirty="0">
                <a:solidFill>
                  <a:srgbClr val="2F2440"/>
                </a:solidFill>
                <a:latin typeface="Georgia" pitchFamily="34" charset="0"/>
                <a:ea typeface="Georgia" pitchFamily="34" charset="-122"/>
                <a:cs typeface="Georgia" pitchFamily="34" charset="-120"/>
              </a:rPr>
              <a:t>  =  √α · face  ⊕  √(1 − α) · body</a:t>
            </a:r>
            <a:endParaRPr lang="en-US" sz="2200" dirty="0"/>
          </a:p>
        </p:txBody>
      </p:sp>
      <p:sp>
        <p:nvSpPr>
          <p:cNvPr id="6" name="Shape 4"/>
          <p:cNvSpPr/>
          <p:nvPr/>
        </p:nvSpPr>
        <p:spPr>
          <a:xfrm>
            <a:off x="594360" y="3749040"/>
            <a:ext cx="128016" cy="128016"/>
          </a:xfrm>
          <a:prstGeom prst="ellipse">
            <a:avLst/>
          </a:prstGeom>
          <a:solidFill>
            <a:srgbClr val="8F7BC6"/>
          </a:solidFill>
          <a:ln/>
        </p:spPr>
        <p:txBody>
          <a:bodyPr/>
          <a:lstStyle/>
          <a:p>
            <a:endParaRPr lang="en-US"/>
          </a:p>
        </p:txBody>
      </p:sp>
      <p:sp>
        <p:nvSpPr>
          <p:cNvPr id="7" name="Text 5"/>
          <p:cNvSpPr txBox="1"/>
          <p:nvPr/>
        </p:nvSpPr>
        <p:spPr>
          <a:xfrm>
            <a:off x="914400" y="3657600"/>
            <a:ext cx="4480560" cy="329184"/>
          </a:xfrm>
          <a:prstGeom prst="rect">
            <a:avLst/>
          </a:prstGeom>
          <a:noFill/>
          <a:ln/>
        </p:spPr>
        <p:txBody>
          <a:bodyPr wrap="square" lIns="0" tIns="0" rIns="0" bIns="0" rtlCol="0" anchor="ctr"/>
          <a:lstStyle/>
          <a:p>
            <a:pPr marL="0" indent="0">
              <a:buNone/>
            </a:pPr>
            <a:r>
              <a:rPr lang="en-US" sz="1600" b="1" dirty="0">
                <a:solidFill>
                  <a:srgbClr val="2F2440"/>
                </a:solidFill>
                <a:latin typeface="Calibri" pitchFamily="34" charset="0"/>
                <a:ea typeface="Calibri" pitchFamily="34" charset="-122"/>
                <a:cs typeface="Calibri" pitchFamily="34" charset="-120"/>
              </a:rPr>
              <a:t>Face leads </a:t>
            </a:r>
            <a:r>
              <a:rPr lang="en-US" sz="1600" dirty="0">
                <a:solidFill>
                  <a:srgbClr val="7D6D8E"/>
                </a:solidFill>
                <a:latin typeface="Calibri" pitchFamily="34" charset="0"/>
                <a:ea typeface="Calibri" pitchFamily="34" charset="-122"/>
                <a:cs typeface="Calibri" pitchFamily="34" charset="-120"/>
              </a:rPr>
              <a:t>when it's clear (α from 0.7 to 1)</a:t>
            </a:r>
            <a:endParaRPr lang="en-US" sz="1600" dirty="0"/>
          </a:p>
        </p:txBody>
      </p:sp>
      <p:sp>
        <p:nvSpPr>
          <p:cNvPr id="8" name="Shape 6"/>
          <p:cNvSpPr/>
          <p:nvPr/>
        </p:nvSpPr>
        <p:spPr>
          <a:xfrm>
            <a:off x="594360" y="4297680"/>
            <a:ext cx="128016" cy="128016"/>
          </a:xfrm>
          <a:prstGeom prst="ellipse">
            <a:avLst/>
          </a:prstGeom>
          <a:solidFill>
            <a:srgbClr val="E38C9E"/>
          </a:solidFill>
          <a:ln/>
        </p:spPr>
        <p:txBody>
          <a:bodyPr/>
          <a:lstStyle/>
          <a:p>
            <a:endParaRPr lang="en-US"/>
          </a:p>
        </p:txBody>
      </p:sp>
      <p:sp>
        <p:nvSpPr>
          <p:cNvPr id="9" name="Text 7"/>
          <p:cNvSpPr txBox="1"/>
          <p:nvPr/>
        </p:nvSpPr>
        <p:spPr>
          <a:xfrm>
            <a:off x="914400" y="4206240"/>
            <a:ext cx="4480560" cy="329184"/>
          </a:xfrm>
          <a:prstGeom prst="rect">
            <a:avLst/>
          </a:prstGeom>
          <a:noFill/>
          <a:ln/>
        </p:spPr>
        <p:txBody>
          <a:bodyPr wrap="square" lIns="0" tIns="0" rIns="0" bIns="0" rtlCol="0" anchor="ctr"/>
          <a:lstStyle/>
          <a:p>
            <a:pPr marL="0" indent="0">
              <a:buNone/>
            </a:pPr>
            <a:r>
              <a:rPr lang="en-US" sz="1600" b="1" dirty="0">
                <a:solidFill>
                  <a:srgbClr val="2F2440"/>
                </a:solidFill>
                <a:latin typeface="Calibri" pitchFamily="34" charset="0"/>
                <a:ea typeface="Calibri" pitchFamily="34" charset="-122"/>
                <a:cs typeface="Calibri" pitchFamily="34" charset="-120"/>
              </a:rPr>
              <a:t>Body fills in </a:t>
            </a:r>
            <a:r>
              <a:rPr lang="en-US" sz="1600" dirty="0">
                <a:solidFill>
                  <a:srgbClr val="7D6D8E"/>
                </a:solidFill>
                <a:latin typeface="Calibri" pitchFamily="34" charset="0"/>
                <a:ea typeface="Calibri" pitchFamily="34" charset="-122"/>
                <a:cs typeface="Calibri" pitchFamily="34" charset="-120"/>
              </a:rPr>
              <a:t>for turned-away shots</a:t>
            </a:r>
            <a:endParaRPr lang="en-US" sz="1600" dirty="0"/>
          </a:p>
        </p:txBody>
      </p:sp>
      <p:sp>
        <p:nvSpPr>
          <p:cNvPr id="10" name="Shape 8"/>
          <p:cNvSpPr/>
          <p:nvPr/>
        </p:nvSpPr>
        <p:spPr>
          <a:xfrm>
            <a:off x="594360" y="4846320"/>
            <a:ext cx="128016" cy="128016"/>
          </a:xfrm>
          <a:prstGeom prst="ellipse">
            <a:avLst/>
          </a:prstGeom>
          <a:solidFill>
            <a:srgbClr val="F3AD7F"/>
          </a:solidFill>
          <a:ln/>
        </p:spPr>
        <p:txBody>
          <a:bodyPr/>
          <a:lstStyle/>
          <a:p>
            <a:endParaRPr lang="en-US"/>
          </a:p>
        </p:txBody>
      </p:sp>
      <p:sp>
        <p:nvSpPr>
          <p:cNvPr id="11" name="Text 9"/>
          <p:cNvSpPr txBox="1"/>
          <p:nvPr/>
        </p:nvSpPr>
        <p:spPr>
          <a:xfrm>
            <a:off x="914400" y="4754880"/>
            <a:ext cx="4480560" cy="329184"/>
          </a:xfrm>
          <a:prstGeom prst="rect">
            <a:avLst/>
          </a:prstGeom>
          <a:noFill/>
          <a:ln/>
        </p:spPr>
        <p:txBody>
          <a:bodyPr wrap="square" lIns="0" tIns="0" rIns="0" bIns="0" rtlCol="0" anchor="ctr"/>
          <a:lstStyle/>
          <a:p>
            <a:pPr marL="0" indent="0">
              <a:buNone/>
            </a:pPr>
            <a:r>
              <a:rPr lang="en-US" sz="1600" b="1" dirty="0">
                <a:solidFill>
                  <a:srgbClr val="2F2440"/>
                </a:solidFill>
                <a:latin typeface="Calibri" pitchFamily="34" charset="0"/>
                <a:ea typeface="Calibri" pitchFamily="34" charset="-122"/>
                <a:cs typeface="Calibri" pitchFamily="34" charset="-120"/>
              </a:rPr>
              <a:t>One person, </a:t>
            </a:r>
            <a:r>
              <a:rPr lang="en-US" sz="1600" dirty="0">
                <a:solidFill>
                  <a:srgbClr val="7D6D8E"/>
                </a:solidFill>
                <a:latin typeface="Calibri" pitchFamily="34" charset="0"/>
                <a:ea typeface="Calibri" pitchFamily="34" charset="-122"/>
                <a:cs typeface="Calibri" pitchFamily="34" charset="-120"/>
              </a:rPr>
              <a:t>tracked across every moment</a:t>
            </a:r>
            <a:endParaRPr lang="en-US" sz="1600" dirty="0"/>
          </a:p>
        </p:txBody>
      </p:sp>
      <p:pic>
        <p:nvPicPr>
          <p:cNvPr id="12" name="Image 0" descr="C:\Users\himat\AppData\Local\Temp\claude\c--Ai-stuffs-lumina\f3d460ba-f3ac-44b0-bd4c-6f066a888707\scratchpad\deck\assets\t_people.png"/>
          <p:cNvPicPr>
            <a:picLocks noChangeAspect="1"/>
          </p:cNvPicPr>
          <p:nvPr/>
        </p:nvPicPr>
        <p:blipFill>
          <a:blip r:embed="rId4"/>
          <a:stretch>
            <a:fillRect/>
          </a:stretch>
        </p:blipFill>
        <p:spPr>
          <a:xfrm>
            <a:off x="5678424" y="1719072"/>
            <a:ext cx="6163056" cy="3968496"/>
          </a:xfrm>
          <a:prstGeom prst="rect">
            <a:avLst/>
          </a:prstGeom>
        </p:spPr>
      </p:pic>
      <p:pic>
        <p:nvPicPr>
          <p:cNvPr id="13" name="Image 1" descr="C:\Users\himat\AppData\Local\Temp\claude\c--Ai-stuffs-lumina\f3d460ba-f3ac-44b0-bd4c-6f066a888707\scratchpad\deck\assets\lumi_tag.png"/>
          <p:cNvPicPr>
            <a:picLocks noChangeAspect="1"/>
          </p:cNvPicPr>
          <p:nvPr/>
        </p:nvPicPr>
        <p:blipFill>
          <a:blip r:embed="rId5"/>
          <a:stretch>
            <a:fillRect/>
          </a:stretch>
        </p:blipFill>
        <p:spPr>
          <a:xfrm>
            <a:off x="10286619" y="4297680"/>
            <a:ext cx="1554861" cy="2011680"/>
          </a:xfrm>
          <a:prstGeom prst="rect">
            <a:avLst/>
          </a:prstGeom>
        </p:spPr>
      </p:pic>
      <p:sp>
        <p:nvSpPr>
          <p:cNvPr id="15" name="Text 10"/>
          <p:cNvSpPr txBox="1"/>
          <p:nvPr/>
        </p:nvSpPr>
        <p:spPr>
          <a:xfrm>
            <a:off x="548640" y="6419088"/>
            <a:ext cx="1828800" cy="256032"/>
          </a:xfrm>
          <a:prstGeom prst="rect">
            <a:avLst/>
          </a:prstGeom>
          <a:noFill/>
          <a:ln/>
        </p:spPr>
        <p:txBody>
          <a:bodyPr wrap="square" lIns="0" tIns="0" rIns="0" bIns="0" rtlCol="0" anchor="ctr"/>
          <a:lstStyle/>
          <a:p>
            <a:pPr marL="0" indent="0">
              <a:buNone/>
            </a:pPr>
            <a:r>
              <a:rPr lang="en-US" sz="1000" dirty="0">
                <a:solidFill>
                  <a:srgbClr val="7D6D8E"/>
                </a:solidFill>
                <a:latin typeface="Georgia" pitchFamily="34" charset="0"/>
                <a:ea typeface="Georgia" pitchFamily="34" charset="-122"/>
                <a:cs typeface="Georgia" pitchFamily="34" charset="-120"/>
              </a:rPr>
              <a:t>Lumina</a:t>
            </a:r>
            <a:endParaRPr lang="en-US" sz="1000" dirty="0"/>
          </a:p>
        </p:txBody>
      </p:sp>
      <p:sp>
        <p:nvSpPr>
          <p:cNvPr id="16" name="Text 11"/>
          <p:cNvSpPr txBox="1"/>
          <p:nvPr/>
        </p:nvSpPr>
        <p:spPr>
          <a:xfrm>
            <a:off x="10728655" y="6419088"/>
            <a:ext cx="914400" cy="256032"/>
          </a:xfrm>
          <a:prstGeom prst="rect">
            <a:avLst/>
          </a:prstGeom>
          <a:noFill/>
          <a:ln/>
        </p:spPr>
        <p:txBody>
          <a:bodyPr wrap="square" lIns="0" tIns="0" rIns="0" bIns="0" rtlCol="0" anchor="ctr"/>
          <a:lstStyle/>
          <a:p>
            <a:pPr marL="0" indent="0" algn="r">
              <a:buNone/>
            </a:pPr>
            <a:r>
              <a:rPr lang="en-US" sz="1000" dirty="0">
                <a:solidFill>
                  <a:srgbClr val="7D6D8E"/>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85800"/>
            <a:ext cx="5486400" cy="274320"/>
          </a:xfrm>
          <a:prstGeom prst="rect">
            <a:avLst/>
          </a:prstGeom>
          <a:noFill/>
          <a:ln/>
        </p:spPr>
        <p:txBody>
          <a:bodyPr wrap="square" lIns="0" tIns="0" rIns="0" bIns="0" rtlCol="0" anchor="ctr"/>
          <a:lstStyle/>
          <a:p>
            <a:pPr marL="0" indent="0">
              <a:buNone/>
            </a:pPr>
            <a:r>
              <a:rPr lang="en-US" sz="1100" b="1" kern="0" spc="300" dirty="0">
                <a:solidFill>
                  <a:srgbClr val="8F7BC6"/>
                </a:solidFill>
                <a:latin typeface="Calibri" pitchFamily="34" charset="0"/>
                <a:ea typeface="Calibri" pitchFamily="34" charset="-122"/>
                <a:cs typeface="Calibri" pitchFamily="34" charset="-120"/>
              </a:rPr>
              <a:t>06  ·  CHOOSING</a:t>
            </a:r>
            <a:endParaRPr lang="en-US" sz="1100" dirty="0"/>
          </a:p>
        </p:txBody>
      </p:sp>
      <p:sp>
        <p:nvSpPr>
          <p:cNvPr id="3" name="Text 1"/>
          <p:cNvSpPr txBox="1"/>
          <p:nvPr/>
        </p:nvSpPr>
        <p:spPr>
          <a:xfrm>
            <a:off x="548640" y="1005840"/>
            <a:ext cx="5943600" cy="731520"/>
          </a:xfrm>
          <a:prstGeom prst="rect">
            <a:avLst/>
          </a:prstGeom>
          <a:noFill/>
          <a:ln/>
        </p:spPr>
        <p:txBody>
          <a:bodyPr wrap="square" lIns="0" tIns="0" rIns="0" bIns="0" rtlCol="0" anchor="t"/>
          <a:lstStyle/>
          <a:p>
            <a:pPr marL="0" indent="0">
              <a:buNone/>
            </a:pPr>
            <a:r>
              <a:rPr lang="en-US" sz="3800" dirty="0">
                <a:solidFill>
                  <a:srgbClr val="2F2440"/>
                </a:solidFill>
                <a:latin typeface="Georgia" pitchFamily="34" charset="0"/>
                <a:ea typeface="Georgia" pitchFamily="34" charset="-122"/>
                <a:cs typeface="Georgia" pitchFamily="34" charset="-120"/>
              </a:rPr>
              <a:t>The best shot, and why</a:t>
            </a:r>
            <a:endParaRPr lang="en-US" sz="3800" dirty="0"/>
          </a:p>
        </p:txBody>
      </p:sp>
      <p:sp>
        <p:nvSpPr>
          <p:cNvPr id="4" name="Text 2"/>
          <p:cNvSpPr txBox="1"/>
          <p:nvPr/>
        </p:nvSpPr>
        <p:spPr>
          <a:xfrm>
            <a:off x="548640" y="2011680"/>
            <a:ext cx="4572000" cy="320040"/>
          </a:xfrm>
          <a:prstGeom prst="rect">
            <a:avLst/>
          </a:prstGeom>
          <a:noFill/>
          <a:ln/>
        </p:spPr>
        <p:txBody>
          <a:bodyPr wrap="square" lIns="0" tIns="0" rIns="0" bIns="0" rtlCol="0" anchor="t"/>
          <a:lstStyle/>
          <a:p>
            <a:pPr marL="0" indent="0">
              <a:buNone/>
            </a:pPr>
            <a:r>
              <a:rPr lang="en-US" sz="1700" i="1" dirty="0">
                <a:solidFill>
                  <a:srgbClr val="7D6D8E"/>
                </a:solidFill>
                <a:latin typeface="Georgia" pitchFamily="34" charset="0"/>
                <a:ea typeface="Georgia" pitchFamily="34" charset="-122"/>
                <a:cs typeface="Georgia" pitchFamily="34" charset="-120"/>
              </a:rPr>
              <a:t>Seven signals, one score</a:t>
            </a:r>
            <a:endParaRPr lang="en-US" sz="1700" dirty="0"/>
          </a:p>
        </p:txBody>
      </p:sp>
      <p:graphicFrame>
        <p:nvGraphicFramePr>
          <p:cNvPr id="5" name="Chart 0"/>
          <p:cNvGraphicFramePr/>
          <p:nvPr/>
        </p:nvGraphicFramePr>
        <p:xfrm>
          <a:off x="320040" y="2377440"/>
          <a:ext cx="6035040" cy="3840480"/>
        </p:xfrm>
        <a:graphic>
          <a:graphicData uri="http://schemas.openxmlformats.org/drawingml/2006/chart">
            <c:chart xmlns:c="http://schemas.openxmlformats.org/drawingml/2006/chart" xmlns:r="http://schemas.openxmlformats.org/officeDocument/2006/relationships" r:id="rId4"/>
          </a:graphicData>
        </a:graphic>
      </p:graphicFrame>
      <p:pic>
        <p:nvPicPr>
          <p:cNvPr id="6" name="Image 0" descr="C:\Users\himat\AppData\Local\Temp\claude\c--Ai-stuffs-lumina\f3d460ba-f3ac-44b0-bd4c-6f066a888707\scratchpad\deck\assets\t_why.png"/>
          <p:cNvPicPr>
            <a:picLocks noChangeAspect="1"/>
          </p:cNvPicPr>
          <p:nvPr/>
        </p:nvPicPr>
        <p:blipFill>
          <a:blip r:embed="rId5"/>
          <a:stretch>
            <a:fillRect/>
          </a:stretch>
        </p:blipFill>
        <p:spPr>
          <a:xfrm>
            <a:off x="6611112" y="941832"/>
            <a:ext cx="3081528" cy="5243149"/>
          </a:xfrm>
          <a:prstGeom prst="rect">
            <a:avLst/>
          </a:prstGeom>
        </p:spPr>
      </p:pic>
      <p:sp>
        <p:nvSpPr>
          <p:cNvPr id="7" name="Text 3"/>
          <p:cNvSpPr txBox="1"/>
          <p:nvPr/>
        </p:nvSpPr>
        <p:spPr>
          <a:xfrm>
            <a:off x="9875520" y="1737360"/>
            <a:ext cx="1828800" cy="1554480"/>
          </a:xfrm>
          <a:prstGeom prst="rect">
            <a:avLst/>
          </a:prstGeom>
          <a:noFill/>
          <a:ln/>
        </p:spPr>
        <p:txBody>
          <a:bodyPr wrap="square" lIns="0" tIns="0" rIns="0" bIns="0" rtlCol="0" anchor="t"/>
          <a:lstStyle/>
          <a:p>
            <a:pPr marL="0" indent="0">
              <a:buNone/>
            </a:pPr>
            <a:r>
              <a:rPr lang="en-US" sz="1900" i="1" dirty="0">
                <a:solidFill>
                  <a:srgbClr val="2F2440"/>
                </a:solidFill>
                <a:latin typeface="Georgia" pitchFamily="34" charset="0"/>
                <a:ea typeface="Georgia" pitchFamily="34" charset="-122"/>
                <a:cs typeface="Georgia" pitchFamily="34" charset="-120"/>
              </a:rPr>
              <a:t>“Beat the runner-up mainly on face sharpness.”</a:t>
            </a:r>
            <a:endParaRPr lang="en-US" sz="1900" dirty="0"/>
          </a:p>
        </p:txBody>
      </p:sp>
      <p:sp>
        <p:nvSpPr>
          <p:cNvPr id="8" name="Text 4"/>
          <p:cNvSpPr txBox="1"/>
          <p:nvPr/>
        </p:nvSpPr>
        <p:spPr>
          <a:xfrm>
            <a:off x="9875520" y="3337560"/>
            <a:ext cx="1828800" cy="777240"/>
          </a:xfrm>
          <a:prstGeom prst="rect">
            <a:avLst/>
          </a:prstGeom>
          <a:noFill/>
          <a:ln/>
        </p:spPr>
        <p:txBody>
          <a:bodyPr wrap="square" lIns="0" tIns="0" rIns="0" bIns="0" rtlCol="0" anchor="t"/>
          <a:lstStyle/>
          <a:p>
            <a:pPr marL="0" indent="0">
              <a:buNone/>
            </a:pPr>
            <a:r>
              <a:rPr lang="en-US" sz="1100" i="1" dirty="0">
                <a:solidFill>
                  <a:srgbClr val="7D6D8E"/>
                </a:solidFill>
                <a:latin typeface="Calibri" pitchFamily="34" charset="0"/>
                <a:ea typeface="Calibri" pitchFamily="34" charset="-122"/>
                <a:cs typeface="Calibri" pitchFamily="34" charset="-120"/>
              </a:rPr>
              <a:t>A blink never beats an open-eyes shot. Tiny gaps in a burst can't decide it.</a:t>
            </a:r>
            <a:endParaRPr lang="en-US" sz="1100" dirty="0"/>
          </a:p>
        </p:txBody>
      </p:sp>
      <p:pic>
        <p:nvPicPr>
          <p:cNvPr id="9" name="Image 1" descr="C:\Users\himat\AppData\Local\Temp\claude\c--Ai-stuffs-lumina\f3d460ba-f3ac-44b0-bd4c-6f066a888707\scratchpad\deck\assets\lumi_star.png"/>
          <p:cNvPicPr>
            <a:picLocks noChangeAspect="1"/>
          </p:cNvPicPr>
          <p:nvPr/>
        </p:nvPicPr>
        <p:blipFill>
          <a:blip r:embed="rId6"/>
          <a:stretch>
            <a:fillRect/>
          </a:stretch>
        </p:blipFill>
        <p:spPr>
          <a:xfrm>
            <a:off x="9900285" y="4160520"/>
            <a:ext cx="1779270" cy="1828800"/>
          </a:xfrm>
          <a:prstGeom prst="rect">
            <a:avLst/>
          </a:prstGeom>
        </p:spPr>
      </p:pic>
      <p:sp>
        <p:nvSpPr>
          <p:cNvPr id="11" name="Text 5"/>
          <p:cNvSpPr txBox="1"/>
          <p:nvPr/>
        </p:nvSpPr>
        <p:spPr>
          <a:xfrm>
            <a:off x="548640" y="6419088"/>
            <a:ext cx="1828800" cy="256032"/>
          </a:xfrm>
          <a:prstGeom prst="rect">
            <a:avLst/>
          </a:prstGeom>
          <a:noFill/>
          <a:ln/>
        </p:spPr>
        <p:txBody>
          <a:bodyPr wrap="square" lIns="0" tIns="0" rIns="0" bIns="0" rtlCol="0" anchor="ctr"/>
          <a:lstStyle/>
          <a:p>
            <a:pPr marL="0" indent="0">
              <a:buNone/>
            </a:pPr>
            <a:r>
              <a:rPr lang="en-US" sz="1000" dirty="0">
                <a:solidFill>
                  <a:srgbClr val="7D6D8E"/>
                </a:solidFill>
                <a:latin typeface="Georgia" pitchFamily="34" charset="0"/>
                <a:ea typeface="Georgia" pitchFamily="34" charset="-122"/>
                <a:cs typeface="Georgia" pitchFamily="34" charset="-120"/>
              </a:rPr>
              <a:t>Lumina</a:t>
            </a:r>
            <a:endParaRPr lang="en-US" sz="1000" dirty="0"/>
          </a:p>
        </p:txBody>
      </p:sp>
      <p:sp>
        <p:nvSpPr>
          <p:cNvPr id="12" name="Text 6"/>
          <p:cNvSpPr txBox="1"/>
          <p:nvPr/>
        </p:nvSpPr>
        <p:spPr>
          <a:xfrm>
            <a:off x="10728655" y="6419088"/>
            <a:ext cx="914400" cy="256032"/>
          </a:xfrm>
          <a:prstGeom prst="rect">
            <a:avLst/>
          </a:prstGeom>
          <a:noFill/>
          <a:ln/>
        </p:spPr>
        <p:txBody>
          <a:bodyPr wrap="square" lIns="0" tIns="0" rIns="0" bIns="0" rtlCol="0" anchor="ctr"/>
          <a:lstStyle/>
          <a:p>
            <a:pPr marL="0" indent="0" algn="r">
              <a:buNone/>
            </a:pPr>
            <a:r>
              <a:rPr lang="en-US" sz="1000" dirty="0">
                <a:solidFill>
                  <a:srgbClr val="7D6D8E"/>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85800"/>
            <a:ext cx="5486400" cy="274320"/>
          </a:xfrm>
          <a:prstGeom prst="rect">
            <a:avLst/>
          </a:prstGeom>
          <a:noFill/>
          <a:ln/>
        </p:spPr>
        <p:txBody>
          <a:bodyPr wrap="square" lIns="0" tIns="0" rIns="0" bIns="0" rtlCol="0" anchor="ctr"/>
          <a:lstStyle/>
          <a:p>
            <a:pPr marL="0" indent="0">
              <a:buNone/>
            </a:pPr>
            <a:r>
              <a:rPr lang="en-US" sz="1100" b="1" kern="0" spc="300" dirty="0">
                <a:solidFill>
                  <a:srgbClr val="8F7BC6"/>
                </a:solidFill>
                <a:latin typeface="Calibri" pitchFamily="34" charset="0"/>
                <a:ea typeface="Calibri" pitchFamily="34" charset="-122"/>
                <a:cs typeface="Calibri" pitchFamily="34" charset="-120"/>
              </a:rPr>
              <a:t>07  ·  PERSONAL</a:t>
            </a:r>
            <a:endParaRPr lang="en-US" sz="1100" dirty="0"/>
          </a:p>
        </p:txBody>
      </p:sp>
      <p:sp>
        <p:nvSpPr>
          <p:cNvPr id="3" name="Text 1"/>
          <p:cNvSpPr txBox="1"/>
          <p:nvPr/>
        </p:nvSpPr>
        <p:spPr>
          <a:xfrm>
            <a:off x="548640" y="1005840"/>
            <a:ext cx="6400800" cy="731520"/>
          </a:xfrm>
          <a:prstGeom prst="rect">
            <a:avLst/>
          </a:prstGeom>
          <a:noFill/>
          <a:ln/>
        </p:spPr>
        <p:txBody>
          <a:bodyPr wrap="square" lIns="0" tIns="0" rIns="0" bIns="0" rtlCol="0" anchor="t"/>
          <a:lstStyle/>
          <a:p>
            <a:pPr marL="0" indent="0">
              <a:buNone/>
            </a:pPr>
            <a:r>
              <a:rPr lang="en-US" sz="3800" dirty="0">
                <a:solidFill>
                  <a:srgbClr val="2F2440"/>
                </a:solidFill>
                <a:latin typeface="Georgia" pitchFamily="34" charset="0"/>
                <a:ea typeface="Georgia" pitchFamily="34" charset="-122"/>
                <a:cs typeface="Georgia" pitchFamily="34" charset="-120"/>
              </a:rPr>
              <a:t>It learns your taste</a:t>
            </a:r>
            <a:endParaRPr lang="en-US" sz="3800" dirty="0"/>
          </a:p>
        </p:txBody>
      </p:sp>
      <p:sp>
        <p:nvSpPr>
          <p:cNvPr id="4" name="Shape 2"/>
          <p:cNvSpPr/>
          <p:nvPr/>
        </p:nvSpPr>
        <p:spPr>
          <a:xfrm>
            <a:off x="548640" y="2148840"/>
            <a:ext cx="1874520" cy="1600200"/>
          </a:xfrm>
          <a:prstGeom prst="roundRect">
            <a:avLst>
              <a:gd name="adj" fmla="val 8000"/>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5" name="Text 3"/>
          <p:cNvSpPr txBox="1"/>
          <p:nvPr/>
        </p:nvSpPr>
        <p:spPr>
          <a:xfrm>
            <a:off x="777240" y="2377440"/>
            <a:ext cx="914400" cy="274320"/>
          </a:xfrm>
          <a:prstGeom prst="rect">
            <a:avLst/>
          </a:prstGeom>
          <a:noFill/>
          <a:ln/>
        </p:spPr>
        <p:txBody>
          <a:bodyPr wrap="square" lIns="0" tIns="0" rIns="0" bIns="0" rtlCol="0" anchor="t"/>
          <a:lstStyle/>
          <a:p>
            <a:pPr marL="0" indent="0">
              <a:buNone/>
            </a:pPr>
            <a:r>
              <a:rPr lang="en-US" sz="1100" b="1" kern="0" spc="200" dirty="0">
                <a:solidFill>
                  <a:srgbClr val="8F7BC6"/>
                </a:solidFill>
                <a:latin typeface="Calibri" pitchFamily="34" charset="0"/>
                <a:ea typeface="Calibri" pitchFamily="34" charset="-122"/>
                <a:cs typeface="Calibri" pitchFamily="34" charset="-120"/>
              </a:rPr>
              <a:t>01</a:t>
            </a:r>
            <a:endParaRPr lang="en-US" sz="1100" dirty="0"/>
          </a:p>
        </p:txBody>
      </p:sp>
      <p:sp>
        <p:nvSpPr>
          <p:cNvPr id="6" name="Text 4"/>
          <p:cNvSpPr txBox="1"/>
          <p:nvPr/>
        </p:nvSpPr>
        <p:spPr>
          <a:xfrm>
            <a:off x="777240" y="2651760"/>
            <a:ext cx="1554480" cy="365760"/>
          </a:xfrm>
          <a:prstGeom prst="rect">
            <a:avLst/>
          </a:prstGeom>
          <a:noFill/>
          <a:ln/>
        </p:spPr>
        <p:txBody>
          <a:bodyPr wrap="square" lIns="0" tIns="0" rIns="0" bIns="0" rtlCol="0" anchor="t"/>
          <a:lstStyle/>
          <a:p>
            <a:pPr marL="0" indent="0">
              <a:buNone/>
            </a:pPr>
            <a:r>
              <a:rPr lang="en-US" sz="1800" dirty="0">
                <a:solidFill>
                  <a:srgbClr val="2F2440"/>
                </a:solidFill>
                <a:latin typeface="Georgia" pitchFamily="34" charset="0"/>
                <a:ea typeface="Georgia" pitchFamily="34" charset="-122"/>
                <a:cs typeface="Georgia" pitchFamily="34" charset="-120"/>
              </a:rPr>
              <a:t>You swap</a:t>
            </a:r>
            <a:endParaRPr lang="en-US" sz="1800" dirty="0"/>
          </a:p>
        </p:txBody>
      </p:sp>
      <p:sp>
        <p:nvSpPr>
          <p:cNvPr id="7" name="Text 5"/>
          <p:cNvSpPr txBox="1"/>
          <p:nvPr/>
        </p:nvSpPr>
        <p:spPr>
          <a:xfrm>
            <a:off x="777240" y="3044952"/>
            <a:ext cx="1508760" cy="594360"/>
          </a:xfrm>
          <a:prstGeom prst="rect">
            <a:avLst/>
          </a:prstGeom>
          <a:noFill/>
          <a:ln/>
        </p:spPr>
        <p:txBody>
          <a:bodyPr wrap="square" lIns="0" tIns="0" rIns="0" bIns="0" rtlCol="0" anchor="t"/>
          <a:lstStyle/>
          <a:p>
            <a:pPr marL="0" indent="0">
              <a:buNone/>
            </a:pPr>
            <a:r>
              <a:rPr lang="en-US" sz="1250" dirty="0">
                <a:solidFill>
                  <a:srgbClr val="7D6D8E"/>
                </a:solidFill>
                <a:latin typeface="Calibri" pitchFamily="34" charset="0"/>
                <a:ea typeface="Calibri" pitchFamily="34" charset="-122"/>
                <a:cs typeface="Calibri" pitchFamily="34" charset="-120"/>
              </a:rPr>
              <a:t>Choose a different best shot</a:t>
            </a:r>
            <a:endParaRPr lang="en-US" sz="1250" dirty="0"/>
          </a:p>
        </p:txBody>
      </p:sp>
      <p:sp>
        <p:nvSpPr>
          <p:cNvPr id="8" name="Text 6"/>
          <p:cNvSpPr txBox="1"/>
          <p:nvPr/>
        </p:nvSpPr>
        <p:spPr>
          <a:xfrm>
            <a:off x="2423160" y="2743200"/>
            <a:ext cx="228600" cy="365760"/>
          </a:xfrm>
          <a:prstGeom prst="rect">
            <a:avLst/>
          </a:prstGeom>
          <a:noFill/>
          <a:ln/>
        </p:spPr>
        <p:txBody>
          <a:bodyPr wrap="square" lIns="0" tIns="0" rIns="0" bIns="0" rtlCol="0" anchor="t"/>
          <a:lstStyle/>
          <a:p>
            <a:pPr marL="0" indent="0" algn="ctr">
              <a:buNone/>
            </a:pPr>
            <a:r>
              <a:rPr lang="en-US" sz="1600" dirty="0">
                <a:solidFill>
                  <a:srgbClr val="8F7BC6"/>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2651760" y="2148840"/>
            <a:ext cx="1874520" cy="1600200"/>
          </a:xfrm>
          <a:prstGeom prst="roundRect">
            <a:avLst>
              <a:gd name="adj" fmla="val 8000"/>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10" name="Text 8"/>
          <p:cNvSpPr txBox="1"/>
          <p:nvPr/>
        </p:nvSpPr>
        <p:spPr>
          <a:xfrm>
            <a:off x="2880360" y="2377440"/>
            <a:ext cx="914400" cy="274320"/>
          </a:xfrm>
          <a:prstGeom prst="rect">
            <a:avLst/>
          </a:prstGeom>
          <a:noFill/>
          <a:ln/>
        </p:spPr>
        <p:txBody>
          <a:bodyPr wrap="square" lIns="0" tIns="0" rIns="0" bIns="0" rtlCol="0" anchor="t"/>
          <a:lstStyle/>
          <a:p>
            <a:pPr marL="0" indent="0">
              <a:buNone/>
            </a:pPr>
            <a:r>
              <a:rPr lang="en-US" sz="1100" b="1" kern="0" spc="200" dirty="0">
                <a:solidFill>
                  <a:srgbClr val="8F7BC6"/>
                </a:solidFill>
                <a:latin typeface="Calibri" pitchFamily="34" charset="0"/>
                <a:ea typeface="Calibri" pitchFamily="34" charset="-122"/>
                <a:cs typeface="Calibri" pitchFamily="34" charset="-120"/>
              </a:rPr>
              <a:t>02</a:t>
            </a:r>
            <a:endParaRPr lang="en-US" sz="1100" dirty="0"/>
          </a:p>
        </p:txBody>
      </p:sp>
      <p:sp>
        <p:nvSpPr>
          <p:cNvPr id="11" name="Text 9"/>
          <p:cNvSpPr txBox="1"/>
          <p:nvPr/>
        </p:nvSpPr>
        <p:spPr>
          <a:xfrm>
            <a:off x="2880360" y="2651760"/>
            <a:ext cx="1554480" cy="365760"/>
          </a:xfrm>
          <a:prstGeom prst="rect">
            <a:avLst/>
          </a:prstGeom>
          <a:noFill/>
          <a:ln/>
        </p:spPr>
        <p:txBody>
          <a:bodyPr wrap="square" lIns="0" tIns="0" rIns="0" bIns="0" rtlCol="0" anchor="t"/>
          <a:lstStyle/>
          <a:p>
            <a:pPr marL="0" indent="0">
              <a:buNone/>
            </a:pPr>
            <a:r>
              <a:rPr lang="en-US" sz="1800" dirty="0">
                <a:solidFill>
                  <a:srgbClr val="2F2440"/>
                </a:solidFill>
                <a:latin typeface="Georgia" pitchFamily="34" charset="0"/>
                <a:ea typeface="Georgia" pitchFamily="34" charset="-122"/>
                <a:cs typeface="Georgia" pitchFamily="34" charset="-120"/>
              </a:rPr>
              <a:t>It compares</a:t>
            </a:r>
            <a:endParaRPr lang="en-US" sz="1800" dirty="0"/>
          </a:p>
        </p:txBody>
      </p:sp>
      <p:sp>
        <p:nvSpPr>
          <p:cNvPr id="12" name="Text 10"/>
          <p:cNvSpPr txBox="1"/>
          <p:nvPr/>
        </p:nvSpPr>
        <p:spPr>
          <a:xfrm>
            <a:off x="2880360" y="3044952"/>
            <a:ext cx="1508760" cy="594360"/>
          </a:xfrm>
          <a:prstGeom prst="rect">
            <a:avLst/>
          </a:prstGeom>
          <a:noFill/>
          <a:ln/>
        </p:spPr>
        <p:txBody>
          <a:bodyPr wrap="square" lIns="0" tIns="0" rIns="0" bIns="0" rtlCol="0" anchor="t"/>
          <a:lstStyle/>
          <a:p>
            <a:pPr marL="0" indent="0">
              <a:buNone/>
            </a:pPr>
            <a:r>
              <a:rPr lang="en-US" sz="1250" dirty="0">
                <a:solidFill>
                  <a:srgbClr val="7D6D8E"/>
                </a:solidFill>
                <a:latin typeface="Calibri" pitchFamily="34" charset="0"/>
                <a:ea typeface="Calibri" pitchFamily="34" charset="-122"/>
                <a:cs typeface="Calibri" pitchFamily="34" charset="-120"/>
              </a:rPr>
              <a:t>Bradley–Terry update on 7 signals</a:t>
            </a:r>
            <a:endParaRPr lang="en-US" sz="1250" dirty="0"/>
          </a:p>
        </p:txBody>
      </p:sp>
      <p:sp>
        <p:nvSpPr>
          <p:cNvPr id="13" name="Text 11"/>
          <p:cNvSpPr txBox="1"/>
          <p:nvPr/>
        </p:nvSpPr>
        <p:spPr>
          <a:xfrm>
            <a:off x="4526280" y="2743200"/>
            <a:ext cx="228600" cy="365760"/>
          </a:xfrm>
          <a:prstGeom prst="rect">
            <a:avLst/>
          </a:prstGeom>
          <a:noFill/>
          <a:ln/>
        </p:spPr>
        <p:txBody>
          <a:bodyPr wrap="square" lIns="0" tIns="0" rIns="0" bIns="0" rtlCol="0" anchor="t"/>
          <a:lstStyle/>
          <a:p>
            <a:pPr marL="0" indent="0" algn="ctr">
              <a:buNone/>
            </a:pPr>
            <a:r>
              <a:rPr lang="en-US" sz="1600" dirty="0">
                <a:solidFill>
                  <a:srgbClr val="8F7BC6"/>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4754880" y="2148840"/>
            <a:ext cx="1874520" cy="1600200"/>
          </a:xfrm>
          <a:prstGeom prst="roundRect">
            <a:avLst>
              <a:gd name="adj" fmla="val 8000"/>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15" name="Text 13"/>
          <p:cNvSpPr txBox="1"/>
          <p:nvPr/>
        </p:nvSpPr>
        <p:spPr>
          <a:xfrm>
            <a:off x="4983480" y="2377440"/>
            <a:ext cx="914400" cy="274320"/>
          </a:xfrm>
          <a:prstGeom prst="rect">
            <a:avLst/>
          </a:prstGeom>
          <a:noFill/>
          <a:ln/>
        </p:spPr>
        <p:txBody>
          <a:bodyPr wrap="square" lIns="0" tIns="0" rIns="0" bIns="0" rtlCol="0" anchor="t"/>
          <a:lstStyle/>
          <a:p>
            <a:pPr marL="0" indent="0">
              <a:buNone/>
            </a:pPr>
            <a:r>
              <a:rPr lang="en-US" sz="1100" b="1" kern="0" spc="200" dirty="0">
                <a:solidFill>
                  <a:srgbClr val="8F7BC6"/>
                </a:solidFill>
                <a:latin typeface="Calibri" pitchFamily="34" charset="0"/>
                <a:ea typeface="Calibri" pitchFamily="34" charset="-122"/>
                <a:cs typeface="Calibri" pitchFamily="34" charset="-120"/>
              </a:rPr>
              <a:t>03</a:t>
            </a:r>
            <a:endParaRPr lang="en-US" sz="1100" dirty="0"/>
          </a:p>
        </p:txBody>
      </p:sp>
      <p:sp>
        <p:nvSpPr>
          <p:cNvPr id="16" name="Text 14"/>
          <p:cNvSpPr txBox="1"/>
          <p:nvPr/>
        </p:nvSpPr>
        <p:spPr>
          <a:xfrm>
            <a:off x="4983480" y="2651760"/>
            <a:ext cx="1554480" cy="365760"/>
          </a:xfrm>
          <a:prstGeom prst="rect">
            <a:avLst/>
          </a:prstGeom>
          <a:noFill/>
          <a:ln/>
        </p:spPr>
        <p:txBody>
          <a:bodyPr wrap="square" lIns="0" tIns="0" rIns="0" bIns="0" rtlCol="0" anchor="t"/>
          <a:lstStyle/>
          <a:p>
            <a:pPr marL="0" indent="0">
              <a:buNone/>
            </a:pPr>
            <a:r>
              <a:rPr lang="en-US" sz="1800" dirty="0">
                <a:solidFill>
                  <a:srgbClr val="2F2440"/>
                </a:solidFill>
                <a:latin typeface="Georgia" pitchFamily="34" charset="0"/>
                <a:ea typeface="Georgia" pitchFamily="34" charset="-122"/>
                <a:cs typeface="Georgia" pitchFamily="34" charset="-120"/>
              </a:rPr>
              <a:t>It adapts</a:t>
            </a:r>
            <a:endParaRPr lang="en-US" sz="1800" dirty="0"/>
          </a:p>
        </p:txBody>
      </p:sp>
      <p:sp>
        <p:nvSpPr>
          <p:cNvPr id="17" name="Text 15"/>
          <p:cNvSpPr txBox="1"/>
          <p:nvPr/>
        </p:nvSpPr>
        <p:spPr>
          <a:xfrm>
            <a:off x="4983480" y="3044952"/>
            <a:ext cx="1508760" cy="594360"/>
          </a:xfrm>
          <a:prstGeom prst="rect">
            <a:avLst/>
          </a:prstGeom>
          <a:noFill/>
          <a:ln/>
        </p:spPr>
        <p:txBody>
          <a:bodyPr wrap="square" lIns="0" tIns="0" rIns="0" bIns="0" rtlCol="0" anchor="t"/>
          <a:lstStyle/>
          <a:p>
            <a:pPr marL="0" indent="0">
              <a:buNone/>
            </a:pPr>
            <a:r>
              <a:rPr lang="en-US" sz="1250" dirty="0">
                <a:solidFill>
                  <a:srgbClr val="7D6D8E"/>
                </a:solidFill>
                <a:latin typeface="Calibri" pitchFamily="34" charset="0"/>
                <a:ea typeface="Calibri" pitchFamily="34" charset="-122"/>
                <a:cs typeface="Calibri" pitchFamily="34" charset="-120"/>
              </a:rPr>
              <a:t>Your weights re-rank every set</a:t>
            </a:r>
            <a:endParaRPr lang="en-US" sz="1250" dirty="0"/>
          </a:p>
        </p:txBody>
      </p:sp>
      <p:sp>
        <p:nvSpPr>
          <p:cNvPr id="18" name="Text 16"/>
          <p:cNvSpPr txBox="1"/>
          <p:nvPr/>
        </p:nvSpPr>
        <p:spPr>
          <a:xfrm>
            <a:off x="548640" y="4206240"/>
            <a:ext cx="3291840" cy="1005840"/>
          </a:xfrm>
          <a:prstGeom prst="rect">
            <a:avLst/>
          </a:prstGeom>
          <a:noFill/>
          <a:ln/>
        </p:spPr>
        <p:txBody>
          <a:bodyPr wrap="square" lIns="0" tIns="0" rIns="0" bIns="0" rtlCol="0" anchor="t"/>
          <a:lstStyle/>
          <a:p>
            <a:pPr marL="0" indent="0">
              <a:buNone/>
            </a:pPr>
            <a:r>
              <a:rPr lang="en-US" sz="6600" dirty="0">
                <a:solidFill>
                  <a:srgbClr val="8F7BC6"/>
                </a:solidFill>
                <a:latin typeface="Georgia" pitchFamily="34" charset="0"/>
                <a:ea typeface="Georgia" pitchFamily="34" charset="-122"/>
                <a:cs typeface="Georgia" pitchFamily="34" charset="-120"/>
              </a:rPr>
              <a:t>1 step</a:t>
            </a:r>
            <a:endParaRPr lang="en-US" sz="6600" dirty="0"/>
          </a:p>
        </p:txBody>
      </p:sp>
      <p:sp>
        <p:nvSpPr>
          <p:cNvPr id="19" name="Text 17"/>
          <p:cNvSpPr txBox="1"/>
          <p:nvPr/>
        </p:nvSpPr>
        <p:spPr>
          <a:xfrm>
            <a:off x="3474720" y="4526280"/>
            <a:ext cx="2926080" cy="640080"/>
          </a:xfrm>
          <a:prstGeom prst="rect">
            <a:avLst/>
          </a:prstGeom>
          <a:noFill/>
          <a:ln/>
        </p:spPr>
        <p:txBody>
          <a:bodyPr wrap="square" lIns="0" tIns="0" rIns="0" bIns="0" rtlCol="0" anchor="t"/>
          <a:lstStyle/>
          <a:p>
            <a:pPr marL="0" indent="0">
              <a:buNone/>
            </a:pPr>
            <a:r>
              <a:rPr lang="en-US" sz="1500" dirty="0">
                <a:solidFill>
                  <a:srgbClr val="7D6D8E"/>
                </a:solidFill>
                <a:latin typeface="Calibri" pitchFamily="34" charset="0"/>
                <a:ea typeface="Calibri" pitchFamily="34" charset="-122"/>
                <a:cs typeface="Calibri" pitchFamily="34" charset="-120"/>
              </a:rPr>
              <a:t>per swap, pulled back toward</a:t>
            </a:r>
            <a:endParaRPr lang="en-US" sz="1500" dirty="0"/>
          </a:p>
          <a:p>
            <a:pPr marL="0" indent="0">
              <a:buNone/>
            </a:pPr>
            <a:r>
              <a:rPr lang="en-US" sz="1500" dirty="0">
                <a:solidFill>
                  <a:srgbClr val="7D6D8E"/>
                </a:solidFill>
                <a:latin typeface="Calibri" pitchFamily="34" charset="0"/>
                <a:ea typeface="Calibri" pitchFamily="34" charset="-122"/>
                <a:cs typeface="Calibri" pitchFamily="34" charset="-120"/>
              </a:rPr>
              <a:t>the defaults so noise can't win</a:t>
            </a:r>
            <a:endParaRPr lang="en-US" sz="1500" dirty="0"/>
          </a:p>
        </p:txBody>
      </p:sp>
      <p:pic>
        <p:nvPicPr>
          <p:cNvPr id="20" name="Image 0" descr="C:\Users\himat\AppData\Local\Temp\claude\c--Ai-stuffs-lumina\f3d460ba-f3ac-44b0-bd4c-6f066a888707\scratchpad\deck\assets\t_taste.png"/>
          <p:cNvPicPr>
            <a:picLocks noChangeAspect="1"/>
          </p:cNvPicPr>
          <p:nvPr/>
        </p:nvPicPr>
        <p:blipFill>
          <a:blip r:embed="rId4"/>
          <a:stretch>
            <a:fillRect/>
          </a:stretch>
        </p:blipFill>
        <p:spPr>
          <a:xfrm>
            <a:off x="7388352" y="1033272"/>
            <a:ext cx="3968496" cy="4579412"/>
          </a:xfrm>
          <a:prstGeom prst="rect">
            <a:avLst/>
          </a:prstGeom>
        </p:spPr>
      </p:pic>
      <p:pic>
        <p:nvPicPr>
          <p:cNvPr id="21" name="Image 1" descr="C:\Users\himat\AppData\Local\Temp\claude\c--Ai-stuffs-lumina\f3d460ba-f3ac-44b0-bd4c-6f066a888707\scratchpad\deck\assets\lumi_hug.png"/>
          <p:cNvPicPr>
            <a:picLocks noChangeAspect="1"/>
          </p:cNvPicPr>
          <p:nvPr/>
        </p:nvPicPr>
        <p:blipFill>
          <a:blip r:embed="rId5"/>
          <a:stretch>
            <a:fillRect/>
          </a:stretch>
        </p:blipFill>
        <p:spPr>
          <a:xfrm>
            <a:off x="6355366" y="4617720"/>
            <a:ext cx="1051274" cy="1783080"/>
          </a:xfrm>
          <a:prstGeom prst="rect">
            <a:avLst/>
          </a:prstGeom>
        </p:spPr>
      </p:pic>
      <p:sp>
        <p:nvSpPr>
          <p:cNvPr id="23" name="Text 18"/>
          <p:cNvSpPr txBox="1"/>
          <p:nvPr/>
        </p:nvSpPr>
        <p:spPr>
          <a:xfrm>
            <a:off x="548640" y="6419088"/>
            <a:ext cx="1828800" cy="256032"/>
          </a:xfrm>
          <a:prstGeom prst="rect">
            <a:avLst/>
          </a:prstGeom>
          <a:noFill/>
          <a:ln/>
        </p:spPr>
        <p:txBody>
          <a:bodyPr wrap="square" lIns="0" tIns="0" rIns="0" bIns="0" rtlCol="0" anchor="ctr"/>
          <a:lstStyle/>
          <a:p>
            <a:pPr marL="0" indent="0">
              <a:buNone/>
            </a:pPr>
            <a:r>
              <a:rPr lang="en-US" sz="1000" dirty="0">
                <a:solidFill>
                  <a:srgbClr val="7D6D8E"/>
                </a:solidFill>
                <a:latin typeface="Georgia" pitchFamily="34" charset="0"/>
                <a:ea typeface="Georgia" pitchFamily="34" charset="-122"/>
                <a:cs typeface="Georgia" pitchFamily="34" charset="-120"/>
              </a:rPr>
              <a:t>Lumina</a:t>
            </a:r>
            <a:endParaRPr lang="en-US" sz="1000" dirty="0"/>
          </a:p>
        </p:txBody>
      </p:sp>
      <p:sp>
        <p:nvSpPr>
          <p:cNvPr id="24" name="Text 19"/>
          <p:cNvSpPr txBox="1"/>
          <p:nvPr/>
        </p:nvSpPr>
        <p:spPr>
          <a:xfrm>
            <a:off x="10728655" y="6419088"/>
            <a:ext cx="914400" cy="256032"/>
          </a:xfrm>
          <a:prstGeom prst="rect">
            <a:avLst/>
          </a:prstGeom>
          <a:noFill/>
          <a:ln/>
        </p:spPr>
        <p:txBody>
          <a:bodyPr wrap="square" lIns="0" tIns="0" rIns="0" bIns="0" rtlCol="0" anchor="ctr"/>
          <a:lstStyle/>
          <a:p>
            <a:pPr marL="0" indent="0" algn="r">
              <a:buNone/>
            </a:pPr>
            <a:r>
              <a:rPr lang="en-US" sz="1000" dirty="0">
                <a:solidFill>
                  <a:srgbClr val="7D6D8E"/>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02920"/>
            <a:ext cx="5486400" cy="274320"/>
          </a:xfrm>
          <a:prstGeom prst="rect">
            <a:avLst/>
          </a:prstGeom>
          <a:noFill/>
          <a:ln/>
        </p:spPr>
        <p:txBody>
          <a:bodyPr wrap="square" lIns="0" tIns="0" rIns="0" bIns="0" rtlCol="0" anchor="ctr"/>
          <a:lstStyle/>
          <a:p>
            <a:pPr marL="0" indent="0">
              <a:buNone/>
            </a:pPr>
            <a:r>
              <a:rPr lang="en-US" sz="1100" b="1" kern="0" spc="300" dirty="0">
                <a:solidFill>
                  <a:srgbClr val="8F7BC6"/>
                </a:solidFill>
                <a:latin typeface="Calibri" pitchFamily="34" charset="0"/>
                <a:ea typeface="Calibri" pitchFamily="34" charset="-122"/>
                <a:cs typeface="Calibri" pitchFamily="34" charset="-120"/>
              </a:rPr>
              <a:t>08  ·  BEYOND CURATION</a:t>
            </a:r>
            <a:endParaRPr lang="en-US" sz="1100" dirty="0"/>
          </a:p>
        </p:txBody>
      </p:sp>
      <p:sp>
        <p:nvSpPr>
          <p:cNvPr id="3" name="Text 1"/>
          <p:cNvSpPr txBox="1"/>
          <p:nvPr/>
        </p:nvSpPr>
        <p:spPr>
          <a:xfrm>
            <a:off x="548640" y="804672"/>
            <a:ext cx="8229600" cy="731520"/>
          </a:xfrm>
          <a:prstGeom prst="rect">
            <a:avLst/>
          </a:prstGeom>
          <a:noFill/>
          <a:ln/>
        </p:spPr>
        <p:txBody>
          <a:bodyPr wrap="square" lIns="0" tIns="0" rIns="0" bIns="0" rtlCol="0" anchor="t"/>
          <a:lstStyle/>
          <a:p>
            <a:pPr marL="0" indent="0">
              <a:buNone/>
            </a:pPr>
            <a:r>
              <a:rPr lang="en-US" sz="3800" dirty="0">
                <a:solidFill>
                  <a:srgbClr val="2F2440"/>
                </a:solidFill>
                <a:latin typeface="Georgia" pitchFamily="34" charset="0"/>
                <a:ea typeface="Georgia" pitchFamily="34" charset="-122"/>
                <a:cs typeface="Georgia" pitchFamily="34" charset="-120"/>
              </a:rPr>
              <a:t>Then make something with it</a:t>
            </a:r>
            <a:endParaRPr lang="en-US" sz="3800" dirty="0"/>
          </a:p>
        </p:txBody>
      </p:sp>
      <p:pic>
        <p:nvPicPr>
          <p:cNvPr id="4" name="Image 0" descr="C:\Users\himat\AppData\Local\Temp\claude\c--Ai-stuffs-lumina\f3d460ba-f3ac-44b0-bd4c-6f066a888707\scratchpad\deck\assets\b_album.png"/>
          <p:cNvPicPr>
            <a:picLocks noChangeAspect="1"/>
          </p:cNvPicPr>
          <p:nvPr/>
        </p:nvPicPr>
        <p:blipFill>
          <a:blip r:embed="rId4"/>
          <a:stretch>
            <a:fillRect/>
          </a:stretch>
        </p:blipFill>
        <p:spPr>
          <a:xfrm>
            <a:off x="347472" y="1581912"/>
            <a:ext cx="3977640" cy="2478024"/>
          </a:xfrm>
          <a:prstGeom prst="rect">
            <a:avLst/>
          </a:prstGeom>
        </p:spPr>
      </p:pic>
      <p:sp>
        <p:nvSpPr>
          <p:cNvPr id="5" name="Shape 2"/>
          <p:cNvSpPr/>
          <p:nvPr/>
        </p:nvSpPr>
        <p:spPr>
          <a:xfrm>
            <a:off x="685800" y="3383280"/>
            <a:ext cx="1531620" cy="338328"/>
          </a:xfrm>
          <a:prstGeom prst="roundRect">
            <a:avLst>
              <a:gd name="adj" fmla="val 48649"/>
            </a:avLst>
          </a:prstGeom>
          <a:solidFill>
            <a:srgbClr val="FFFFFF"/>
          </a:solidFill>
          <a:ln/>
        </p:spPr>
        <p:txBody>
          <a:bodyPr/>
          <a:lstStyle/>
          <a:p>
            <a:endParaRPr lang="en-US"/>
          </a:p>
        </p:txBody>
      </p:sp>
      <p:sp>
        <p:nvSpPr>
          <p:cNvPr id="6" name="Text 3"/>
          <p:cNvSpPr txBox="1"/>
          <p:nvPr/>
        </p:nvSpPr>
        <p:spPr>
          <a:xfrm>
            <a:off x="685800" y="3383280"/>
            <a:ext cx="1531620" cy="338328"/>
          </a:xfrm>
          <a:prstGeom prst="rect">
            <a:avLst/>
          </a:prstGeom>
          <a:noFill/>
          <a:ln/>
        </p:spPr>
        <p:txBody>
          <a:bodyPr wrap="square" lIns="0" tIns="0" rIns="0" bIns="0" rtlCol="0" anchor="ctr"/>
          <a:lstStyle/>
          <a:p>
            <a:pPr marL="0" indent="0" algn="ctr">
              <a:buNone/>
            </a:pPr>
            <a:r>
              <a:rPr lang="en-US" sz="1200" b="1" dirty="0">
                <a:solidFill>
                  <a:srgbClr val="2F2440"/>
                </a:solidFill>
                <a:latin typeface="Calibri" pitchFamily="34" charset="0"/>
                <a:ea typeface="Calibri" pitchFamily="34" charset="-122"/>
                <a:cs typeface="Calibri" pitchFamily="34" charset="-120"/>
              </a:rPr>
              <a:t>Printable album</a:t>
            </a:r>
            <a:endParaRPr lang="en-US" sz="1200" dirty="0"/>
          </a:p>
        </p:txBody>
      </p:sp>
      <p:pic>
        <p:nvPicPr>
          <p:cNvPr id="7" name="Image 1" descr="C:\Users\himat\AppData\Local\Temp\claude\c--Ai-stuffs-lumina\f3d460ba-f3ac-44b0-bd4c-6f066a888707\scratchpad\deck\assets\b_page.png"/>
          <p:cNvPicPr>
            <a:picLocks noChangeAspect="1"/>
          </p:cNvPicPr>
          <p:nvPr/>
        </p:nvPicPr>
        <p:blipFill>
          <a:blip r:embed="rId5"/>
          <a:stretch>
            <a:fillRect/>
          </a:stretch>
        </p:blipFill>
        <p:spPr>
          <a:xfrm>
            <a:off x="4197096" y="1581912"/>
            <a:ext cx="3977640" cy="2478024"/>
          </a:xfrm>
          <a:prstGeom prst="rect">
            <a:avLst/>
          </a:prstGeom>
        </p:spPr>
      </p:pic>
      <p:sp>
        <p:nvSpPr>
          <p:cNvPr id="8" name="Shape 4"/>
          <p:cNvSpPr/>
          <p:nvPr/>
        </p:nvSpPr>
        <p:spPr>
          <a:xfrm>
            <a:off x="4535424" y="3383280"/>
            <a:ext cx="2075688" cy="338328"/>
          </a:xfrm>
          <a:prstGeom prst="roundRect">
            <a:avLst>
              <a:gd name="adj" fmla="val 48649"/>
            </a:avLst>
          </a:prstGeom>
          <a:solidFill>
            <a:srgbClr val="FFFFFF"/>
          </a:solidFill>
          <a:ln/>
        </p:spPr>
        <p:txBody>
          <a:bodyPr/>
          <a:lstStyle/>
          <a:p>
            <a:endParaRPr lang="en-US"/>
          </a:p>
        </p:txBody>
      </p:sp>
      <p:sp>
        <p:nvSpPr>
          <p:cNvPr id="9" name="Text 5"/>
          <p:cNvSpPr txBox="1"/>
          <p:nvPr/>
        </p:nvSpPr>
        <p:spPr>
          <a:xfrm>
            <a:off x="4535424" y="3383280"/>
            <a:ext cx="2075688" cy="338328"/>
          </a:xfrm>
          <a:prstGeom prst="rect">
            <a:avLst/>
          </a:prstGeom>
          <a:noFill/>
          <a:ln/>
        </p:spPr>
        <p:txBody>
          <a:bodyPr wrap="square" lIns="0" tIns="0" rIns="0" bIns="0" rtlCol="0" anchor="ctr"/>
          <a:lstStyle/>
          <a:p>
            <a:pPr marL="0" indent="0" algn="ctr">
              <a:buNone/>
            </a:pPr>
            <a:r>
              <a:rPr lang="en-US" sz="1200" b="1" dirty="0">
                <a:solidFill>
                  <a:srgbClr val="2F2440"/>
                </a:solidFill>
                <a:latin typeface="Calibri" pitchFamily="34" charset="0"/>
                <a:ea typeface="Calibri" pitchFamily="34" charset="-122"/>
                <a:cs typeface="Calibri" pitchFamily="34" charset="-120"/>
              </a:rPr>
              <a:t>Lumi holds your photos</a:t>
            </a:r>
            <a:endParaRPr lang="en-US" sz="1200" dirty="0"/>
          </a:p>
        </p:txBody>
      </p:sp>
      <p:pic>
        <p:nvPicPr>
          <p:cNvPr id="10" name="Image 2" descr="C:\Users\himat\AppData\Local\Temp\claude\c--Ai-stuffs-lumina\f3d460ba-f3ac-44b0-bd4c-6f066a888707\scratchpad\deck\assets\b_search.png"/>
          <p:cNvPicPr>
            <a:picLocks noChangeAspect="1"/>
          </p:cNvPicPr>
          <p:nvPr/>
        </p:nvPicPr>
        <p:blipFill>
          <a:blip r:embed="rId6"/>
          <a:stretch>
            <a:fillRect/>
          </a:stretch>
        </p:blipFill>
        <p:spPr>
          <a:xfrm>
            <a:off x="8046720" y="1581912"/>
            <a:ext cx="3977640" cy="2478024"/>
          </a:xfrm>
          <a:prstGeom prst="rect">
            <a:avLst/>
          </a:prstGeom>
        </p:spPr>
      </p:pic>
      <p:sp>
        <p:nvSpPr>
          <p:cNvPr id="11" name="Shape 6"/>
          <p:cNvSpPr/>
          <p:nvPr/>
        </p:nvSpPr>
        <p:spPr>
          <a:xfrm>
            <a:off x="8385048" y="3383280"/>
            <a:ext cx="1997964" cy="338328"/>
          </a:xfrm>
          <a:prstGeom prst="roundRect">
            <a:avLst>
              <a:gd name="adj" fmla="val 48649"/>
            </a:avLst>
          </a:prstGeom>
          <a:solidFill>
            <a:srgbClr val="FFFFFF"/>
          </a:solidFill>
          <a:ln/>
        </p:spPr>
        <p:txBody>
          <a:bodyPr/>
          <a:lstStyle/>
          <a:p>
            <a:endParaRPr lang="en-US"/>
          </a:p>
        </p:txBody>
      </p:sp>
      <p:sp>
        <p:nvSpPr>
          <p:cNvPr id="12" name="Text 7"/>
          <p:cNvSpPr txBox="1"/>
          <p:nvPr/>
        </p:nvSpPr>
        <p:spPr>
          <a:xfrm>
            <a:off x="8385048" y="3383280"/>
            <a:ext cx="1997964" cy="338328"/>
          </a:xfrm>
          <a:prstGeom prst="rect">
            <a:avLst/>
          </a:prstGeom>
          <a:noFill/>
          <a:ln/>
        </p:spPr>
        <p:txBody>
          <a:bodyPr wrap="square" lIns="0" tIns="0" rIns="0" bIns="0" rtlCol="0" anchor="ctr"/>
          <a:lstStyle/>
          <a:p>
            <a:pPr marL="0" indent="0" algn="ctr">
              <a:buNone/>
            </a:pPr>
            <a:r>
              <a:rPr lang="en-US" sz="1200" b="1" dirty="0">
                <a:solidFill>
                  <a:srgbClr val="2F2440"/>
                </a:solidFill>
                <a:latin typeface="Calibri" pitchFamily="34" charset="0"/>
                <a:ea typeface="Calibri" pitchFamily="34" charset="-122"/>
                <a:cs typeface="Calibri" pitchFamily="34" charset="-120"/>
              </a:rPr>
              <a:t>Search in plain words</a:t>
            </a:r>
            <a:endParaRPr lang="en-US" sz="1200" dirty="0"/>
          </a:p>
        </p:txBody>
      </p:sp>
      <p:pic>
        <p:nvPicPr>
          <p:cNvPr id="13" name="Image 3" descr="C:\Users\himat\AppData\Local\Temp\claude\c--Ai-stuffs-lumina\f3d460ba-f3ac-44b0-bd4c-6f066a888707\scratchpad\deck\assets\b_video.png"/>
          <p:cNvPicPr>
            <a:picLocks noChangeAspect="1"/>
          </p:cNvPicPr>
          <p:nvPr/>
        </p:nvPicPr>
        <p:blipFill>
          <a:blip r:embed="rId7"/>
          <a:stretch>
            <a:fillRect/>
          </a:stretch>
        </p:blipFill>
        <p:spPr>
          <a:xfrm>
            <a:off x="347472" y="3931920"/>
            <a:ext cx="3977640" cy="2478024"/>
          </a:xfrm>
          <a:prstGeom prst="rect">
            <a:avLst/>
          </a:prstGeom>
        </p:spPr>
      </p:pic>
      <p:sp>
        <p:nvSpPr>
          <p:cNvPr id="14" name="Shape 8"/>
          <p:cNvSpPr/>
          <p:nvPr/>
        </p:nvSpPr>
        <p:spPr>
          <a:xfrm>
            <a:off x="685800" y="5733288"/>
            <a:ext cx="2542032" cy="338328"/>
          </a:xfrm>
          <a:prstGeom prst="roundRect">
            <a:avLst>
              <a:gd name="adj" fmla="val 48649"/>
            </a:avLst>
          </a:prstGeom>
          <a:solidFill>
            <a:srgbClr val="FFFFFF"/>
          </a:solidFill>
          <a:ln/>
        </p:spPr>
        <p:txBody>
          <a:bodyPr/>
          <a:lstStyle/>
          <a:p>
            <a:endParaRPr lang="en-US"/>
          </a:p>
        </p:txBody>
      </p:sp>
      <p:sp>
        <p:nvSpPr>
          <p:cNvPr id="15" name="Text 9"/>
          <p:cNvSpPr txBox="1"/>
          <p:nvPr/>
        </p:nvSpPr>
        <p:spPr>
          <a:xfrm>
            <a:off x="685800" y="5733288"/>
            <a:ext cx="2542032" cy="338328"/>
          </a:xfrm>
          <a:prstGeom prst="rect">
            <a:avLst/>
          </a:prstGeom>
          <a:noFill/>
          <a:ln/>
        </p:spPr>
        <p:txBody>
          <a:bodyPr wrap="square" lIns="0" tIns="0" rIns="0" bIns="0" rtlCol="0" anchor="ctr"/>
          <a:lstStyle/>
          <a:p>
            <a:pPr marL="0" indent="0" algn="ctr">
              <a:buNone/>
            </a:pPr>
            <a:r>
              <a:rPr lang="en-US" sz="1200" b="1" dirty="0">
                <a:solidFill>
                  <a:srgbClr val="2F2440"/>
                </a:solidFill>
                <a:latin typeface="Calibri" pitchFamily="34" charset="0"/>
                <a:ea typeface="Calibri" pitchFamily="34" charset="-122"/>
                <a:cs typeface="Calibri" pitchFamily="34" charset="-120"/>
              </a:rPr>
              <a:t>1080p video, cut to the beat</a:t>
            </a:r>
            <a:endParaRPr lang="en-US" sz="1200" dirty="0"/>
          </a:p>
        </p:txBody>
      </p:sp>
      <p:pic>
        <p:nvPicPr>
          <p:cNvPr id="16" name="Image 4" descr="C:\Users\himat\AppData\Local\Temp\claude\c--Ai-stuffs-lumina\f3d460ba-f3ac-44b0-bd4c-6f066a888707\scratchpad\deck\assets\b_world.png"/>
          <p:cNvPicPr>
            <a:picLocks noChangeAspect="1"/>
          </p:cNvPicPr>
          <p:nvPr/>
        </p:nvPicPr>
        <p:blipFill>
          <a:blip r:embed="rId8"/>
          <a:stretch>
            <a:fillRect/>
          </a:stretch>
        </p:blipFill>
        <p:spPr>
          <a:xfrm>
            <a:off x="4197096" y="3931920"/>
            <a:ext cx="3977640" cy="2478024"/>
          </a:xfrm>
          <a:prstGeom prst="rect">
            <a:avLst/>
          </a:prstGeom>
        </p:spPr>
      </p:pic>
      <p:sp>
        <p:nvSpPr>
          <p:cNvPr id="17" name="Shape 10"/>
          <p:cNvSpPr/>
          <p:nvPr/>
        </p:nvSpPr>
        <p:spPr>
          <a:xfrm>
            <a:off x="4535424" y="5733288"/>
            <a:ext cx="2231136" cy="338328"/>
          </a:xfrm>
          <a:prstGeom prst="roundRect">
            <a:avLst>
              <a:gd name="adj" fmla="val 48649"/>
            </a:avLst>
          </a:prstGeom>
          <a:solidFill>
            <a:srgbClr val="FFFFFF"/>
          </a:solidFill>
          <a:ln/>
        </p:spPr>
        <p:txBody>
          <a:bodyPr/>
          <a:lstStyle/>
          <a:p>
            <a:endParaRPr lang="en-US"/>
          </a:p>
        </p:txBody>
      </p:sp>
      <p:sp>
        <p:nvSpPr>
          <p:cNvPr id="18" name="Text 11"/>
          <p:cNvSpPr txBox="1"/>
          <p:nvPr/>
        </p:nvSpPr>
        <p:spPr>
          <a:xfrm>
            <a:off x="4535424" y="5733288"/>
            <a:ext cx="2231136" cy="338328"/>
          </a:xfrm>
          <a:prstGeom prst="rect">
            <a:avLst/>
          </a:prstGeom>
          <a:noFill/>
          <a:ln/>
        </p:spPr>
        <p:txBody>
          <a:bodyPr wrap="square" lIns="0" tIns="0" rIns="0" bIns="0" rtlCol="0" anchor="ctr"/>
          <a:lstStyle/>
          <a:p>
            <a:pPr marL="0" indent="0" algn="ctr">
              <a:buNone/>
            </a:pPr>
            <a:r>
              <a:rPr lang="en-US" sz="1200" b="1" dirty="0">
                <a:solidFill>
                  <a:srgbClr val="2F2440"/>
                </a:solidFill>
                <a:latin typeface="Calibri" pitchFamily="34" charset="0"/>
                <a:ea typeface="Calibri" pitchFamily="34" charset="-122"/>
                <a:cs typeface="Calibri" pitchFamily="34" charset="-120"/>
              </a:rPr>
              <a:t>Walk your memories in 3D</a:t>
            </a:r>
            <a:endParaRPr lang="en-US" sz="1200" dirty="0"/>
          </a:p>
        </p:txBody>
      </p:sp>
      <p:pic>
        <p:nvPicPr>
          <p:cNvPr id="19" name="Image 5" descr="C:\Users\himat\AppData\Local\Temp\claude\c--Ai-stuffs-lumina\f3d460ba-f3ac-44b0-bd4c-6f066a888707\scratchpad\deck\assets\b_cleanup.png"/>
          <p:cNvPicPr>
            <a:picLocks noChangeAspect="1"/>
          </p:cNvPicPr>
          <p:nvPr/>
        </p:nvPicPr>
        <p:blipFill>
          <a:blip r:embed="rId9"/>
          <a:stretch>
            <a:fillRect/>
          </a:stretch>
        </p:blipFill>
        <p:spPr>
          <a:xfrm>
            <a:off x="8046720" y="3931920"/>
            <a:ext cx="3977640" cy="2478024"/>
          </a:xfrm>
          <a:prstGeom prst="rect">
            <a:avLst/>
          </a:prstGeom>
        </p:spPr>
      </p:pic>
      <p:sp>
        <p:nvSpPr>
          <p:cNvPr id="20" name="Shape 12"/>
          <p:cNvSpPr/>
          <p:nvPr/>
        </p:nvSpPr>
        <p:spPr>
          <a:xfrm>
            <a:off x="8385048" y="5733288"/>
            <a:ext cx="2464308" cy="338328"/>
          </a:xfrm>
          <a:prstGeom prst="roundRect">
            <a:avLst>
              <a:gd name="adj" fmla="val 48649"/>
            </a:avLst>
          </a:prstGeom>
          <a:solidFill>
            <a:srgbClr val="FFFFFF"/>
          </a:solidFill>
          <a:ln/>
        </p:spPr>
        <p:txBody>
          <a:bodyPr/>
          <a:lstStyle/>
          <a:p>
            <a:endParaRPr lang="en-US"/>
          </a:p>
        </p:txBody>
      </p:sp>
      <p:sp>
        <p:nvSpPr>
          <p:cNvPr id="21" name="Text 13"/>
          <p:cNvSpPr txBox="1"/>
          <p:nvPr/>
        </p:nvSpPr>
        <p:spPr>
          <a:xfrm>
            <a:off x="8385048" y="5733288"/>
            <a:ext cx="2464308" cy="338328"/>
          </a:xfrm>
          <a:prstGeom prst="rect">
            <a:avLst/>
          </a:prstGeom>
          <a:noFill/>
          <a:ln/>
        </p:spPr>
        <p:txBody>
          <a:bodyPr wrap="square" lIns="0" tIns="0" rIns="0" bIns="0" rtlCol="0" anchor="ctr"/>
          <a:lstStyle/>
          <a:p>
            <a:pPr marL="0" indent="0" algn="ctr">
              <a:buNone/>
            </a:pPr>
            <a:r>
              <a:rPr lang="en-US" sz="1200" b="1" dirty="0">
                <a:solidFill>
                  <a:srgbClr val="2F2440"/>
                </a:solidFill>
                <a:latin typeface="Calibri" pitchFamily="34" charset="0"/>
                <a:ea typeface="Calibri" pitchFamily="34" charset="-122"/>
                <a:cs typeface="Calibri" pitchFamily="34" charset="-120"/>
              </a:rPr>
              <a:t>Cleanup: duplicates, blinks</a:t>
            </a:r>
            <a:endParaRPr lang="en-US" sz="1200" dirty="0"/>
          </a:p>
        </p:txBody>
      </p:sp>
      <p:sp>
        <p:nvSpPr>
          <p:cNvPr id="23" name="Text 14"/>
          <p:cNvSpPr txBox="1"/>
          <p:nvPr/>
        </p:nvSpPr>
        <p:spPr>
          <a:xfrm>
            <a:off x="548640" y="6419088"/>
            <a:ext cx="1828800" cy="256032"/>
          </a:xfrm>
          <a:prstGeom prst="rect">
            <a:avLst/>
          </a:prstGeom>
          <a:noFill/>
          <a:ln/>
        </p:spPr>
        <p:txBody>
          <a:bodyPr wrap="square" lIns="0" tIns="0" rIns="0" bIns="0" rtlCol="0" anchor="ctr"/>
          <a:lstStyle/>
          <a:p>
            <a:pPr marL="0" indent="0">
              <a:buNone/>
            </a:pPr>
            <a:r>
              <a:rPr lang="en-US" sz="1000" dirty="0">
                <a:solidFill>
                  <a:srgbClr val="7D6D8E"/>
                </a:solidFill>
                <a:latin typeface="Georgia" pitchFamily="34" charset="0"/>
                <a:ea typeface="Georgia" pitchFamily="34" charset="-122"/>
                <a:cs typeface="Georgia" pitchFamily="34" charset="-120"/>
              </a:rPr>
              <a:t>Lumina</a:t>
            </a:r>
            <a:endParaRPr lang="en-US" sz="1000" dirty="0"/>
          </a:p>
        </p:txBody>
      </p:sp>
      <p:sp>
        <p:nvSpPr>
          <p:cNvPr id="24" name="Text 15"/>
          <p:cNvSpPr txBox="1"/>
          <p:nvPr/>
        </p:nvSpPr>
        <p:spPr>
          <a:xfrm>
            <a:off x="10728655" y="6419088"/>
            <a:ext cx="914400" cy="256032"/>
          </a:xfrm>
          <a:prstGeom prst="rect">
            <a:avLst/>
          </a:prstGeom>
          <a:noFill/>
          <a:ln/>
        </p:spPr>
        <p:txBody>
          <a:bodyPr wrap="square" lIns="0" tIns="0" rIns="0" bIns="0" rtlCol="0" anchor="ctr"/>
          <a:lstStyle/>
          <a:p>
            <a:pPr marL="0" indent="0" algn="r">
              <a:buNone/>
            </a:pPr>
            <a:r>
              <a:rPr lang="en-US" sz="1000" dirty="0">
                <a:solidFill>
                  <a:srgbClr val="7D6D8E"/>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85800"/>
            <a:ext cx="5486400" cy="274320"/>
          </a:xfrm>
          <a:prstGeom prst="rect">
            <a:avLst/>
          </a:prstGeom>
          <a:noFill/>
          <a:ln/>
        </p:spPr>
        <p:txBody>
          <a:bodyPr wrap="square" lIns="0" tIns="0" rIns="0" bIns="0" rtlCol="0" anchor="ctr"/>
          <a:lstStyle/>
          <a:p>
            <a:pPr marL="0" indent="0">
              <a:buNone/>
            </a:pPr>
            <a:r>
              <a:rPr lang="en-US" sz="1100" b="1" kern="0" spc="300" dirty="0">
                <a:solidFill>
                  <a:srgbClr val="8F7BC6"/>
                </a:solidFill>
                <a:latin typeface="Calibri" pitchFamily="34" charset="0"/>
                <a:ea typeface="Calibri" pitchFamily="34" charset="-122"/>
                <a:cs typeface="Calibri" pitchFamily="34" charset="-120"/>
              </a:rPr>
              <a:t>09  ·  PERSONAL TOUCH</a:t>
            </a:r>
            <a:endParaRPr lang="en-US" sz="1100" dirty="0"/>
          </a:p>
        </p:txBody>
      </p:sp>
      <p:sp>
        <p:nvSpPr>
          <p:cNvPr id="3" name="Text 1"/>
          <p:cNvSpPr txBox="1"/>
          <p:nvPr/>
        </p:nvSpPr>
        <p:spPr>
          <a:xfrm>
            <a:off x="548640" y="1005840"/>
            <a:ext cx="8229600" cy="731520"/>
          </a:xfrm>
          <a:prstGeom prst="rect">
            <a:avLst/>
          </a:prstGeom>
          <a:noFill/>
          <a:ln/>
        </p:spPr>
        <p:txBody>
          <a:bodyPr wrap="square" lIns="0" tIns="0" rIns="0" bIns="0" rtlCol="0" anchor="t"/>
          <a:lstStyle/>
          <a:p>
            <a:pPr marL="0" indent="0">
              <a:buNone/>
            </a:pPr>
            <a:r>
              <a:rPr lang="en-US" sz="3800" dirty="0">
                <a:solidFill>
                  <a:srgbClr val="2F2440"/>
                </a:solidFill>
                <a:latin typeface="Georgia" pitchFamily="34" charset="0"/>
                <a:ea typeface="Georgia" pitchFamily="34" charset="-122"/>
                <a:cs typeface="Georgia" pitchFamily="34" charset="-120"/>
              </a:rPr>
              <a:t>Lumi dresses for your photos</a:t>
            </a:r>
            <a:endParaRPr lang="en-US" sz="3800" dirty="0"/>
          </a:p>
        </p:txBody>
      </p:sp>
      <p:sp>
        <p:nvSpPr>
          <p:cNvPr id="4" name="Text 2"/>
          <p:cNvSpPr txBox="1"/>
          <p:nvPr/>
        </p:nvSpPr>
        <p:spPr>
          <a:xfrm>
            <a:off x="548640" y="1737360"/>
            <a:ext cx="8229600" cy="365760"/>
          </a:xfrm>
          <a:prstGeom prst="rect">
            <a:avLst/>
          </a:prstGeom>
          <a:noFill/>
          <a:ln/>
        </p:spPr>
        <p:txBody>
          <a:bodyPr wrap="square" lIns="0" tIns="0" rIns="0" bIns="0" rtlCol="0" anchor="t"/>
          <a:lstStyle/>
          <a:p>
            <a:pPr marL="0" indent="0">
              <a:buNone/>
            </a:pPr>
            <a:r>
              <a:rPr lang="en-US" sz="1600" dirty="0">
                <a:solidFill>
                  <a:srgbClr val="7D6D8E"/>
                </a:solidFill>
                <a:latin typeface="Calibri" pitchFamily="34" charset="0"/>
                <a:ea typeface="Calibri" pitchFamily="34" charset="-122"/>
                <a:cs typeface="Calibri" pitchFamily="34" charset="-120"/>
              </a:rPr>
              <a:t>CLIP names each moment. Lumi picks the outfit.</a:t>
            </a:r>
            <a:endParaRPr lang="en-US" sz="1600" dirty="0"/>
          </a:p>
        </p:txBody>
      </p:sp>
      <p:sp>
        <p:nvSpPr>
          <p:cNvPr id="5" name="Shape 3"/>
          <p:cNvSpPr/>
          <p:nvPr/>
        </p:nvSpPr>
        <p:spPr>
          <a:xfrm>
            <a:off x="539496" y="2423160"/>
            <a:ext cx="1691640" cy="2514600"/>
          </a:xfrm>
          <a:prstGeom prst="roundRect">
            <a:avLst>
              <a:gd name="adj" fmla="val 7568"/>
            </a:avLst>
          </a:prstGeom>
          <a:solidFill>
            <a:srgbClr val="FFFFFF">
              <a:alpha val="70000"/>
            </a:srgbClr>
          </a:solidFill>
          <a:ln/>
          <a:effectLst>
            <a:outerShdw blurRad="177800" dist="38100" dir="5400000" algn="bl" rotWithShape="0">
              <a:srgbClr val="4A345C">
                <a:alpha val="14000"/>
              </a:srgbClr>
            </a:outerShdw>
          </a:effectLst>
        </p:spPr>
        <p:txBody>
          <a:bodyPr/>
          <a:lstStyle/>
          <a:p>
            <a:endParaRPr lang="en-US"/>
          </a:p>
        </p:txBody>
      </p:sp>
      <p:pic>
        <p:nvPicPr>
          <p:cNvPr id="6" name="Image 0" descr="C:\Users\himat\AppData\Local\Temp\claude\c--Ai-stuffs-lumina\f3d460ba-f3ac-44b0-bd4c-6f066a888707\scratchpad\deck\assets\lumi_beach.png"/>
          <p:cNvPicPr>
            <a:picLocks noChangeAspect="1"/>
          </p:cNvPicPr>
          <p:nvPr/>
        </p:nvPicPr>
        <p:blipFill>
          <a:blip r:embed="rId4"/>
          <a:stretch>
            <a:fillRect/>
          </a:stretch>
        </p:blipFill>
        <p:spPr>
          <a:xfrm>
            <a:off x="729663" y="2606040"/>
            <a:ext cx="1311307" cy="1783080"/>
          </a:xfrm>
          <a:prstGeom prst="rect">
            <a:avLst/>
          </a:prstGeom>
        </p:spPr>
      </p:pic>
      <p:sp>
        <p:nvSpPr>
          <p:cNvPr id="7" name="Text 4"/>
          <p:cNvSpPr txBox="1"/>
          <p:nvPr/>
        </p:nvSpPr>
        <p:spPr>
          <a:xfrm>
            <a:off x="539496" y="4480560"/>
            <a:ext cx="1691640" cy="320040"/>
          </a:xfrm>
          <a:prstGeom prst="rect">
            <a:avLst/>
          </a:prstGeom>
          <a:noFill/>
          <a:ln/>
        </p:spPr>
        <p:txBody>
          <a:bodyPr wrap="square" lIns="0" tIns="0" rIns="0" bIns="0" rtlCol="0" anchor="t"/>
          <a:lstStyle/>
          <a:p>
            <a:pPr marL="0" indent="0" algn="ctr">
              <a:buNone/>
            </a:pPr>
            <a:r>
              <a:rPr lang="en-US" sz="1400" b="1" dirty="0">
                <a:solidFill>
                  <a:srgbClr val="2F2440"/>
                </a:solidFill>
                <a:latin typeface="Calibri" pitchFamily="34" charset="0"/>
                <a:ea typeface="Calibri" pitchFamily="34" charset="-122"/>
                <a:cs typeface="Calibri" pitchFamily="34" charset="-120"/>
              </a:rPr>
              <a:t>Beach</a:t>
            </a:r>
            <a:endParaRPr lang="en-US" sz="1400" dirty="0"/>
          </a:p>
        </p:txBody>
      </p:sp>
      <p:sp>
        <p:nvSpPr>
          <p:cNvPr id="8" name="Shape 5"/>
          <p:cNvSpPr/>
          <p:nvPr/>
        </p:nvSpPr>
        <p:spPr>
          <a:xfrm>
            <a:off x="2423160" y="2423160"/>
            <a:ext cx="1691640" cy="2514600"/>
          </a:xfrm>
          <a:prstGeom prst="roundRect">
            <a:avLst>
              <a:gd name="adj" fmla="val 7568"/>
            </a:avLst>
          </a:prstGeom>
          <a:solidFill>
            <a:srgbClr val="FFFFFF">
              <a:alpha val="70000"/>
            </a:srgbClr>
          </a:solidFill>
          <a:ln/>
          <a:effectLst>
            <a:outerShdw blurRad="177800" dist="38100" dir="5400000" algn="bl" rotWithShape="0">
              <a:srgbClr val="4A345C">
                <a:alpha val="14000"/>
              </a:srgbClr>
            </a:outerShdw>
          </a:effectLst>
        </p:spPr>
        <p:txBody>
          <a:bodyPr/>
          <a:lstStyle/>
          <a:p>
            <a:endParaRPr lang="en-US"/>
          </a:p>
        </p:txBody>
      </p:sp>
      <p:pic>
        <p:nvPicPr>
          <p:cNvPr id="9" name="Image 1" descr="C:\Users\himat\AppData\Local\Temp\claude\c--Ai-stuffs-lumina\f3d460ba-f3ac-44b0-bd4c-6f066a888707\scratchpad\deck\assets\lumi_birthday.png"/>
          <p:cNvPicPr>
            <a:picLocks noChangeAspect="1"/>
          </p:cNvPicPr>
          <p:nvPr/>
        </p:nvPicPr>
        <p:blipFill>
          <a:blip r:embed="rId5"/>
          <a:stretch>
            <a:fillRect/>
          </a:stretch>
        </p:blipFill>
        <p:spPr>
          <a:xfrm>
            <a:off x="2797207" y="2606040"/>
            <a:ext cx="943547" cy="1783080"/>
          </a:xfrm>
          <a:prstGeom prst="rect">
            <a:avLst/>
          </a:prstGeom>
        </p:spPr>
      </p:pic>
      <p:sp>
        <p:nvSpPr>
          <p:cNvPr id="10" name="Text 6"/>
          <p:cNvSpPr txBox="1"/>
          <p:nvPr/>
        </p:nvSpPr>
        <p:spPr>
          <a:xfrm>
            <a:off x="2423160" y="4480560"/>
            <a:ext cx="1691640" cy="320040"/>
          </a:xfrm>
          <a:prstGeom prst="rect">
            <a:avLst/>
          </a:prstGeom>
          <a:noFill/>
          <a:ln/>
        </p:spPr>
        <p:txBody>
          <a:bodyPr wrap="square" lIns="0" tIns="0" rIns="0" bIns="0" rtlCol="0" anchor="t"/>
          <a:lstStyle/>
          <a:p>
            <a:pPr marL="0" indent="0" algn="ctr">
              <a:buNone/>
            </a:pPr>
            <a:r>
              <a:rPr lang="en-US" sz="1400" b="1" dirty="0">
                <a:solidFill>
                  <a:srgbClr val="2F2440"/>
                </a:solidFill>
                <a:latin typeface="Calibri" pitchFamily="34" charset="0"/>
                <a:ea typeface="Calibri" pitchFamily="34" charset="-122"/>
                <a:cs typeface="Calibri" pitchFamily="34" charset="-120"/>
              </a:rPr>
              <a:t>Birthday</a:t>
            </a:r>
            <a:endParaRPr lang="en-US" sz="1400" dirty="0"/>
          </a:p>
        </p:txBody>
      </p:sp>
      <p:sp>
        <p:nvSpPr>
          <p:cNvPr id="11" name="Shape 7"/>
          <p:cNvSpPr/>
          <p:nvPr/>
        </p:nvSpPr>
        <p:spPr>
          <a:xfrm>
            <a:off x="4306824" y="2423160"/>
            <a:ext cx="1691640" cy="2514600"/>
          </a:xfrm>
          <a:prstGeom prst="roundRect">
            <a:avLst>
              <a:gd name="adj" fmla="val 7568"/>
            </a:avLst>
          </a:prstGeom>
          <a:solidFill>
            <a:srgbClr val="FFFFFF">
              <a:alpha val="70000"/>
            </a:srgbClr>
          </a:solidFill>
          <a:ln/>
          <a:effectLst>
            <a:outerShdw blurRad="177800" dist="38100" dir="5400000" algn="bl" rotWithShape="0">
              <a:srgbClr val="4A345C">
                <a:alpha val="14000"/>
              </a:srgbClr>
            </a:outerShdw>
          </a:effectLst>
        </p:spPr>
        <p:txBody>
          <a:bodyPr/>
          <a:lstStyle/>
          <a:p>
            <a:endParaRPr lang="en-US"/>
          </a:p>
        </p:txBody>
      </p:sp>
      <p:pic>
        <p:nvPicPr>
          <p:cNvPr id="12" name="Image 2" descr="C:\Users\himat\AppData\Local\Temp\claude\c--Ai-stuffs-lumina\f3d460ba-f3ac-44b0-bd4c-6f066a888707\scratchpad\deck\assets\lumi_hiking.png"/>
          <p:cNvPicPr>
            <a:picLocks noChangeAspect="1"/>
          </p:cNvPicPr>
          <p:nvPr/>
        </p:nvPicPr>
        <p:blipFill>
          <a:blip r:embed="rId6"/>
          <a:stretch>
            <a:fillRect/>
          </a:stretch>
        </p:blipFill>
        <p:spPr>
          <a:xfrm>
            <a:off x="4554569" y="2606040"/>
            <a:ext cx="1196150" cy="1783080"/>
          </a:xfrm>
          <a:prstGeom prst="rect">
            <a:avLst/>
          </a:prstGeom>
        </p:spPr>
      </p:pic>
      <p:sp>
        <p:nvSpPr>
          <p:cNvPr id="13" name="Text 8"/>
          <p:cNvSpPr txBox="1"/>
          <p:nvPr/>
        </p:nvSpPr>
        <p:spPr>
          <a:xfrm>
            <a:off x="4306824" y="4480560"/>
            <a:ext cx="1691640" cy="320040"/>
          </a:xfrm>
          <a:prstGeom prst="rect">
            <a:avLst/>
          </a:prstGeom>
          <a:noFill/>
          <a:ln/>
        </p:spPr>
        <p:txBody>
          <a:bodyPr wrap="square" lIns="0" tIns="0" rIns="0" bIns="0" rtlCol="0" anchor="t"/>
          <a:lstStyle/>
          <a:p>
            <a:pPr marL="0" indent="0" algn="ctr">
              <a:buNone/>
            </a:pPr>
            <a:r>
              <a:rPr lang="en-US" sz="1400" b="1" dirty="0">
                <a:solidFill>
                  <a:srgbClr val="2F2440"/>
                </a:solidFill>
                <a:latin typeface="Calibri" pitchFamily="34" charset="0"/>
                <a:ea typeface="Calibri" pitchFamily="34" charset="-122"/>
                <a:cs typeface="Calibri" pitchFamily="34" charset="-120"/>
              </a:rPr>
              <a:t>Hiking</a:t>
            </a:r>
            <a:endParaRPr lang="en-US" sz="1400" dirty="0"/>
          </a:p>
        </p:txBody>
      </p:sp>
      <p:sp>
        <p:nvSpPr>
          <p:cNvPr id="14" name="Shape 9"/>
          <p:cNvSpPr/>
          <p:nvPr/>
        </p:nvSpPr>
        <p:spPr>
          <a:xfrm>
            <a:off x="6190488" y="2423160"/>
            <a:ext cx="1691640" cy="2514600"/>
          </a:xfrm>
          <a:prstGeom prst="roundRect">
            <a:avLst>
              <a:gd name="adj" fmla="val 7568"/>
            </a:avLst>
          </a:prstGeom>
          <a:solidFill>
            <a:srgbClr val="FFFFFF">
              <a:alpha val="70000"/>
            </a:srgbClr>
          </a:solidFill>
          <a:ln/>
          <a:effectLst>
            <a:outerShdw blurRad="177800" dist="38100" dir="5400000" algn="bl" rotWithShape="0">
              <a:srgbClr val="4A345C">
                <a:alpha val="14000"/>
              </a:srgbClr>
            </a:outerShdw>
          </a:effectLst>
        </p:spPr>
        <p:txBody>
          <a:bodyPr/>
          <a:lstStyle/>
          <a:p>
            <a:endParaRPr lang="en-US"/>
          </a:p>
        </p:txBody>
      </p:sp>
      <p:pic>
        <p:nvPicPr>
          <p:cNvPr id="15" name="Image 3" descr="C:\Users\himat\AppData\Local\Temp\claude\c--Ai-stuffs-lumina\f3d460ba-f3ac-44b0-bd4c-6f066a888707\scratchpad\deck\assets\lumi_wedding.png"/>
          <p:cNvPicPr>
            <a:picLocks noChangeAspect="1"/>
          </p:cNvPicPr>
          <p:nvPr/>
        </p:nvPicPr>
        <p:blipFill>
          <a:blip r:embed="rId7"/>
          <a:stretch>
            <a:fillRect/>
          </a:stretch>
        </p:blipFill>
        <p:spPr>
          <a:xfrm>
            <a:off x="6384369" y="2606040"/>
            <a:ext cx="1303877" cy="1783080"/>
          </a:xfrm>
          <a:prstGeom prst="rect">
            <a:avLst/>
          </a:prstGeom>
        </p:spPr>
      </p:pic>
      <p:sp>
        <p:nvSpPr>
          <p:cNvPr id="16" name="Text 10"/>
          <p:cNvSpPr txBox="1"/>
          <p:nvPr/>
        </p:nvSpPr>
        <p:spPr>
          <a:xfrm>
            <a:off x="6190488" y="4480560"/>
            <a:ext cx="1691640" cy="320040"/>
          </a:xfrm>
          <a:prstGeom prst="rect">
            <a:avLst/>
          </a:prstGeom>
          <a:noFill/>
          <a:ln/>
        </p:spPr>
        <p:txBody>
          <a:bodyPr wrap="square" lIns="0" tIns="0" rIns="0" bIns="0" rtlCol="0" anchor="t"/>
          <a:lstStyle/>
          <a:p>
            <a:pPr marL="0" indent="0" algn="ctr">
              <a:buNone/>
            </a:pPr>
            <a:r>
              <a:rPr lang="en-US" sz="1400" b="1" dirty="0">
                <a:solidFill>
                  <a:srgbClr val="2F2440"/>
                </a:solidFill>
                <a:latin typeface="Calibri" pitchFamily="34" charset="0"/>
                <a:ea typeface="Calibri" pitchFamily="34" charset="-122"/>
                <a:cs typeface="Calibri" pitchFamily="34" charset="-120"/>
              </a:rPr>
              <a:t>Wedding</a:t>
            </a:r>
            <a:endParaRPr lang="en-US" sz="1400" dirty="0"/>
          </a:p>
        </p:txBody>
      </p:sp>
      <p:sp>
        <p:nvSpPr>
          <p:cNvPr id="17" name="Shape 11"/>
          <p:cNvSpPr/>
          <p:nvPr/>
        </p:nvSpPr>
        <p:spPr>
          <a:xfrm>
            <a:off x="8074152" y="2423160"/>
            <a:ext cx="1691640" cy="2514600"/>
          </a:xfrm>
          <a:prstGeom prst="roundRect">
            <a:avLst>
              <a:gd name="adj" fmla="val 7568"/>
            </a:avLst>
          </a:prstGeom>
          <a:solidFill>
            <a:srgbClr val="FFFFFF">
              <a:alpha val="70000"/>
            </a:srgbClr>
          </a:solidFill>
          <a:ln/>
          <a:effectLst>
            <a:outerShdw blurRad="177800" dist="38100" dir="5400000" algn="bl" rotWithShape="0">
              <a:srgbClr val="4A345C">
                <a:alpha val="14000"/>
              </a:srgbClr>
            </a:outerShdw>
          </a:effectLst>
        </p:spPr>
        <p:txBody>
          <a:bodyPr/>
          <a:lstStyle/>
          <a:p>
            <a:endParaRPr lang="en-US"/>
          </a:p>
        </p:txBody>
      </p:sp>
      <p:pic>
        <p:nvPicPr>
          <p:cNvPr id="18" name="Image 4" descr="C:\Users\himat\AppData\Local\Temp\claude\c--Ai-stuffs-lumina\f3d460ba-f3ac-44b0-bd4c-6f066a888707\scratchpad\deck\assets\lumi_graduation.png"/>
          <p:cNvPicPr>
            <a:picLocks noChangeAspect="1"/>
          </p:cNvPicPr>
          <p:nvPr/>
        </p:nvPicPr>
        <p:blipFill>
          <a:blip r:embed="rId8"/>
          <a:stretch>
            <a:fillRect/>
          </a:stretch>
        </p:blipFill>
        <p:spPr>
          <a:xfrm>
            <a:off x="8333042" y="2606040"/>
            <a:ext cx="1173861" cy="1783080"/>
          </a:xfrm>
          <a:prstGeom prst="rect">
            <a:avLst/>
          </a:prstGeom>
        </p:spPr>
      </p:pic>
      <p:sp>
        <p:nvSpPr>
          <p:cNvPr id="19" name="Text 12"/>
          <p:cNvSpPr txBox="1"/>
          <p:nvPr/>
        </p:nvSpPr>
        <p:spPr>
          <a:xfrm>
            <a:off x="8074152" y="4480560"/>
            <a:ext cx="1691640" cy="320040"/>
          </a:xfrm>
          <a:prstGeom prst="rect">
            <a:avLst/>
          </a:prstGeom>
          <a:noFill/>
          <a:ln/>
        </p:spPr>
        <p:txBody>
          <a:bodyPr wrap="square" lIns="0" tIns="0" rIns="0" bIns="0" rtlCol="0" anchor="t"/>
          <a:lstStyle/>
          <a:p>
            <a:pPr marL="0" indent="0" algn="ctr">
              <a:buNone/>
            </a:pPr>
            <a:r>
              <a:rPr lang="en-US" sz="1400" b="1" dirty="0">
                <a:solidFill>
                  <a:srgbClr val="2F2440"/>
                </a:solidFill>
                <a:latin typeface="Calibri" pitchFamily="34" charset="0"/>
                <a:ea typeface="Calibri" pitchFamily="34" charset="-122"/>
                <a:cs typeface="Calibri" pitchFamily="34" charset="-120"/>
              </a:rPr>
              <a:t>Graduation</a:t>
            </a:r>
            <a:endParaRPr lang="en-US" sz="1400" dirty="0"/>
          </a:p>
        </p:txBody>
      </p:sp>
      <p:sp>
        <p:nvSpPr>
          <p:cNvPr id="20" name="Shape 13"/>
          <p:cNvSpPr/>
          <p:nvPr/>
        </p:nvSpPr>
        <p:spPr>
          <a:xfrm>
            <a:off x="9957816" y="2423160"/>
            <a:ext cx="1691640" cy="2514600"/>
          </a:xfrm>
          <a:prstGeom prst="roundRect">
            <a:avLst>
              <a:gd name="adj" fmla="val 7568"/>
            </a:avLst>
          </a:prstGeom>
          <a:solidFill>
            <a:srgbClr val="FFFFFF">
              <a:alpha val="70000"/>
            </a:srgbClr>
          </a:solidFill>
          <a:ln/>
          <a:effectLst>
            <a:outerShdw blurRad="177800" dist="38100" dir="5400000" algn="bl" rotWithShape="0">
              <a:srgbClr val="4A345C">
                <a:alpha val="14000"/>
              </a:srgbClr>
            </a:outerShdw>
          </a:effectLst>
        </p:spPr>
        <p:txBody>
          <a:bodyPr/>
          <a:lstStyle/>
          <a:p>
            <a:endParaRPr lang="en-US"/>
          </a:p>
        </p:txBody>
      </p:sp>
      <p:pic>
        <p:nvPicPr>
          <p:cNvPr id="21" name="Image 5" descr="C:\Users\himat\AppData\Local\Temp\claude\c--Ai-stuffs-lumina\f3d460ba-f3ac-44b0-bd4c-6f066a888707\scratchpad\deck\assets\lumi_dinner.png"/>
          <p:cNvPicPr>
            <a:picLocks noChangeAspect="1"/>
          </p:cNvPicPr>
          <p:nvPr/>
        </p:nvPicPr>
        <p:blipFill>
          <a:blip r:embed="rId9"/>
          <a:stretch>
            <a:fillRect/>
          </a:stretch>
        </p:blipFill>
        <p:spPr>
          <a:xfrm>
            <a:off x="10263140" y="2606040"/>
            <a:ext cx="1080992" cy="1783080"/>
          </a:xfrm>
          <a:prstGeom prst="rect">
            <a:avLst/>
          </a:prstGeom>
        </p:spPr>
      </p:pic>
      <p:sp>
        <p:nvSpPr>
          <p:cNvPr id="22" name="Text 14"/>
          <p:cNvSpPr txBox="1"/>
          <p:nvPr/>
        </p:nvSpPr>
        <p:spPr>
          <a:xfrm>
            <a:off x="9957816" y="4480560"/>
            <a:ext cx="1691640" cy="320040"/>
          </a:xfrm>
          <a:prstGeom prst="rect">
            <a:avLst/>
          </a:prstGeom>
          <a:noFill/>
          <a:ln/>
        </p:spPr>
        <p:txBody>
          <a:bodyPr wrap="square" lIns="0" tIns="0" rIns="0" bIns="0" rtlCol="0" anchor="t"/>
          <a:lstStyle/>
          <a:p>
            <a:pPr marL="0" indent="0" algn="ctr">
              <a:buNone/>
            </a:pPr>
            <a:r>
              <a:rPr lang="en-US" sz="1400" b="1" dirty="0">
                <a:solidFill>
                  <a:srgbClr val="2F2440"/>
                </a:solidFill>
                <a:latin typeface="Calibri" pitchFamily="34" charset="0"/>
                <a:ea typeface="Calibri" pitchFamily="34" charset="-122"/>
                <a:cs typeface="Calibri" pitchFamily="34" charset="-120"/>
              </a:rPr>
              <a:t>Dinner</a:t>
            </a:r>
            <a:endParaRPr lang="en-US" sz="1400" dirty="0"/>
          </a:p>
        </p:txBody>
      </p:sp>
      <p:sp>
        <p:nvSpPr>
          <p:cNvPr id="23" name="Text 15"/>
          <p:cNvSpPr txBox="1"/>
          <p:nvPr/>
        </p:nvSpPr>
        <p:spPr>
          <a:xfrm>
            <a:off x="3221083" y="5312229"/>
            <a:ext cx="1463040" cy="731520"/>
          </a:xfrm>
          <a:prstGeom prst="rect">
            <a:avLst/>
          </a:prstGeom>
          <a:noFill/>
          <a:ln/>
        </p:spPr>
        <p:txBody>
          <a:bodyPr wrap="square" lIns="0" tIns="0" rIns="0" bIns="0" rtlCol="0" anchor="t"/>
          <a:lstStyle/>
          <a:p>
            <a:pPr marL="0" indent="0">
              <a:buNone/>
            </a:pPr>
            <a:r>
              <a:rPr lang="en-US" sz="4000" dirty="0">
                <a:solidFill>
                  <a:srgbClr val="8F7BC6"/>
                </a:solidFill>
                <a:latin typeface="Georgia" pitchFamily="34" charset="0"/>
                <a:ea typeface="Georgia" pitchFamily="34" charset="-122"/>
                <a:cs typeface="Georgia" pitchFamily="34" charset="-120"/>
              </a:rPr>
              <a:t>30</a:t>
            </a:r>
            <a:endParaRPr lang="en-US" sz="4000" dirty="0"/>
          </a:p>
        </p:txBody>
      </p:sp>
      <p:sp>
        <p:nvSpPr>
          <p:cNvPr id="24" name="Text 16"/>
          <p:cNvSpPr txBox="1"/>
          <p:nvPr/>
        </p:nvSpPr>
        <p:spPr>
          <a:xfrm>
            <a:off x="3998323" y="5540829"/>
            <a:ext cx="2194560" cy="365760"/>
          </a:xfrm>
          <a:prstGeom prst="rect">
            <a:avLst/>
          </a:prstGeom>
          <a:noFill/>
          <a:ln/>
        </p:spPr>
        <p:txBody>
          <a:bodyPr wrap="square" lIns="0" tIns="0" rIns="0" bIns="0" rtlCol="0" anchor="t"/>
          <a:lstStyle/>
          <a:p>
            <a:pPr marL="0" indent="0">
              <a:buNone/>
            </a:pPr>
            <a:r>
              <a:rPr lang="en-US" sz="1400" dirty="0">
                <a:solidFill>
                  <a:srgbClr val="7D6D8E"/>
                </a:solidFill>
                <a:latin typeface="Calibri" pitchFamily="34" charset="0"/>
                <a:ea typeface="Calibri" pitchFamily="34" charset="-122"/>
                <a:cs typeface="Calibri" pitchFamily="34" charset="-120"/>
              </a:rPr>
              <a:t>poses</a:t>
            </a:r>
            <a:endParaRPr lang="en-US" sz="1400" dirty="0"/>
          </a:p>
        </p:txBody>
      </p:sp>
      <p:sp>
        <p:nvSpPr>
          <p:cNvPr id="25" name="Text 17"/>
          <p:cNvSpPr txBox="1"/>
          <p:nvPr/>
        </p:nvSpPr>
        <p:spPr>
          <a:xfrm>
            <a:off x="6970123" y="5312229"/>
            <a:ext cx="1463040" cy="731520"/>
          </a:xfrm>
          <a:prstGeom prst="rect">
            <a:avLst/>
          </a:prstGeom>
          <a:noFill/>
          <a:ln/>
        </p:spPr>
        <p:txBody>
          <a:bodyPr wrap="square" lIns="0" tIns="0" rIns="0" bIns="0" rtlCol="0" anchor="t"/>
          <a:lstStyle/>
          <a:p>
            <a:pPr marL="0" indent="0">
              <a:buNone/>
            </a:pPr>
            <a:r>
              <a:rPr lang="en-US" sz="4000" dirty="0">
                <a:solidFill>
                  <a:srgbClr val="8F7BC6"/>
                </a:solidFill>
                <a:latin typeface="Georgia" pitchFamily="34" charset="0"/>
                <a:ea typeface="Georgia" pitchFamily="34" charset="-122"/>
                <a:cs typeface="Georgia" pitchFamily="34" charset="-120"/>
              </a:rPr>
              <a:t>4</a:t>
            </a:r>
            <a:endParaRPr lang="en-US" sz="4000" dirty="0"/>
          </a:p>
        </p:txBody>
      </p:sp>
      <p:sp>
        <p:nvSpPr>
          <p:cNvPr id="26" name="Text 18"/>
          <p:cNvSpPr txBox="1"/>
          <p:nvPr/>
        </p:nvSpPr>
        <p:spPr>
          <a:xfrm>
            <a:off x="7427323" y="5540829"/>
            <a:ext cx="2194560" cy="365760"/>
          </a:xfrm>
          <a:prstGeom prst="rect">
            <a:avLst/>
          </a:prstGeom>
          <a:noFill/>
          <a:ln/>
        </p:spPr>
        <p:txBody>
          <a:bodyPr wrap="square" lIns="0" tIns="0" rIns="0" bIns="0" rtlCol="0" anchor="t"/>
          <a:lstStyle/>
          <a:p>
            <a:pPr marL="0" indent="0">
              <a:buNone/>
            </a:pPr>
            <a:r>
              <a:rPr lang="en-US" sz="1400" dirty="0">
                <a:solidFill>
                  <a:srgbClr val="7D6D8E"/>
                </a:solidFill>
                <a:latin typeface="Calibri" pitchFamily="34" charset="0"/>
                <a:ea typeface="Calibri" pitchFamily="34" charset="-122"/>
                <a:cs typeface="Calibri" pitchFamily="34" charset="-120"/>
              </a:rPr>
              <a:t>outfits, one recolour each</a:t>
            </a:r>
            <a:endParaRPr lang="en-US" sz="1400" dirty="0"/>
          </a:p>
        </p:txBody>
      </p:sp>
      <p:sp>
        <p:nvSpPr>
          <p:cNvPr id="27" name="Text 19"/>
          <p:cNvSpPr txBox="1"/>
          <p:nvPr/>
        </p:nvSpPr>
        <p:spPr>
          <a:xfrm>
            <a:off x="8046720" y="5257800"/>
            <a:ext cx="1463040" cy="731520"/>
          </a:xfrm>
          <a:prstGeom prst="rect">
            <a:avLst/>
          </a:prstGeom>
          <a:noFill/>
          <a:ln/>
        </p:spPr>
        <p:txBody>
          <a:bodyPr wrap="square" lIns="0" tIns="0" rIns="0" bIns="0" rtlCol="0" anchor="t"/>
          <a:lstStyle/>
          <a:p>
            <a:pPr marL="0" indent="0">
              <a:buNone/>
            </a:pPr>
            <a:endParaRPr lang="en-US" sz="4000" dirty="0"/>
          </a:p>
        </p:txBody>
      </p:sp>
      <p:sp>
        <p:nvSpPr>
          <p:cNvPr id="28" name="Text 20"/>
          <p:cNvSpPr txBox="1"/>
          <p:nvPr/>
        </p:nvSpPr>
        <p:spPr>
          <a:xfrm>
            <a:off x="9509760" y="5486400"/>
            <a:ext cx="2194560" cy="365760"/>
          </a:xfrm>
          <a:prstGeom prst="rect">
            <a:avLst/>
          </a:prstGeom>
          <a:noFill/>
          <a:ln/>
        </p:spPr>
        <p:txBody>
          <a:bodyPr wrap="square" lIns="0" tIns="0" rIns="0" bIns="0" rtlCol="0" anchor="t"/>
          <a:lstStyle/>
          <a:p>
            <a:pPr marL="0" indent="0">
              <a:buNone/>
            </a:pPr>
            <a:endParaRPr lang="en-US" sz="1400" dirty="0"/>
          </a:p>
        </p:txBody>
      </p:sp>
      <p:sp>
        <p:nvSpPr>
          <p:cNvPr id="30" name="Text 21"/>
          <p:cNvSpPr txBox="1"/>
          <p:nvPr/>
        </p:nvSpPr>
        <p:spPr>
          <a:xfrm>
            <a:off x="548640" y="6419088"/>
            <a:ext cx="1828800" cy="256032"/>
          </a:xfrm>
          <a:prstGeom prst="rect">
            <a:avLst/>
          </a:prstGeom>
          <a:noFill/>
          <a:ln/>
        </p:spPr>
        <p:txBody>
          <a:bodyPr wrap="square" lIns="0" tIns="0" rIns="0" bIns="0" rtlCol="0" anchor="ctr"/>
          <a:lstStyle/>
          <a:p>
            <a:pPr marL="0" indent="0">
              <a:buNone/>
            </a:pPr>
            <a:r>
              <a:rPr lang="en-US" sz="1000" dirty="0">
                <a:solidFill>
                  <a:srgbClr val="7D6D8E"/>
                </a:solidFill>
                <a:latin typeface="Georgia" pitchFamily="34" charset="0"/>
                <a:ea typeface="Georgia" pitchFamily="34" charset="-122"/>
                <a:cs typeface="Georgia" pitchFamily="34" charset="-120"/>
              </a:rPr>
              <a:t>Lumina</a:t>
            </a:r>
            <a:endParaRPr lang="en-US" sz="1000" dirty="0"/>
          </a:p>
        </p:txBody>
      </p:sp>
      <p:sp>
        <p:nvSpPr>
          <p:cNvPr id="31" name="Text 22"/>
          <p:cNvSpPr txBox="1"/>
          <p:nvPr/>
        </p:nvSpPr>
        <p:spPr>
          <a:xfrm>
            <a:off x="10728655" y="6419088"/>
            <a:ext cx="914400" cy="256032"/>
          </a:xfrm>
          <a:prstGeom prst="rect">
            <a:avLst/>
          </a:prstGeom>
          <a:noFill/>
          <a:ln/>
        </p:spPr>
        <p:txBody>
          <a:bodyPr wrap="square" lIns="0" tIns="0" rIns="0" bIns="0" rtlCol="0" anchor="ctr"/>
          <a:lstStyle/>
          <a:p>
            <a:pPr marL="0" indent="0" algn="r">
              <a:buNone/>
            </a:pPr>
            <a:r>
              <a:rPr lang="en-US" sz="1000" dirty="0">
                <a:solidFill>
                  <a:srgbClr val="7D6D8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85800"/>
            <a:ext cx="5486400" cy="274320"/>
          </a:xfrm>
          <a:prstGeom prst="rect">
            <a:avLst/>
          </a:prstGeom>
          <a:noFill/>
          <a:ln/>
        </p:spPr>
        <p:txBody>
          <a:bodyPr wrap="square" lIns="0" tIns="0" rIns="0" bIns="0" rtlCol="0" anchor="ctr"/>
          <a:lstStyle/>
          <a:p>
            <a:pPr marL="0" indent="0">
              <a:buNone/>
            </a:pPr>
            <a:r>
              <a:rPr lang="en-US" sz="1100" b="1" kern="0" spc="300" dirty="0">
                <a:solidFill>
                  <a:srgbClr val="8F7BC6"/>
                </a:solidFill>
                <a:latin typeface="Calibri" pitchFamily="34" charset="0"/>
                <a:ea typeface="Calibri" pitchFamily="34" charset="-122"/>
                <a:cs typeface="Calibri" pitchFamily="34" charset="-120"/>
              </a:rPr>
              <a:t>10  ·  PROGRESS</a:t>
            </a:r>
            <a:endParaRPr lang="en-US" sz="1100" dirty="0"/>
          </a:p>
        </p:txBody>
      </p:sp>
      <p:sp>
        <p:nvSpPr>
          <p:cNvPr id="3" name="Text 1"/>
          <p:cNvSpPr txBox="1"/>
          <p:nvPr/>
        </p:nvSpPr>
        <p:spPr>
          <a:xfrm>
            <a:off x="548640" y="1005840"/>
            <a:ext cx="7315200" cy="731520"/>
          </a:xfrm>
          <a:prstGeom prst="rect">
            <a:avLst/>
          </a:prstGeom>
          <a:noFill/>
          <a:ln/>
        </p:spPr>
        <p:txBody>
          <a:bodyPr wrap="square" lIns="0" tIns="0" rIns="0" bIns="0" rtlCol="0" anchor="t"/>
          <a:lstStyle/>
          <a:p>
            <a:pPr marL="0" indent="0">
              <a:buNone/>
            </a:pPr>
            <a:r>
              <a:rPr lang="en-US" sz="3800" dirty="0">
                <a:solidFill>
                  <a:srgbClr val="2F2440"/>
                </a:solidFill>
                <a:latin typeface="Georgia" pitchFamily="34" charset="0"/>
                <a:ea typeface="Georgia" pitchFamily="34" charset="-122"/>
                <a:cs typeface="Georgia" pitchFamily="34" charset="-120"/>
              </a:rPr>
              <a:t>From baseline to product</a:t>
            </a:r>
            <a:endParaRPr lang="en-US" sz="3800" dirty="0"/>
          </a:p>
        </p:txBody>
      </p:sp>
      <p:sp>
        <p:nvSpPr>
          <p:cNvPr id="4" name="Text 2"/>
          <p:cNvSpPr txBox="1"/>
          <p:nvPr/>
        </p:nvSpPr>
        <p:spPr>
          <a:xfrm>
            <a:off x="548640" y="1828800"/>
            <a:ext cx="2743200" cy="274320"/>
          </a:xfrm>
          <a:prstGeom prst="rect">
            <a:avLst/>
          </a:prstGeom>
          <a:noFill/>
          <a:ln/>
        </p:spPr>
        <p:txBody>
          <a:bodyPr wrap="square" lIns="0" tIns="0" rIns="0" bIns="0" rtlCol="0" anchor="ctr"/>
          <a:lstStyle/>
          <a:p>
            <a:pPr marL="0" indent="0">
              <a:buNone/>
            </a:pPr>
            <a:r>
              <a:rPr lang="en-US" sz="1100" b="1" kern="0" spc="300" dirty="0">
                <a:solidFill>
                  <a:srgbClr val="7D6D8E"/>
                </a:solidFill>
                <a:latin typeface="Calibri" pitchFamily="34" charset="0"/>
                <a:ea typeface="Calibri" pitchFamily="34" charset="-122"/>
                <a:cs typeface="Calibri" pitchFamily="34" charset="-120"/>
              </a:rPr>
              <a:t>SEMESTER 1</a:t>
            </a:r>
            <a:endParaRPr lang="en-US" sz="1100" dirty="0"/>
          </a:p>
        </p:txBody>
      </p:sp>
      <p:sp>
        <p:nvSpPr>
          <p:cNvPr id="5" name="Text 3"/>
          <p:cNvSpPr txBox="1"/>
          <p:nvPr/>
        </p:nvSpPr>
        <p:spPr>
          <a:xfrm>
            <a:off x="5257800" y="1828800"/>
            <a:ext cx="2743200" cy="274320"/>
          </a:xfrm>
          <a:prstGeom prst="rect">
            <a:avLst/>
          </a:prstGeom>
          <a:noFill/>
          <a:ln/>
        </p:spPr>
        <p:txBody>
          <a:bodyPr wrap="square" lIns="0" tIns="0" rIns="0" bIns="0" rtlCol="0" anchor="ctr"/>
          <a:lstStyle/>
          <a:p>
            <a:pPr marL="0" indent="0">
              <a:buNone/>
            </a:pPr>
            <a:r>
              <a:rPr lang="en-US" sz="1100" b="1" kern="0" spc="300" dirty="0">
                <a:solidFill>
                  <a:srgbClr val="8F7BC6"/>
                </a:solidFill>
                <a:latin typeface="Calibri" pitchFamily="34" charset="0"/>
                <a:ea typeface="Calibri" pitchFamily="34" charset="-122"/>
                <a:cs typeface="Calibri" pitchFamily="34" charset="-120"/>
              </a:rPr>
              <a:t>NOW</a:t>
            </a:r>
            <a:endParaRPr lang="en-US" sz="1100" dirty="0"/>
          </a:p>
        </p:txBody>
      </p:sp>
      <p:sp>
        <p:nvSpPr>
          <p:cNvPr id="6" name="Shape 4"/>
          <p:cNvSpPr/>
          <p:nvPr/>
        </p:nvSpPr>
        <p:spPr>
          <a:xfrm>
            <a:off x="548640" y="2194560"/>
            <a:ext cx="4114800" cy="530352"/>
          </a:xfrm>
          <a:prstGeom prst="roundRect">
            <a:avLst>
              <a:gd name="adj" fmla="val 17241"/>
            </a:avLst>
          </a:prstGeom>
          <a:solidFill>
            <a:srgbClr val="FFFFFF">
              <a:alpha val="55000"/>
            </a:srgbClr>
          </a:solidFill>
          <a:ln/>
        </p:spPr>
        <p:txBody>
          <a:bodyPr/>
          <a:lstStyle/>
          <a:p>
            <a:endParaRPr lang="en-US"/>
          </a:p>
        </p:txBody>
      </p:sp>
      <p:sp>
        <p:nvSpPr>
          <p:cNvPr id="7" name="Text 5"/>
          <p:cNvSpPr txBox="1"/>
          <p:nvPr/>
        </p:nvSpPr>
        <p:spPr>
          <a:xfrm>
            <a:off x="777240" y="2194560"/>
            <a:ext cx="3749040" cy="530352"/>
          </a:xfrm>
          <a:prstGeom prst="rect">
            <a:avLst/>
          </a:prstGeom>
          <a:noFill/>
          <a:ln/>
        </p:spPr>
        <p:txBody>
          <a:bodyPr wrap="square" lIns="0" tIns="0" rIns="0" bIns="0" rtlCol="0" anchor="ctr"/>
          <a:lstStyle/>
          <a:p>
            <a:pPr marL="0" indent="0">
              <a:buNone/>
            </a:pPr>
            <a:r>
              <a:rPr lang="en-US" sz="1500" dirty="0">
                <a:solidFill>
                  <a:srgbClr val="7D6D8E"/>
                </a:solidFill>
                <a:latin typeface="Calibri" pitchFamily="34" charset="0"/>
                <a:ea typeface="Calibri" pitchFamily="34" charset="-122"/>
                <a:cs typeface="Calibri" pitchFamily="34" charset="-120"/>
              </a:rPr>
              <a:t>Fixed weights</a:t>
            </a:r>
            <a:endParaRPr lang="en-US" sz="1500" dirty="0"/>
          </a:p>
        </p:txBody>
      </p:sp>
      <p:sp>
        <p:nvSpPr>
          <p:cNvPr id="8" name="Text 6"/>
          <p:cNvSpPr txBox="1"/>
          <p:nvPr/>
        </p:nvSpPr>
        <p:spPr>
          <a:xfrm>
            <a:off x="4709160" y="2194560"/>
            <a:ext cx="457200" cy="530352"/>
          </a:xfrm>
          <a:prstGeom prst="rect">
            <a:avLst/>
          </a:prstGeom>
          <a:noFill/>
          <a:ln/>
        </p:spPr>
        <p:txBody>
          <a:bodyPr wrap="square" lIns="0" tIns="0" rIns="0" bIns="0" rtlCol="0" anchor="ctr"/>
          <a:lstStyle/>
          <a:p>
            <a:pPr marL="0" indent="0" algn="ctr">
              <a:buNone/>
            </a:pPr>
            <a:r>
              <a:rPr lang="en-US" sz="1800" dirty="0">
                <a:solidFill>
                  <a:srgbClr val="8F7BC6"/>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5257800" y="2194560"/>
            <a:ext cx="3840480" cy="530352"/>
          </a:xfrm>
          <a:prstGeom prst="roundRect">
            <a:avLst>
              <a:gd name="adj" fmla="val 17241"/>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10" name="Text 8"/>
          <p:cNvSpPr txBox="1"/>
          <p:nvPr/>
        </p:nvSpPr>
        <p:spPr>
          <a:xfrm>
            <a:off x="5486400" y="2194560"/>
            <a:ext cx="3474720" cy="530352"/>
          </a:xfrm>
          <a:prstGeom prst="rect">
            <a:avLst/>
          </a:prstGeom>
          <a:noFill/>
          <a:ln/>
        </p:spPr>
        <p:txBody>
          <a:bodyPr wrap="square" lIns="0" tIns="0" rIns="0" bIns="0" rtlCol="0" anchor="ctr"/>
          <a:lstStyle/>
          <a:p>
            <a:pPr marL="0" indent="0">
              <a:buNone/>
            </a:pPr>
            <a:r>
              <a:rPr lang="en-US" sz="1500" b="1" dirty="0">
                <a:solidFill>
                  <a:srgbClr val="2F2440"/>
                </a:solidFill>
                <a:latin typeface="Calibri" pitchFamily="34" charset="0"/>
                <a:ea typeface="Calibri" pitchFamily="34" charset="-122"/>
                <a:cs typeface="Calibri" pitchFamily="34" charset="-120"/>
              </a:rPr>
              <a:t>Learns your taste</a:t>
            </a:r>
            <a:endParaRPr lang="en-US" sz="1500" dirty="0"/>
          </a:p>
        </p:txBody>
      </p:sp>
      <p:sp>
        <p:nvSpPr>
          <p:cNvPr id="11" name="Shape 9"/>
          <p:cNvSpPr/>
          <p:nvPr/>
        </p:nvSpPr>
        <p:spPr>
          <a:xfrm>
            <a:off x="548640" y="2862072"/>
            <a:ext cx="4114800" cy="530352"/>
          </a:xfrm>
          <a:prstGeom prst="roundRect">
            <a:avLst>
              <a:gd name="adj" fmla="val 17241"/>
            </a:avLst>
          </a:prstGeom>
          <a:solidFill>
            <a:srgbClr val="FFFFFF">
              <a:alpha val="55000"/>
            </a:srgbClr>
          </a:solidFill>
          <a:ln/>
        </p:spPr>
        <p:txBody>
          <a:bodyPr/>
          <a:lstStyle/>
          <a:p>
            <a:endParaRPr lang="en-US"/>
          </a:p>
        </p:txBody>
      </p:sp>
      <p:sp>
        <p:nvSpPr>
          <p:cNvPr id="12" name="Text 10"/>
          <p:cNvSpPr txBox="1"/>
          <p:nvPr/>
        </p:nvSpPr>
        <p:spPr>
          <a:xfrm>
            <a:off x="777240" y="2862072"/>
            <a:ext cx="3749040" cy="530352"/>
          </a:xfrm>
          <a:prstGeom prst="rect">
            <a:avLst/>
          </a:prstGeom>
          <a:noFill/>
          <a:ln/>
        </p:spPr>
        <p:txBody>
          <a:bodyPr wrap="square" lIns="0" tIns="0" rIns="0" bIns="0" rtlCol="0" anchor="ctr"/>
          <a:lstStyle/>
          <a:p>
            <a:pPr marL="0" indent="0">
              <a:buNone/>
            </a:pPr>
            <a:r>
              <a:rPr lang="en-US" sz="1500" dirty="0">
                <a:solidFill>
                  <a:srgbClr val="7D6D8E"/>
                </a:solidFill>
                <a:latin typeface="Calibri" pitchFamily="34" charset="0"/>
                <a:ea typeface="Calibri" pitchFamily="34" charset="-122"/>
                <a:cs typeface="Calibri" pitchFamily="34" charset="-120"/>
              </a:rPr>
              <a:t>Re-runs everything</a:t>
            </a:r>
            <a:endParaRPr lang="en-US" sz="1500" dirty="0"/>
          </a:p>
        </p:txBody>
      </p:sp>
      <p:sp>
        <p:nvSpPr>
          <p:cNvPr id="13" name="Text 11"/>
          <p:cNvSpPr txBox="1"/>
          <p:nvPr/>
        </p:nvSpPr>
        <p:spPr>
          <a:xfrm>
            <a:off x="4709160" y="2862072"/>
            <a:ext cx="457200" cy="530352"/>
          </a:xfrm>
          <a:prstGeom prst="rect">
            <a:avLst/>
          </a:prstGeom>
          <a:noFill/>
          <a:ln/>
        </p:spPr>
        <p:txBody>
          <a:bodyPr wrap="square" lIns="0" tIns="0" rIns="0" bIns="0" rtlCol="0" anchor="ctr"/>
          <a:lstStyle/>
          <a:p>
            <a:pPr marL="0" indent="0" algn="ctr">
              <a:buNone/>
            </a:pPr>
            <a:r>
              <a:rPr lang="en-US" sz="1800" dirty="0">
                <a:solidFill>
                  <a:srgbClr val="8F7BC6"/>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5257800" y="2862072"/>
            <a:ext cx="3840480" cy="530352"/>
          </a:xfrm>
          <a:prstGeom prst="roundRect">
            <a:avLst>
              <a:gd name="adj" fmla="val 17241"/>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15" name="Text 13"/>
          <p:cNvSpPr txBox="1"/>
          <p:nvPr/>
        </p:nvSpPr>
        <p:spPr>
          <a:xfrm>
            <a:off x="5486400" y="2862072"/>
            <a:ext cx="3474720" cy="530352"/>
          </a:xfrm>
          <a:prstGeom prst="rect">
            <a:avLst/>
          </a:prstGeom>
          <a:noFill/>
          <a:ln/>
        </p:spPr>
        <p:txBody>
          <a:bodyPr wrap="square" lIns="0" tIns="0" rIns="0" bIns="0" rtlCol="0" anchor="ctr"/>
          <a:lstStyle/>
          <a:p>
            <a:pPr marL="0" indent="0">
              <a:buNone/>
            </a:pPr>
            <a:r>
              <a:rPr lang="en-US" sz="1500" b="1" dirty="0">
                <a:solidFill>
                  <a:srgbClr val="2F2440"/>
                </a:solidFill>
                <a:latin typeface="Calibri" pitchFamily="34" charset="0"/>
                <a:ea typeface="Calibri" pitchFamily="34" charset="-122"/>
                <a:cs typeface="Calibri" pitchFamily="34" charset="-120"/>
              </a:rPr>
              <a:t>SHA-256 feature cache</a:t>
            </a:r>
            <a:endParaRPr lang="en-US" sz="1500" dirty="0"/>
          </a:p>
        </p:txBody>
      </p:sp>
      <p:sp>
        <p:nvSpPr>
          <p:cNvPr id="16" name="Shape 14"/>
          <p:cNvSpPr/>
          <p:nvPr/>
        </p:nvSpPr>
        <p:spPr>
          <a:xfrm>
            <a:off x="548640" y="3529584"/>
            <a:ext cx="4114800" cy="530352"/>
          </a:xfrm>
          <a:prstGeom prst="roundRect">
            <a:avLst>
              <a:gd name="adj" fmla="val 17241"/>
            </a:avLst>
          </a:prstGeom>
          <a:solidFill>
            <a:srgbClr val="FFFFFF">
              <a:alpha val="55000"/>
            </a:srgbClr>
          </a:solidFill>
          <a:ln/>
        </p:spPr>
        <p:txBody>
          <a:bodyPr/>
          <a:lstStyle/>
          <a:p>
            <a:endParaRPr lang="en-US"/>
          </a:p>
        </p:txBody>
      </p:sp>
      <p:sp>
        <p:nvSpPr>
          <p:cNvPr id="17" name="Text 15"/>
          <p:cNvSpPr txBox="1"/>
          <p:nvPr/>
        </p:nvSpPr>
        <p:spPr>
          <a:xfrm>
            <a:off x="777240" y="3529584"/>
            <a:ext cx="3749040" cy="530352"/>
          </a:xfrm>
          <a:prstGeom prst="rect">
            <a:avLst/>
          </a:prstGeom>
          <a:noFill/>
          <a:ln/>
        </p:spPr>
        <p:txBody>
          <a:bodyPr wrap="square" lIns="0" tIns="0" rIns="0" bIns="0" rtlCol="0" anchor="ctr"/>
          <a:lstStyle/>
          <a:p>
            <a:pPr marL="0" indent="0">
              <a:buNone/>
            </a:pPr>
            <a:r>
              <a:rPr lang="en-US" sz="1500" dirty="0">
                <a:solidFill>
                  <a:srgbClr val="7D6D8E"/>
                </a:solidFill>
                <a:latin typeface="Calibri" pitchFamily="34" charset="0"/>
                <a:ea typeface="Calibri" pitchFamily="34" charset="-122"/>
                <a:cs typeface="Calibri" pitchFamily="34" charset="-120"/>
              </a:rPr>
              <a:t>Black-box picks</a:t>
            </a:r>
            <a:endParaRPr lang="en-US" sz="1500" dirty="0"/>
          </a:p>
        </p:txBody>
      </p:sp>
      <p:sp>
        <p:nvSpPr>
          <p:cNvPr id="18" name="Text 16"/>
          <p:cNvSpPr txBox="1"/>
          <p:nvPr/>
        </p:nvSpPr>
        <p:spPr>
          <a:xfrm>
            <a:off x="4709160" y="3529584"/>
            <a:ext cx="457200" cy="530352"/>
          </a:xfrm>
          <a:prstGeom prst="rect">
            <a:avLst/>
          </a:prstGeom>
          <a:noFill/>
          <a:ln/>
        </p:spPr>
        <p:txBody>
          <a:bodyPr wrap="square" lIns="0" tIns="0" rIns="0" bIns="0" rtlCol="0" anchor="ctr"/>
          <a:lstStyle/>
          <a:p>
            <a:pPr marL="0" indent="0" algn="ctr">
              <a:buNone/>
            </a:pPr>
            <a:r>
              <a:rPr lang="en-US" sz="1800" dirty="0">
                <a:solidFill>
                  <a:srgbClr val="8F7BC6"/>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5257800" y="3529584"/>
            <a:ext cx="3840480" cy="530352"/>
          </a:xfrm>
          <a:prstGeom prst="roundRect">
            <a:avLst>
              <a:gd name="adj" fmla="val 17241"/>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20" name="Text 18"/>
          <p:cNvSpPr txBox="1"/>
          <p:nvPr/>
        </p:nvSpPr>
        <p:spPr>
          <a:xfrm>
            <a:off x="5486400" y="3529584"/>
            <a:ext cx="3474720" cy="530352"/>
          </a:xfrm>
          <a:prstGeom prst="rect">
            <a:avLst/>
          </a:prstGeom>
          <a:noFill/>
          <a:ln/>
        </p:spPr>
        <p:txBody>
          <a:bodyPr wrap="square" lIns="0" tIns="0" rIns="0" bIns="0" rtlCol="0" anchor="ctr"/>
          <a:lstStyle/>
          <a:p>
            <a:pPr marL="0" indent="0">
              <a:buNone/>
            </a:pPr>
            <a:r>
              <a:rPr lang="en-US" sz="1500" b="1" dirty="0">
                <a:solidFill>
                  <a:srgbClr val="2F2440"/>
                </a:solidFill>
                <a:latin typeface="Calibri" pitchFamily="34" charset="0"/>
                <a:ea typeface="Calibri" pitchFamily="34" charset="-122"/>
                <a:cs typeface="Calibri" pitchFamily="34" charset="-120"/>
              </a:rPr>
              <a:t>Plain-word reasons</a:t>
            </a:r>
            <a:endParaRPr lang="en-US" sz="1500" dirty="0"/>
          </a:p>
        </p:txBody>
      </p:sp>
      <p:sp>
        <p:nvSpPr>
          <p:cNvPr id="21" name="Shape 19"/>
          <p:cNvSpPr/>
          <p:nvPr/>
        </p:nvSpPr>
        <p:spPr>
          <a:xfrm>
            <a:off x="548640" y="4197096"/>
            <a:ext cx="4114800" cy="530352"/>
          </a:xfrm>
          <a:prstGeom prst="roundRect">
            <a:avLst>
              <a:gd name="adj" fmla="val 17241"/>
            </a:avLst>
          </a:prstGeom>
          <a:solidFill>
            <a:srgbClr val="FFFFFF">
              <a:alpha val="55000"/>
            </a:srgbClr>
          </a:solidFill>
          <a:ln/>
        </p:spPr>
        <p:txBody>
          <a:bodyPr/>
          <a:lstStyle/>
          <a:p>
            <a:endParaRPr lang="en-US"/>
          </a:p>
        </p:txBody>
      </p:sp>
      <p:sp>
        <p:nvSpPr>
          <p:cNvPr id="22" name="Text 20"/>
          <p:cNvSpPr txBox="1"/>
          <p:nvPr/>
        </p:nvSpPr>
        <p:spPr>
          <a:xfrm>
            <a:off x="777240" y="4197096"/>
            <a:ext cx="3749040" cy="530352"/>
          </a:xfrm>
          <a:prstGeom prst="rect">
            <a:avLst/>
          </a:prstGeom>
          <a:noFill/>
          <a:ln/>
        </p:spPr>
        <p:txBody>
          <a:bodyPr wrap="square" lIns="0" tIns="0" rIns="0" bIns="0" rtlCol="0" anchor="ctr"/>
          <a:lstStyle/>
          <a:p>
            <a:pPr marL="0" indent="0">
              <a:buNone/>
            </a:pPr>
            <a:r>
              <a:rPr lang="en-US" sz="1500" dirty="0">
                <a:solidFill>
                  <a:srgbClr val="7D6D8E"/>
                </a:solidFill>
                <a:latin typeface="Calibri" pitchFamily="34" charset="0"/>
                <a:ea typeface="Calibri" pitchFamily="34" charset="-122"/>
                <a:cs typeface="Calibri" pitchFamily="34" charset="-120"/>
              </a:rPr>
              <a:t>No search</a:t>
            </a:r>
            <a:endParaRPr lang="en-US" sz="1500" dirty="0"/>
          </a:p>
        </p:txBody>
      </p:sp>
      <p:sp>
        <p:nvSpPr>
          <p:cNvPr id="23" name="Text 21"/>
          <p:cNvSpPr txBox="1"/>
          <p:nvPr/>
        </p:nvSpPr>
        <p:spPr>
          <a:xfrm>
            <a:off x="4709160" y="4197096"/>
            <a:ext cx="457200" cy="530352"/>
          </a:xfrm>
          <a:prstGeom prst="rect">
            <a:avLst/>
          </a:prstGeom>
          <a:noFill/>
          <a:ln/>
        </p:spPr>
        <p:txBody>
          <a:bodyPr wrap="square" lIns="0" tIns="0" rIns="0" bIns="0" rtlCol="0" anchor="ctr"/>
          <a:lstStyle/>
          <a:p>
            <a:pPr marL="0" indent="0" algn="ctr">
              <a:buNone/>
            </a:pPr>
            <a:r>
              <a:rPr lang="en-US" sz="1800" dirty="0">
                <a:solidFill>
                  <a:srgbClr val="8F7BC6"/>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5257800" y="4197096"/>
            <a:ext cx="3840480" cy="530352"/>
          </a:xfrm>
          <a:prstGeom prst="roundRect">
            <a:avLst>
              <a:gd name="adj" fmla="val 17241"/>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25" name="Text 23"/>
          <p:cNvSpPr txBox="1"/>
          <p:nvPr/>
        </p:nvSpPr>
        <p:spPr>
          <a:xfrm>
            <a:off x="5486400" y="4197096"/>
            <a:ext cx="3474720" cy="530352"/>
          </a:xfrm>
          <a:prstGeom prst="rect">
            <a:avLst/>
          </a:prstGeom>
          <a:noFill/>
          <a:ln/>
        </p:spPr>
        <p:txBody>
          <a:bodyPr wrap="square" lIns="0" tIns="0" rIns="0" bIns="0" rtlCol="0" anchor="ctr"/>
          <a:lstStyle/>
          <a:p>
            <a:pPr marL="0" indent="0">
              <a:buNone/>
            </a:pPr>
            <a:r>
              <a:rPr lang="en-US" sz="1500" b="1" dirty="0">
                <a:solidFill>
                  <a:srgbClr val="2F2440"/>
                </a:solidFill>
                <a:latin typeface="Calibri" pitchFamily="34" charset="0"/>
                <a:ea typeface="Calibri" pitchFamily="34" charset="-122"/>
                <a:cs typeface="Calibri" pitchFamily="34" charset="-120"/>
              </a:rPr>
              <a:t>CLIP text search</a:t>
            </a:r>
            <a:endParaRPr lang="en-US" sz="1500" dirty="0"/>
          </a:p>
        </p:txBody>
      </p:sp>
      <p:sp>
        <p:nvSpPr>
          <p:cNvPr id="26" name="Shape 24"/>
          <p:cNvSpPr/>
          <p:nvPr/>
        </p:nvSpPr>
        <p:spPr>
          <a:xfrm>
            <a:off x="548640" y="4864608"/>
            <a:ext cx="4114800" cy="530352"/>
          </a:xfrm>
          <a:prstGeom prst="roundRect">
            <a:avLst>
              <a:gd name="adj" fmla="val 17241"/>
            </a:avLst>
          </a:prstGeom>
          <a:solidFill>
            <a:srgbClr val="FFFFFF">
              <a:alpha val="55000"/>
            </a:srgbClr>
          </a:solidFill>
          <a:ln/>
        </p:spPr>
        <p:txBody>
          <a:bodyPr/>
          <a:lstStyle/>
          <a:p>
            <a:endParaRPr lang="en-US"/>
          </a:p>
        </p:txBody>
      </p:sp>
      <p:sp>
        <p:nvSpPr>
          <p:cNvPr id="27" name="Text 25"/>
          <p:cNvSpPr txBox="1"/>
          <p:nvPr/>
        </p:nvSpPr>
        <p:spPr>
          <a:xfrm>
            <a:off x="777240" y="4864608"/>
            <a:ext cx="3749040" cy="530352"/>
          </a:xfrm>
          <a:prstGeom prst="rect">
            <a:avLst/>
          </a:prstGeom>
          <a:noFill/>
          <a:ln/>
        </p:spPr>
        <p:txBody>
          <a:bodyPr wrap="square" lIns="0" tIns="0" rIns="0" bIns="0" rtlCol="0" anchor="ctr"/>
          <a:lstStyle/>
          <a:p>
            <a:pPr marL="0" indent="0">
              <a:buNone/>
            </a:pPr>
            <a:r>
              <a:rPr lang="en-US" sz="1500" dirty="0">
                <a:solidFill>
                  <a:srgbClr val="7D6D8E"/>
                </a:solidFill>
                <a:latin typeface="Calibri" pitchFamily="34" charset="0"/>
                <a:ea typeface="Calibri" pitchFamily="34" charset="-122"/>
                <a:cs typeface="Calibri" pitchFamily="34" charset="-120"/>
              </a:rPr>
              <a:t>One pick per group</a:t>
            </a:r>
            <a:endParaRPr lang="en-US" sz="1500" dirty="0"/>
          </a:p>
        </p:txBody>
      </p:sp>
      <p:sp>
        <p:nvSpPr>
          <p:cNvPr id="28" name="Text 26"/>
          <p:cNvSpPr txBox="1"/>
          <p:nvPr/>
        </p:nvSpPr>
        <p:spPr>
          <a:xfrm>
            <a:off x="4709160" y="4864608"/>
            <a:ext cx="457200" cy="530352"/>
          </a:xfrm>
          <a:prstGeom prst="rect">
            <a:avLst/>
          </a:prstGeom>
          <a:noFill/>
          <a:ln/>
        </p:spPr>
        <p:txBody>
          <a:bodyPr wrap="square" lIns="0" tIns="0" rIns="0" bIns="0" rtlCol="0" anchor="ctr"/>
          <a:lstStyle/>
          <a:p>
            <a:pPr marL="0" indent="0" algn="ctr">
              <a:buNone/>
            </a:pPr>
            <a:r>
              <a:rPr lang="en-US" sz="1800" dirty="0">
                <a:solidFill>
                  <a:srgbClr val="8F7BC6"/>
                </a:solidFill>
                <a:latin typeface="Calibri" pitchFamily="34" charset="0"/>
                <a:ea typeface="Calibri" pitchFamily="34" charset="-122"/>
                <a:cs typeface="Calibri" pitchFamily="34" charset="-120"/>
              </a:rPr>
              <a:t>→</a:t>
            </a:r>
            <a:endParaRPr lang="en-US" sz="1800" dirty="0"/>
          </a:p>
        </p:txBody>
      </p:sp>
      <p:sp>
        <p:nvSpPr>
          <p:cNvPr id="29" name="Shape 27"/>
          <p:cNvSpPr/>
          <p:nvPr/>
        </p:nvSpPr>
        <p:spPr>
          <a:xfrm>
            <a:off x="5257800" y="4864608"/>
            <a:ext cx="3840480" cy="530352"/>
          </a:xfrm>
          <a:prstGeom prst="roundRect">
            <a:avLst>
              <a:gd name="adj" fmla="val 17241"/>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30" name="Text 28"/>
          <p:cNvSpPr txBox="1"/>
          <p:nvPr/>
        </p:nvSpPr>
        <p:spPr>
          <a:xfrm>
            <a:off x="5486400" y="4864608"/>
            <a:ext cx="3474720" cy="530352"/>
          </a:xfrm>
          <a:prstGeom prst="rect">
            <a:avLst/>
          </a:prstGeom>
          <a:noFill/>
          <a:ln/>
        </p:spPr>
        <p:txBody>
          <a:bodyPr wrap="square" lIns="0" tIns="0" rIns="0" bIns="0" rtlCol="0" anchor="ctr"/>
          <a:lstStyle/>
          <a:p>
            <a:pPr marL="0" indent="0">
              <a:buNone/>
            </a:pPr>
            <a:r>
              <a:rPr lang="en-US" sz="1500" b="1" dirty="0">
                <a:solidFill>
                  <a:srgbClr val="2F2440"/>
                </a:solidFill>
                <a:latin typeface="Calibri" pitchFamily="34" charset="0"/>
                <a:ea typeface="Calibri" pitchFamily="34" charset="-122"/>
                <a:cs typeface="Calibri" pitchFamily="34" charset="-120"/>
              </a:rPr>
              <a:t>Quality · Balanced · Diverse</a:t>
            </a:r>
            <a:endParaRPr lang="en-US" sz="1500" dirty="0"/>
          </a:p>
        </p:txBody>
      </p:sp>
      <p:sp>
        <p:nvSpPr>
          <p:cNvPr id="31" name="Shape 29"/>
          <p:cNvSpPr/>
          <p:nvPr/>
        </p:nvSpPr>
        <p:spPr>
          <a:xfrm>
            <a:off x="548640" y="5532120"/>
            <a:ext cx="4114800" cy="530352"/>
          </a:xfrm>
          <a:prstGeom prst="roundRect">
            <a:avLst>
              <a:gd name="adj" fmla="val 17241"/>
            </a:avLst>
          </a:prstGeom>
          <a:solidFill>
            <a:srgbClr val="FFFFFF">
              <a:alpha val="55000"/>
            </a:srgbClr>
          </a:solidFill>
          <a:ln/>
        </p:spPr>
        <p:txBody>
          <a:bodyPr/>
          <a:lstStyle/>
          <a:p>
            <a:endParaRPr lang="en-US"/>
          </a:p>
        </p:txBody>
      </p:sp>
      <p:sp>
        <p:nvSpPr>
          <p:cNvPr id="32" name="Text 30"/>
          <p:cNvSpPr txBox="1"/>
          <p:nvPr/>
        </p:nvSpPr>
        <p:spPr>
          <a:xfrm>
            <a:off x="777240" y="5532120"/>
            <a:ext cx="3749040" cy="530352"/>
          </a:xfrm>
          <a:prstGeom prst="rect">
            <a:avLst/>
          </a:prstGeom>
          <a:noFill/>
          <a:ln/>
        </p:spPr>
        <p:txBody>
          <a:bodyPr wrap="square" lIns="0" tIns="0" rIns="0" bIns="0" rtlCol="0" anchor="ctr"/>
          <a:lstStyle/>
          <a:p>
            <a:pPr marL="0" indent="0">
              <a:buNone/>
            </a:pPr>
            <a:r>
              <a:rPr lang="en-US" sz="1500" dirty="0">
                <a:solidFill>
                  <a:srgbClr val="7D6D8E"/>
                </a:solidFill>
                <a:latin typeface="Calibri" pitchFamily="34" charset="0"/>
                <a:ea typeface="Calibri" pitchFamily="34" charset="-122"/>
                <a:cs typeface="Calibri" pitchFamily="34" charset="-120"/>
              </a:rPr>
              <a:t>Body-only identity</a:t>
            </a:r>
            <a:endParaRPr lang="en-US" sz="1500" dirty="0"/>
          </a:p>
        </p:txBody>
      </p:sp>
      <p:sp>
        <p:nvSpPr>
          <p:cNvPr id="33" name="Text 31"/>
          <p:cNvSpPr txBox="1"/>
          <p:nvPr/>
        </p:nvSpPr>
        <p:spPr>
          <a:xfrm>
            <a:off x="4709160" y="5532120"/>
            <a:ext cx="457200" cy="530352"/>
          </a:xfrm>
          <a:prstGeom prst="rect">
            <a:avLst/>
          </a:prstGeom>
          <a:noFill/>
          <a:ln/>
        </p:spPr>
        <p:txBody>
          <a:bodyPr wrap="square" lIns="0" tIns="0" rIns="0" bIns="0" rtlCol="0" anchor="ctr"/>
          <a:lstStyle/>
          <a:p>
            <a:pPr marL="0" indent="0" algn="ctr">
              <a:buNone/>
            </a:pPr>
            <a:r>
              <a:rPr lang="en-US" sz="1800" dirty="0">
                <a:solidFill>
                  <a:srgbClr val="8F7BC6"/>
                </a:solidFill>
                <a:latin typeface="Calibri" pitchFamily="34" charset="0"/>
                <a:ea typeface="Calibri" pitchFamily="34" charset="-122"/>
                <a:cs typeface="Calibri" pitchFamily="34" charset="-120"/>
              </a:rPr>
              <a:t>→</a:t>
            </a:r>
            <a:endParaRPr lang="en-US" sz="1800" dirty="0"/>
          </a:p>
        </p:txBody>
      </p:sp>
      <p:sp>
        <p:nvSpPr>
          <p:cNvPr id="34" name="Shape 32"/>
          <p:cNvSpPr/>
          <p:nvPr/>
        </p:nvSpPr>
        <p:spPr>
          <a:xfrm>
            <a:off x="5257800" y="5532120"/>
            <a:ext cx="3840480" cy="530352"/>
          </a:xfrm>
          <a:prstGeom prst="roundRect">
            <a:avLst>
              <a:gd name="adj" fmla="val 17241"/>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35" name="Text 33"/>
          <p:cNvSpPr txBox="1"/>
          <p:nvPr/>
        </p:nvSpPr>
        <p:spPr>
          <a:xfrm>
            <a:off x="5486400" y="5532120"/>
            <a:ext cx="3474720" cy="530352"/>
          </a:xfrm>
          <a:prstGeom prst="rect">
            <a:avLst/>
          </a:prstGeom>
          <a:noFill/>
          <a:ln/>
        </p:spPr>
        <p:txBody>
          <a:bodyPr wrap="square" lIns="0" tIns="0" rIns="0" bIns="0" rtlCol="0" anchor="ctr"/>
          <a:lstStyle/>
          <a:p>
            <a:pPr marL="0" indent="0">
              <a:buNone/>
            </a:pPr>
            <a:r>
              <a:rPr lang="en-US" sz="1500" b="1" dirty="0">
                <a:solidFill>
                  <a:srgbClr val="2F2440"/>
                </a:solidFill>
                <a:latin typeface="Calibri" pitchFamily="34" charset="0"/>
                <a:ea typeface="Calibri" pitchFamily="34" charset="-122"/>
                <a:cs typeface="Calibri" pitchFamily="34" charset="-120"/>
              </a:rPr>
              <a:t>Face + body fusion</a:t>
            </a:r>
            <a:endParaRPr lang="en-US" sz="1500" dirty="0"/>
          </a:p>
        </p:txBody>
      </p:sp>
      <p:pic>
        <p:nvPicPr>
          <p:cNvPr id="36" name="Image 0" descr="C:\Users\himat\AppData\Local\Temp\claude\c--Ai-stuffs-lumina\f3d460ba-f3ac-44b0-bd4c-6f066a888707\scratchpad\deck\assets\lumi_carry.png"/>
          <p:cNvPicPr>
            <a:picLocks noChangeAspect="1"/>
          </p:cNvPicPr>
          <p:nvPr/>
        </p:nvPicPr>
        <p:blipFill>
          <a:blip r:embed="rId4"/>
          <a:stretch>
            <a:fillRect/>
          </a:stretch>
        </p:blipFill>
        <p:spPr>
          <a:xfrm>
            <a:off x="9537192" y="3108960"/>
            <a:ext cx="2121408" cy="2651760"/>
          </a:xfrm>
          <a:prstGeom prst="rect">
            <a:avLst/>
          </a:prstGeom>
        </p:spPr>
      </p:pic>
      <p:sp>
        <p:nvSpPr>
          <p:cNvPr id="38" name="Text 34"/>
          <p:cNvSpPr txBox="1"/>
          <p:nvPr/>
        </p:nvSpPr>
        <p:spPr>
          <a:xfrm>
            <a:off x="548640" y="6419088"/>
            <a:ext cx="1828800" cy="256032"/>
          </a:xfrm>
          <a:prstGeom prst="rect">
            <a:avLst/>
          </a:prstGeom>
          <a:noFill/>
          <a:ln/>
        </p:spPr>
        <p:txBody>
          <a:bodyPr wrap="square" lIns="0" tIns="0" rIns="0" bIns="0" rtlCol="0" anchor="ctr"/>
          <a:lstStyle/>
          <a:p>
            <a:pPr marL="0" indent="0">
              <a:buNone/>
            </a:pPr>
            <a:r>
              <a:rPr lang="en-US" sz="1000" dirty="0">
                <a:solidFill>
                  <a:srgbClr val="7D6D8E"/>
                </a:solidFill>
                <a:latin typeface="Georgia" pitchFamily="34" charset="0"/>
                <a:ea typeface="Georgia" pitchFamily="34" charset="-122"/>
                <a:cs typeface="Georgia" pitchFamily="34" charset="-120"/>
              </a:rPr>
              <a:t>Lumina</a:t>
            </a:r>
            <a:endParaRPr lang="en-US" sz="1000" dirty="0"/>
          </a:p>
        </p:txBody>
      </p:sp>
      <p:sp>
        <p:nvSpPr>
          <p:cNvPr id="39" name="Text 35"/>
          <p:cNvSpPr txBox="1"/>
          <p:nvPr/>
        </p:nvSpPr>
        <p:spPr>
          <a:xfrm>
            <a:off x="10728655" y="6419088"/>
            <a:ext cx="914400" cy="256032"/>
          </a:xfrm>
          <a:prstGeom prst="rect">
            <a:avLst/>
          </a:prstGeom>
          <a:noFill/>
          <a:ln/>
        </p:spPr>
        <p:txBody>
          <a:bodyPr wrap="square" lIns="0" tIns="0" rIns="0" bIns="0" rtlCol="0" anchor="ctr"/>
          <a:lstStyle/>
          <a:p>
            <a:pPr marL="0" indent="0" algn="r">
              <a:buNone/>
            </a:pPr>
            <a:r>
              <a:rPr lang="en-US" sz="1000" dirty="0">
                <a:solidFill>
                  <a:srgbClr val="7D6D8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85800"/>
            <a:ext cx="5486400" cy="274320"/>
          </a:xfrm>
          <a:prstGeom prst="rect">
            <a:avLst/>
          </a:prstGeom>
          <a:noFill/>
          <a:ln/>
        </p:spPr>
        <p:txBody>
          <a:bodyPr wrap="square" lIns="0" tIns="0" rIns="0" bIns="0" rtlCol="0" anchor="ctr"/>
          <a:lstStyle/>
          <a:p>
            <a:pPr marL="0" indent="0">
              <a:buNone/>
            </a:pPr>
            <a:r>
              <a:rPr lang="en-US" sz="1100" b="1" kern="0" spc="300" dirty="0">
                <a:solidFill>
                  <a:srgbClr val="8F7BC6"/>
                </a:solidFill>
                <a:latin typeface="Calibri" pitchFamily="34" charset="0"/>
                <a:ea typeface="Calibri" pitchFamily="34" charset="-122"/>
                <a:cs typeface="Calibri" pitchFamily="34" charset="-120"/>
              </a:rPr>
              <a:t>11  ·  RESULTS</a:t>
            </a:r>
            <a:endParaRPr lang="en-US" sz="1100" dirty="0"/>
          </a:p>
        </p:txBody>
      </p:sp>
      <p:sp>
        <p:nvSpPr>
          <p:cNvPr id="3" name="Text 1"/>
          <p:cNvSpPr txBox="1"/>
          <p:nvPr/>
        </p:nvSpPr>
        <p:spPr>
          <a:xfrm>
            <a:off x="548640" y="1005840"/>
            <a:ext cx="7315200" cy="731520"/>
          </a:xfrm>
          <a:prstGeom prst="rect">
            <a:avLst/>
          </a:prstGeom>
          <a:noFill/>
          <a:ln/>
        </p:spPr>
        <p:txBody>
          <a:bodyPr wrap="square" lIns="0" tIns="0" rIns="0" bIns="0" rtlCol="0" anchor="t"/>
          <a:lstStyle/>
          <a:p>
            <a:pPr marL="0" indent="0">
              <a:buNone/>
            </a:pPr>
            <a:r>
              <a:rPr lang="en-US" sz="3800" dirty="0">
                <a:solidFill>
                  <a:srgbClr val="2F2440"/>
                </a:solidFill>
                <a:latin typeface="Georgia" pitchFamily="34" charset="0"/>
                <a:ea typeface="Georgia" pitchFamily="34" charset="-122"/>
                <a:cs typeface="Georgia" pitchFamily="34" charset="-120"/>
              </a:rPr>
              <a:t>Does it work?</a:t>
            </a:r>
            <a:endParaRPr lang="en-US" sz="3800" dirty="0"/>
          </a:p>
        </p:txBody>
      </p:sp>
      <p:sp>
        <p:nvSpPr>
          <p:cNvPr id="4" name="Shape 2"/>
          <p:cNvSpPr/>
          <p:nvPr/>
        </p:nvSpPr>
        <p:spPr>
          <a:xfrm>
            <a:off x="548640" y="1920240"/>
            <a:ext cx="2651760" cy="1783080"/>
          </a:xfrm>
          <a:prstGeom prst="roundRect">
            <a:avLst>
              <a:gd name="adj" fmla="val 7179"/>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5" name="Text 3"/>
          <p:cNvSpPr txBox="1"/>
          <p:nvPr/>
        </p:nvSpPr>
        <p:spPr>
          <a:xfrm>
            <a:off x="822960" y="2148840"/>
            <a:ext cx="2194560" cy="777240"/>
          </a:xfrm>
          <a:prstGeom prst="rect">
            <a:avLst/>
          </a:prstGeom>
          <a:noFill/>
          <a:ln/>
        </p:spPr>
        <p:txBody>
          <a:bodyPr wrap="square" lIns="0" tIns="0" rIns="0" bIns="0" rtlCol="0" anchor="t"/>
          <a:lstStyle/>
          <a:p>
            <a:pPr marL="0" indent="0">
              <a:buNone/>
            </a:pPr>
            <a:r>
              <a:rPr lang="en-US" sz="4400" dirty="0">
                <a:solidFill>
                  <a:srgbClr val="8F7BC6"/>
                </a:solidFill>
                <a:latin typeface="Georgia" pitchFamily="34" charset="0"/>
                <a:ea typeface="Georgia" pitchFamily="34" charset="-122"/>
                <a:cs typeface="Georgia" pitchFamily="34" charset="-120"/>
              </a:rPr>
              <a:t>0.985</a:t>
            </a:r>
            <a:endParaRPr lang="en-US" sz="4400" dirty="0"/>
          </a:p>
        </p:txBody>
      </p:sp>
      <p:sp>
        <p:nvSpPr>
          <p:cNvPr id="6" name="Text 4"/>
          <p:cNvSpPr txBox="1"/>
          <p:nvPr/>
        </p:nvSpPr>
        <p:spPr>
          <a:xfrm>
            <a:off x="822960" y="2926080"/>
            <a:ext cx="2286000" cy="64008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event agreement (ARI),</a:t>
            </a:r>
            <a:endParaRPr lang="en-US" sz="1300" dirty="0"/>
          </a:p>
          <a:p>
            <a:pPr marL="0" indent="0">
              <a:buNone/>
            </a:pPr>
            <a:r>
              <a:rPr lang="en-US" sz="1300" dirty="0">
                <a:solidFill>
                  <a:srgbClr val="7D6D8E"/>
                </a:solidFill>
                <a:latin typeface="Calibri" pitchFamily="34" charset="0"/>
                <a:ea typeface="Calibri" pitchFamily="34" charset="-122"/>
                <a:cs typeface="Calibri" pitchFamily="34" charset="-120"/>
              </a:rPr>
              <a:t>vs 0.549 in Semester 1</a:t>
            </a:r>
            <a:endParaRPr lang="en-US" sz="1300" dirty="0"/>
          </a:p>
        </p:txBody>
      </p:sp>
      <p:sp>
        <p:nvSpPr>
          <p:cNvPr id="7" name="Shape 5"/>
          <p:cNvSpPr/>
          <p:nvPr/>
        </p:nvSpPr>
        <p:spPr>
          <a:xfrm>
            <a:off x="3419856" y="1920240"/>
            <a:ext cx="2651760" cy="1783080"/>
          </a:xfrm>
          <a:prstGeom prst="roundRect">
            <a:avLst>
              <a:gd name="adj" fmla="val 7179"/>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8" name="Text 6"/>
          <p:cNvSpPr txBox="1"/>
          <p:nvPr/>
        </p:nvSpPr>
        <p:spPr>
          <a:xfrm>
            <a:off x="3694176" y="2148840"/>
            <a:ext cx="2194560" cy="777240"/>
          </a:xfrm>
          <a:prstGeom prst="rect">
            <a:avLst/>
          </a:prstGeom>
          <a:noFill/>
          <a:ln/>
        </p:spPr>
        <p:txBody>
          <a:bodyPr wrap="square" lIns="0" tIns="0" rIns="0" bIns="0" rtlCol="0" anchor="t"/>
          <a:lstStyle/>
          <a:p>
            <a:pPr marL="0" indent="0">
              <a:buNone/>
            </a:pPr>
            <a:r>
              <a:rPr lang="en-US" sz="4400" dirty="0">
                <a:solidFill>
                  <a:srgbClr val="E38C9E"/>
                </a:solidFill>
                <a:latin typeface="Georgia" pitchFamily="34" charset="0"/>
                <a:ea typeface="Georgia" pitchFamily="34" charset="-122"/>
                <a:cs typeface="Georgia" pitchFamily="34" charset="-120"/>
              </a:rPr>
              <a:t>0/526</a:t>
            </a:r>
            <a:endParaRPr lang="en-US" sz="4400" dirty="0"/>
          </a:p>
        </p:txBody>
      </p:sp>
      <p:sp>
        <p:nvSpPr>
          <p:cNvPr id="9" name="Text 7"/>
          <p:cNvSpPr txBox="1"/>
          <p:nvPr/>
        </p:nvSpPr>
        <p:spPr>
          <a:xfrm>
            <a:off x="3694176" y="2926080"/>
            <a:ext cx="2286000" cy="64008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same-photo face pairs</a:t>
            </a:r>
            <a:endParaRPr lang="en-US" sz="1300" dirty="0"/>
          </a:p>
          <a:p>
            <a:pPr marL="0" indent="0">
              <a:buNone/>
            </a:pPr>
            <a:r>
              <a:rPr lang="en-US" sz="1300" dirty="0">
                <a:solidFill>
                  <a:srgbClr val="7D6D8E"/>
                </a:solidFill>
                <a:latin typeface="Calibri" pitchFamily="34" charset="0"/>
                <a:ea typeface="Calibri" pitchFamily="34" charset="-122"/>
                <a:cs typeface="Calibri" pitchFamily="34" charset="-120"/>
              </a:rPr>
              <a:t>merged into one person</a:t>
            </a:r>
            <a:endParaRPr lang="en-US" sz="1300" dirty="0"/>
          </a:p>
        </p:txBody>
      </p:sp>
      <p:sp>
        <p:nvSpPr>
          <p:cNvPr id="10" name="Shape 8"/>
          <p:cNvSpPr/>
          <p:nvPr/>
        </p:nvSpPr>
        <p:spPr>
          <a:xfrm>
            <a:off x="6291072" y="1920240"/>
            <a:ext cx="2651760" cy="1783080"/>
          </a:xfrm>
          <a:prstGeom prst="roundRect">
            <a:avLst>
              <a:gd name="adj" fmla="val 7179"/>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11" name="Text 9"/>
          <p:cNvSpPr txBox="1"/>
          <p:nvPr/>
        </p:nvSpPr>
        <p:spPr>
          <a:xfrm>
            <a:off x="6565392" y="2148840"/>
            <a:ext cx="2194560" cy="777240"/>
          </a:xfrm>
          <a:prstGeom prst="rect">
            <a:avLst/>
          </a:prstGeom>
          <a:noFill/>
          <a:ln/>
        </p:spPr>
        <p:txBody>
          <a:bodyPr wrap="square" lIns="0" tIns="0" rIns="0" bIns="0" rtlCol="0" anchor="t"/>
          <a:lstStyle/>
          <a:p>
            <a:pPr marL="0" indent="0">
              <a:buNone/>
            </a:pPr>
            <a:r>
              <a:rPr lang="en-US" sz="4400" dirty="0">
                <a:solidFill>
                  <a:srgbClr val="8F7BC6"/>
                </a:solidFill>
                <a:latin typeface="Georgia" pitchFamily="34" charset="0"/>
                <a:ea typeface="Georgia" pitchFamily="34" charset="-122"/>
                <a:cs typeface="Georgia" pitchFamily="34" charset="-120"/>
              </a:rPr>
              <a:t>3 → 0</a:t>
            </a:r>
            <a:endParaRPr lang="en-US" sz="4400" dirty="0"/>
          </a:p>
        </p:txBody>
      </p:sp>
      <p:sp>
        <p:nvSpPr>
          <p:cNvPr id="12" name="Text 10"/>
          <p:cNvSpPr txBox="1"/>
          <p:nvPr/>
        </p:nvSpPr>
        <p:spPr>
          <a:xfrm>
            <a:off x="6565392" y="2926080"/>
            <a:ext cx="2286000" cy="64008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closed-eye winners once</a:t>
            </a:r>
            <a:endParaRPr lang="en-US" sz="1300" dirty="0"/>
          </a:p>
          <a:p>
            <a:pPr marL="0" indent="0">
              <a:buNone/>
            </a:pPr>
            <a:r>
              <a:rPr lang="en-US" sz="1300" dirty="0">
                <a:solidFill>
                  <a:srgbClr val="7D6D8E"/>
                </a:solidFill>
                <a:latin typeface="Calibri" pitchFamily="34" charset="0"/>
                <a:ea typeface="Calibri" pitchFamily="34" charset="-122"/>
                <a:cs typeface="Calibri" pitchFamily="34" charset="-120"/>
              </a:rPr>
              <a:t>a blink always loses</a:t>
            </a:r>
            <a:endParaRPr lang="en-US" sz="1300" dirty="0"/>
          </a:p>
        </p:txBody>
      </p:sp>
      <p:sp>
        <p:nvSpPr>
          <p:cNvPr id="13" name="Shape 11"/>
          <p:cNvSpPr/>
          <p:nvPr/>
        </p:nvSpPr>
        <p:spPr>
          <a:xfrm>
            <a:off x="9162288" y="1920240"/>
            <a:ext cx="2651760" cy="1783080"/>
          </a:xfrm>
          <a:prstGeom prst="roundRect">
            <a:avLst>
              <a:gd name="adj" fmla="val 7179"/>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14" name="Text 12"/>
          <p:cNvSpPr txBox="1"/>
          <p:nvPr/>
        </p:nvSpPr>
        <p:spPr>
          <a:xfrm>
            <a:off x="9436608" y="2148840"/>
            <a:ext cx="2194560" cy="777240"/>
          </a:xfrm>
          <a:prstGeom prst="rect">
            <a:avLst/>
          </a:prstGeom>
          <a:noFill/>
          <a:ln/>
        </p:spPr>
        <p:txBody>
          <a:bodyPr wrap="square" lIns="0" tIns="0" rIns="0" bIns="0" rtlCol="0" anchor="t"/>
          <a:lstStyle/>
          <a:p>
            <a:pPr marL="0" indent="0">
              <a:buNone/>
            </a:pPr>
            <a:r>
              <a:rPr lang="en-US" sz="4400" dirty="0">
                <a:solidFill>
                  <a:srgbClr val="E38C9E"/>
                </a:solidFill>
                <a:latin typeface="Georgia" pitchFamily="34" charset="0"/>
                <a:ea typeface="Georgia" pitchFamily="34" charset="-122"/>
                <a:cs typeface="Georgia" pitchFamily="34" charset="-120"/>
              </a:rPr>
              <a:t>43×</a:t>
            </a:r>
            <a:endParaRPr lang="en-US" sz="4400" dirty="0"/>
          </a:p>
        </p:txBody>
      </p:sp>
      <p:sp>
        <p:nvSpPr>
          <p:cNvPr id="15" name="Text 13"/>
          <p:cNvSpPr txBox="1"/>
          <p:nvPr/>
        </p:nvSpPr>
        <p:spPr>
          <a:xfrm>
            <a:off x="9436608" y="2926080"/>
            <a:ext cx="2286000" cy="64008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faster cached re-run,</a:t>
            </a:r>
            <a:endParaRPr lang="en-US" sz="1300" dirty="0"/>
          </a:p>
          <a:p>
            <a:pPr marL="0" indent="0">
              <a:buNone/>
            </a:pPr>
            <a:r>
              <a:rPr lang="en-US" sz="1300" dirty="0">
                <a:solidFill>
                  <a:srgbClr val="7D6D8E"/>
                </a:solidFill>
                <a:latin typeface="Calibri" pitchFamily="34" charset="0"/>
                <a:ea typeface="Calibri" pitchFamily="34" charset="-122"/>
                <a:cs typeface="Calibri" pitchFamily="34" charset="-120"/>
              </a:rPr>
              <a:t>82 s → 1.9 s</a:t>
            </a:r>
            <a:endParaRPr lang="en-US" sz="1300" dirty="0"/>
          </a:p>
        </p:txBody>
      </p:sp>
      <p:sp>
        <p:nvSpPr>
          <p:cNvPr id="16" name="Text 14"/>
          <p:cNvSpPr txBox="1"/>
          <p:nvPr/>
        </p:nvSpPr>
        <p:spPr>
          <a:xfrm>
            <a:off x="548640" y="4069080"/>
            <a:ext cx="7315200" cy="320040"/>
          </a:xfrm>
          <a:prstGeom prst="rect">
            <a:avLst/>
          </a:prstGeom>
          <a:noFill/>
          <a:ln/>
        </p:spPr>
        <p:txBody>
          <a:bodyPr wrap="square" lIns="0" tIns="0" rIns="0" bIns="0" rtlCol="0" anchor="t"/>
          <a:lstStyle/>
          <a:p>
            <a:pPr marL="0" indent="0">
              <a:buNone/>
            </a:pPr>
            <a:r>
              <a:rPr lang="en-US" sz="1300" i="1" dirty="0">
                <a:solidFill>
                  <a:srgbClr val="7D6D8E"/>
                </a:solidFill>
                <a:latin typeface="Calibri" pitchFamily="34" charset="0"/>
                <a:ea typeface="Calibri" pitchFamily="34" charset="-122"/>
                <a:cs typeface="Calibri" pitchFamily="34" charset="-120"/>
              </a:rPr>
              <a:t>Change one part of the ranker: how many of 16 winners change?  (higher = matters more)</a:t>
            </a:r>
            <a:endParaRPr lang="en-US" sz="1300" dirty="0"/>
          </a:p>
        </p:txBody>
      </p:sp>
      <p:graphicFrame>
        <p:nvGraphicFramePr>
          <p:cNvPr id="17" name="Chart 0"/>
          <p:cNvGraphicFramePr/>
          <p:nvPr/>
        </p:nvGraphicFramePr>
        <p:xfrm>
          <a:off x="365760" y="4389120"/>
          <a:ext cx="7132320" cy="1965960"/>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 15"/>
          <p:cNvSpPr txBox="1"/>
          <p:nvPr/>
        </p:nvSpPr>
        <p:spPr>
          <a:xfrm>
            <a:off x="8092440" y="4526280"/>
            <a:ext cx="3566160" cy="822960"/>
          </a:xfrm>
          <a:prstGeom prst="rect">
            <a:avLst/>
          </a:prstGeom>
          <a:noFill/>
          <a:ln/>
        </p:spPr>
        <p:txBody>
          <a:bodyPr wrap="square" lIns="0" tIns="0" rIns="0" bIns="0" rtlCol="0" anchor="t"/>
          <a:lstStyle/>
          <a:p>
            <a:pPr marL="0" indent="0">
              <a:buNone/>
            </a:pPr>
            <a:r>
              <a:rPr lang="en-US" sz="2000" dirty="0">
                <a:solidFill>
                  <a:srgbClr val="2F2440"/>
                </a:solidFill>
                <a:latin typeface="Georgia" pitchFamily="34" charset="0"/>
                <a:ea typeface="Georgia" pitchFamily="34" charset="-122"/>
                <a:cs typeface="Georgia" pitchFamily="34" charset="-120"/>
              </a:rPr>
              <a:t>Centrality and sharpness move the pick.</a:t>
            </a:r>
            <a:endParaRPr lang="en-US" sz="2000" dirty="0"/>
          </a:p>
        </p:txBody>
      </p:sp>
      <p:sp>
        <p:nvSpPr>
          <p:cNvPr id="19" name="Text 16"/>
          <p:cNvSpPr txBox="1"/>
          <p:nvPr/>
        </p:nvSpPr>
        <p:spPr>
          <a:xfrm>
            <a:off x="8092440" y="5394960"/>
            <a:ext cx="3383280" cy="96012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Without the blink rule, 3 winners have closed eyes. Pose, face size and ±20% weight changes move none.</a:t>
            </a:r>
            <a:endParaRPr lang="en-US" sz="1300" dirty="0"/>
          </a:p>
        </p:txBody>
      </p:sp>
      <p:sp>
        <p:nvSpPr>
          <p:cNvPr id="21" name="Text 17"/>
          <p:cNvSpPr txBox="1"/>
          <p:nvPr/>
        </p:nvSpPr>
        <p:spPr>
          <a:xfrm>
            <a:off x="548640" y="6419088"/>
            <a:ext cx="1828800" cy="256032"/>
          </a:xfrm>
          <a:prstGeom prst="rect">
            <a:avLst/>
          </a:prstGeom>
          <a:noFill/>
          <a:ln/>
        </p:spPr>
        <p:txBody>
          <a:bodyPr wrap="square" lIns="0" tIns="0" rIns="0" bIns="0" rtlCol="0" anchor="ctr"/>
          <a:lstStyle/>
          <a:p>
            <a:pPr marL="0" indent="0">
              <a:buNone/>
            </a:pPr>
            <a:r>
              <a:rPr lang="en-US" sz="1000" dirty="0">
                <a:solidFill>
                  <a:srgbClr val="7D6D8E"/>
                </a:solidFill>
                <a:latin typeface="Georgia" pitchFamily="34" charset="0"/>
                <a:ea typeface="Georgia" pitchFamily="34" charset="-122"/>
                <a:cs typeface="Georgia" pitchFamily="34" charset="-120"/>
              </a:rPr>
              <a:t>Lumina</a:t>
            </a:r>
            <a:endParaRPr lang="en-US" sz="1000" dirty="0"/>
          </a:p>
        </p:txBody>
      </p:sp>
      <p:sp>
        <p:nvSpPr>
          <p:cNvPr id="22" name="Text 18"/>
          <p:cNvSpPr txBox="1"/>
          <p:nvPr/>
        </p:nvSpPr>
        <p:spPr>
          <a:xfrm>
            <a:off x="10728655" y="6419088"/>
            <a:ext cx="914400" cy="256032"/>
          </a:xfrm>
          <a:prstGeom prst="rect">
            <a:avLst/>
          </a:prstGeom>
          <a:noFill/>
          <a:ln/>
        </p:spPr>
        <p:txBody>
          <a:bodyPr wrap="square" lIns="0" tIns="0" rIns="0" bIns="0" rtlCol="0" anchor="ctr"/>
          <a:lstStyle/>
          <a:p>
            <a:pPr marL="0" indent="0" algn="r">
              <a:buNone/>
            </a:pPr>
            <a:r>
              <a:rPr lang="en-US" sz="1000" dirty="0">
                <a:solidFill>
                  <a:srgbClr val="7D6D8E"/>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85800"/>
            <a:ext cx="5486400" cy="274320"/>
          </a:xfrm>
          <a:prstGeom prst="rect">
            <a:avLst/>
          </a:prstGeom>
          <a:noFill/>
          <a:ln/>
        </p:spPr>
        <p:txBody>
          <a:bodyPr wrap="square" lIns="0" tIns="0" rIns="0" bIns="0" rtlCol="0" anchor="ctr"/>
          <a:lstStyle/>
          <a:p>
            <a:pPr marL="0" indent="0">
              <a:buNone/>
            </a:pPr>
            <a:r>
              <a:rPr lang="en-US" sz="1100" b="1" kern="0" spc="300" dirty="0">
                <a:solidFill>
                  <a:srgbClr val="8F7BC6"/>
                </a:solidFill>
                <a:latin typeface="Calibri" pitchFamily="34" charset="0"/>
                <a:ea typeface="Calibri" pitchFamily="34" charset="-122"/>
                <a:cs typeface="Calibri" pitchFamily="34" charset="-120"/>
              </a:rPr>
              <a:t>12  ·  HUMAN STUDY</a:t>
            </a:r>
            <a:endParaRPr lang="en-US" sz="1100" dirty="0"/>
          </a:p>
        </p:txBody>
      </p:sp>
      <p:sp>
        <p:nvSpPr>
          <p:cNvPr id="3" name="Text 1"/>
          <p:cNvSpPr txBox="1"/>
          <p:nvPr/>
        </p:nvSpPr>
        <p:spPr>
          <a:xfrm>
            <a:off x="548640" y="1005840"/>
            <a:ext cx="7315200" cy="731520"/>
          </a:xfrm>
          <a:prstGeom prst="rect">
            <a:avLst/>
          </a:prstGeom>
          <a:noFill/>
          <a:ln/>
        </p:spPr>
        <p:txBody>
          <a:bodyPr wrap="square" lIns="0" tIns="0" rIns="0" bIns="0" rtlCol="0" anchor="t"/>
          <a:lstStyle/>
          <a:p>
            <a:pPr marL="0" indent="0">
              <a:buNone/>
            </a:pPr>
            <a:r>
              <a:rPr lang="en-US" sz="3800" dirty="0">
                <a:solidFill>
                  <a:srgbClr val="2F2440"/>
                </a:solidFill>
                <a:latin typeface="Georgia" pitchFamily="34" charset="0"/>
                <a:ea typeface="Georgia" pitchFamily="34" charset="-122"/>
                <a:cs typeface="Georgia" pitchFamily="34" charset="-120"/>
              </a:rPr>
              <a:t>What did people keep?</a:t>
            </a:r>
            <a:endParaRPr lang="en-US" sz="3800" dirty="0"/>
          </a:p>
        </p:txBody>
      </p:sp>
      <p:sp>
        <p:nvSpPr>
          <p:cNvPr id="4" name="Shape 2"/>
          <p:cNvSpPr/>
          <p:nvPr/>
        </p:nvSpPr>
        <p:spPr>
          <a:xfrm>
            <a:off x="548640" y="1920240"/>
            <a:ext cx="2651760" cy="1783080"/>
          </a:xfrm>
          <a:prstGeom prst="roundRect">
            <a:avLst>
              <a:gd name="adj" fmla="val 7179"/>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5" name="Text 3"/>
          <p:cNvSpPr txBox="1"/>
          <p:nvPr/>
        </p:nvSpPr>
        <p:spPr>
          <a:xfrm>
            <a:off x="822960" y="2148840"/>
            <a:ext cx="2194560" cy="777240"/>
          </a:xfrm>
          <a:prstGeom prst="rect">
            <a:avLst/>
          </a:prstGeom>
          <a:noFill/>
          <a:ln/>
        </p:spPr>
        <p:txBody>
          <a:bodyPr wrap="square" lIns="0" tIns="0" rIns="0" bIns="0" rtlCol="0" anchor="t"/>
          <a:lstStyle/>
          <a:p>
            <a:pPr marL="0" indent="0">
              <a:buNone/>
            </a:pPr>
            <a:r>
              <a:rPr lang="en-US" sz="4400" dirty="0">
                <a:solidFill>
                  <a:srgbClr val="8F7BC6"/>
                </a:solidFill>
                <a:latin typeface="Georgia" pitchFamily="34" charset="0"/>
                <a:ea typeface="Georgia" pitchFamily="34" charset="-122"/>
                <a:cs typeface="Georgia" pitchFamily="34" charset="-120"/>
              </a:rPr>
              <a:t>0.53</a:t>
            </a:r>
            <a:endParaRPr lang="en-US" sz="4400" dirty="0"/>
          </a:p>
        </p:txBody>
      </p:sp>
      <p:sp>
        <p:nvSpPr>
          <p:cNvPr id="6" name="Text 4"/>
          <p:cNvSpPr txBox="1"/>
          <p:nvPr/>
        </p:nvSpPr>
        <p:spPr>
          <a:xfrm>
            <a:off x="822960" y="2926080"/>
            <a:ext cx="2286000" cy="64008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keep-one score,</a:t>
            </a:r>
            <a:endParaRPr lang="en-US" sz="1300" dirty="0"/>
          </a:p>
          <a:p>
            <a:pPr marL="0" indent="0">
              <a:buNone/>
            </a:pPr>
            <a:r>
              <a:rPr lang="en-US" sz="1300" dirty="0">
                <a:solidFill>
                  <a:srgbClr val="7D6D8E"/>
                </a:solidFill>
                <a:latin typeface="Calibri" pitchFamily="34" charset="0"/>
                <a:ea typeface="Calibri" pitchFamily="34" charset="-122"/>
                <a:cs typeface="Calibri" pitchFamily="34" charset="-120"/>
              </a:rPr>
              <a:t>chance is 0.50</a:t>
            </a:r>
            <a:endParaRPr lang="en-US" sz="1300" dirty="0"/>
          </a:p>
        </p:txBody>
      </p:sp>
      <p:sp>
        <p:nvSpPr>
          <p:cNvPr id="7" name="Shape 5"/>
          <p:cNvSpPr/>
          <p:nvPr/>
        </p:nvSpPr>
        <p:spPr>
          <a:xfrm>
            <a:off x="3419856" y="1920240"/>
            <a:ext cx="2651760" cy="1783080"/>
          </a:xfrm>
          <a:prstGeom prst="roundRect">
            <a:avLst>
              <a:gd name="adj" fmla="val 7179"/>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8" name="Text 6"/>
          <p:cNvSpPr txBox="1"/>
          <p:nvPr/>
        </p:nvSpPr>
        <p:spPr>
          <a:xfrm>
            <a:off x="3694176" y="2148840"/>
            <a:ext cx="2194560" cy="777240"/>
          </a:xfrm>
          <a:prstGeom prst="rect">
            <a:avLst/>
          </a:prstGeom>
          <a:noFill/>
          <a:ln/>
        </p:spPr>
        <p:txBody>
          <a:bodyPr wrap="square" lIns="0" tIns="0" rIns="0" bIns="0" rtlCol="0" anchor="t"/>
          <a:lstStyle/>
          <a:p>
            <a:pPr marL="0" indent="0">
              <a:buNone/>
            </a:pPr>
            <a:r>
              <a:rPr lang="en-US" sz="4400" dirty="0">
                <a:solidFill>
                  <a:srgbClr val="E38C9E"/>
                </a:solidFill>
                <a:latin typeface="Georgia" pitchFamily="34" charset="0"/>
                <a:ea typeface="Georgia" pitchFamily="34" charset="-122"/>
                <a:cs typeface="Georgia" pitchFamily="34" charset="-120"/>
              </a:rPr>
              <a:t>16/26</a:t>
            </a:r>
            <a:endParaRPr lang="en-US" sz="4400" dirty="0"/>
          </a:p>
        </p:txBody>
      </p:sp>
      <p:sp>
        <p:nvSpPr>
          <p:cNvPr id="9" name="Text 7"/>
          <p:cNvSpPr txBox="1"/>
          <p:nvPr/>
        </p:nvSpPr>
        <p:spPr>
          <a:xfrm>
            <a:off x="3694176" y="2926080"/>
            <a:ext cx="2286000" cy="64008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repeat answers matched</a:t>
            </a:r>
            <a:endParaRPr lang="en-US" sz="1300" dirty="0"/>
          </a:p>
          <a:p>
            <a:pPr marL="0" indent="0">
              <a:buNone/>
            </a:pPr>
            <a:r>
              <a:rPr lang="en-US" sz="1300" dirty="0">
                <a:solidFill>
                  <a:srgbClr val="7D6D8E"/>
                </a:solidFill>
                <a:latin typeface="Calibri" pitchFamily="34" charset="0"/>
                <a:ea typeface="Calibri" pitchFamily="34" charset="-122"/>
                <a:cs typeface="Calibri" pitchFamily="34" charset="-120"/>
              </a:rPr>
              <a:t>the person's first pick</a:t>
            </a:r>
            <a:endParaRPr lang="en-US" sz="1300" dirty="0"/>
          </a:p>
        </p:txBody>
      </p:sp>
      <p:sp>
        <p:nvSpPr>
          <p:cNvPr id="10" name="Shape 8"/>
          <p:cNvSpPr/>
          <p:nvPr/>
        </p:nvSpPr>
        <p:spPr>
          <a:xfrm>
            <a:off x="6291072" y="1920240"/>
            <a:ext cx="2651760" cy="1783080"/>
          </a:xfrm>
          <a:prstGeom prst="roundRect">
            <a:avLst>
              <a:gd name="adj" fmla="val 7179"/>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11" name="Text 9"/>
          <p:cNvSpPr txBox="1"/>
          <p:nvPr/>
        </p:nvSpPr>
        <p:spPr>
          <a:xfrm>
            <a:off x="6565392" y="2148840"/>
            <a:ext cx="2194560" cy="777240"/>
          </a:xfrm>
          <a:prstGeom prst="rect">
            <a:avLst/>
          </a:prstGeom>
          <a:noFill/>
          <a:ln/>
        </p:spPr>
        <p:txBody>
          <a:bodyPr wrap="square" lIns="0" tIns="0" rIns="0" bIns="0" rtlCol="0" anchor="t"/>
          <a:lstStyle/>
          <a:p>
            <a:pPr marL="0" indent="0">
              <a:buNone/>
            </a:pPr>
            <a:r>
              <a:rPr lang="en-US" sz="4400" dirty="0">
                <a:solidFill>
                  <a:srgbClr val="8F7BC6"/>
                </a:solidFill>
                <a:latin typeface="Georgia" pitchFamily="34" charset="0"/>
                <a:ea typeface="Georgia" pitchFamily="34" charset="-122"/>
                <a:cs typeface="Georgia" pitchFamily="34" charset="-120"/>
              </a:rPr>
              <a:t>13/13</a:t>
            </a:r>
            <a:endParaRPr lang="en-US" sz="4400" dirty="0"/>
          </a:p>
        </p:txBody>
      </p:sp>
      <p:sp>
        <p:nvSpPr>
          <p:cNvPr id="12" name="Text 10"/>
          <p:cNvSpPr txBox="1"/>
          <p:nvPr/>
        </p:nvSpPr>
        <p:spPr>
          <a:xfrm>
            <a:off x="6565392" y="2926080"/>
            <a:ext cx="2286000" cy="64008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kept the group shot</a:t>
            </a:r>
            <a:endParaRPr lang="en-US" sz="1300" dirty="0"/>
          </a:p>
          <a:p>
            <a:pPr marL="0" indent="0">
              <a:buNone/>
            </a:pPr>
            <a:r>
              <a:rPr lang="en-US" sz="1300" dirty="0">
                <a:solidFill>
                  <a:srgbClr val="7D6D8E"/>
                </a:solidFill>
                <a:latin typeface="Calibri" pitchFamily="34" charset="0"/>
                <a:ea typeface="Calibri" pitchFamily="34" charset="-122"/>
                <a:cs typeface="Calibri" pitchFamily="34" charset="-120"/>
              </a:rPr>
              <a:t>Lumina ranked last</a:t>
            </a:r>
            <a:endParaRPr lang="en-US" sz="1300" dirty="0"/>
          </a:p>
        </p:txBody>
      </p:sp>
      <p:sp>
        <p:nvSpPr>
          <p:cNvPr id="13" name="Shape 11"/>
          <p:cNvSpPr/>
          <p:nvPr/>
        </p:nvSpPr>
        <p:spPr>
          <a:xfrm>
            <a:off x="9162288" y="1920240"/>
            <a:ext cx="2651760" cy="1783080"/>
          </a:xfrm>
          <a:prstGeom prst="roundRect">
            <a:avLst>
              <a:gd name="adj" fmla="val 7179"/>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14" name="Text 12"/>
          <p:cNvSpPr txBox="1"/>
          <p:nvPr/>
        </p:nvSpPr>
        <p:spPr>
          <a:xfrm>
            <a:off x="9436608" y="2148840"/>
            <a:ext cx="2194560" cy="777240"/>
          </a:xfrm>
          <a:prstGeom prst="rect">
            <a:avLst/>
          </a:prstGeom>
          <a:noFill/>
          <a:ln/>
        </p:spPr>
        <p:txBody>
          <a:bodyPr wrap="square" lIns="0" tIns="0" rIns="0" bIns="0" rtlCol="0" anchor="t"/>
          <a:lstStyle/>
          <a:p>
            <a:pPr marL="0" indent="0">
              <a:buNone/>
            </a:pPr>
            <a:r>
              <a:rPr lang="en-US" sz="4400" dirty="0">
                <a:solidFill>
                  <a:srgbClr val="E38C9E"/>
                </a:solidFill>
                <a:latin typeface="Georgia" pitchFamily="34" charset="0"/>
                <a:ea typeface="Georgia" pitchFamily="34" charset="-122"/>
                <a:cs typeface="Georgia" pitchFamily="34" charset="-120"/>
              </a:rPr>
              <a:t>24/52</a:t>
            </a:r>
            <a:endParaRPr lang="en-US" sz="4400" dirty="0"/>
          </a:p>
        </p:txBody>
      </p:sp>
      <p:sp>
        <p:nvSpPr>
          <p:cNvPr id="15" name="Text 13"/>
          <p:cNvSpPr txBox="1"/>
          <p:nvPr/>
        </p:nvSpPr>
        <p:spPr>
          <a:xfrm>
            <a:off x="9436608" y="2926080"/>
            <a:ext cx="2286000" cy="64008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held-out matches after</a:t>
            </a:r>
            <a:endParaRPr lang="en-US" sz="1300" dirty="0"/>
          </a:p>
          <a:p>
            <a:pPr marL="0" indent="0">
              <a:buNone/>
            </a:pPr>
            <a:r>
              <a:rPr lang="en-US" sz="1300" dirty="0">
                <a:solidFill>
                  <a:srgbClr val="7D6D8E"/>
                </a:solidFill>
                <a:latin typeface="Calibri" pitchFamily="34" charset="0"/>
                <a:ea typeface="Calibri" pitchFamily="34" charset="-122"/>
                <a:cs typeface="Calibri" pitchFamily="34" charset="-120"/>
              </a:rPr>
              <a:t>learning, vs 26 before</a:t>
            </a:r>
            <a:endParaRPr lang="en-US" sz="1300" dirty="0"/>
          </a:p>
        </p:txBody>
      </p:sp>
      <p:sp>
        <p:nvSpPr>
          <p:cNvPr id="16" name="Text 14"/>
          <p:cNvSpPr txBox="1"/>
          <p:nvPr/>
        </p:nvSpPr>
        <p:spPr>
          <a:xfrm>
            <a:off x="548640" y="4069080"/>
            <a:ext cx="11064240" cy="320040"/>
          </a:xfrm>
          <a:prstGeom prst="rect">
            <a:avLst/>
          </a:prstGeom>
          <a:noFill/>
          <a:ln/>
        </p:spPr>
        <p:txBody>
          <a:bodyPr wrap="square" lIns="0" tIns="0" rIns="0" bIns="0" rtlCol="0" anchor="t"/>
          <a:lstStyle/>
          <a:p>
            <a:pPr marL="0" indent="0">
              <a:buNone/>
            </a:pPr>
            <a:r>
              <a:rPr lang="en-US" sz="1300" i="1" dirty="0">
                <a:solidFill>
                  <a:srgbClr val="7D6D8E"/>
                </a:solidFill>
                <a:latin typeface="Calibri" pitchFamily="34" charset="0"/>
                <a:ea typeface="Calibri" pitchFamily="34" charset="-122"/>
                <a:cs typeface="Calibri" pitchFamily="34" charset="-120"/>
              </a:rPr>
              <a:t>13 people  ·  16 occasions  ·  234 picks  ·  each person's weights learned separately</a:t>
            </a:r>
            <a:endParaRPr lang="en-US" sz="1300" dirty="0"/>
          </a:p>
        </p:txBody>
      </p:sp>
      <p:sp>
        <p:nvSpPr>
          <p:cNvPr id="40" name="Head 0"/>
          <p:cNvSpPr txBox="1"/>
          <p:nvPr/>
        </p:nvSpPr>
        <p:spPr>
          <a:xfrm>
            <a:off x="548640" y="4526280"/>
            <a:ext cx="3566160" cy="731520"/>
          </a:xfrm>
          <a:prstGeom prst="rect">
            <a:avLst/>
          </a:prstGeom>
          <a:noFill/>
          <a:ln/>
        </p:spPr>
        <p:txBody>
          <a:bodyPr wrap="square" lIns="0" tIns="0" rIns="0" bIns="0" rtlCol="0" anchor="t"/>
          <a:lstStyle/>
          <a:p>
            <a:pPr marL="0" indent="0">
              <a:buNone/>
            </a:pPr>
            <a:r>
              <a:rPr lang="en-US" sz="2000" dirty="0">
                <a:solidFill>
                  <a:srgbClr val="2F2440"/>
                </a:solidFill>
                <a:latin typeface="Georgia" pitchFamily="34" charset="0"/>
                <a:ea typeface="Georgia" pitchFamily="34" charset="-122"/>
                <a:cs typeface="Georgia" pitchFamily="34" charset="-120"/>
              </a:rPr>
              <a:t>Above chance, not by much</a:t>
            </a:r>
            <a:endParaRPr lang="en-US" sz="2000" dirty="0"/>
          </a:p>
        </p:txBody>
      </p:sp>
      <p:sp>
        <p:nvSpPr>
          <p:cNvPr id="41" name="Body 0"/>
          <p:cNvSpPr txBox="1"/>
          <p:nvPr/>
        </p:nvSpPr>
        <p:spPr>
          <a:xfrm>
            <a:off x="548640" y="4983480"/>
            <a:ext cx="3383280" cy="91440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Two-photo questions carry the gain. Taste varies within and across people, so no one order fits everyone.</a:t>
            </a:r>
            <a:endParaRPr lang="en-US" sz="1300" dirty="0"/>
          </a:p>
        </p:txBody>
      </p:sp>
      <p:sp>
        <p:nvSpPr>
          <p:cNvPr id="42" name="Head 1"/>
          <p:cNvSpPr txBox="1"/>
          <p:nvPr/>
        </p:nvSpPr>
        <p:spPr>
          <a:xfrm>
            <a:off x="4334255" y="4526280"/>
            <a:ext cx="3566160" cy="731520"/>
          </a:xfrm>
          <a:prstGeom prst="rect">
            <a:avLst/>
          </a:prstGeom>
          <a:noFill/>
          <a:ln/>
        </p:spPr>
        <p:txBody>
          <a:bodyPr wrap="square" lIns="0" tIns="0" rIns="0" bIns="0" rtlCol="0" anchor="t"/>
          <a:lstStyle/>
          <a:p>
            <a:pPr marL="0" indent="0">
              <a:buNone/>
            </a:pPr>
            <a:r>
              <a:rPr lang="en-US" sz="2000" dirty="0">
                <a:solidFill>
                  <a:srgbClr val="2F2440"/>
                </a:solidFill>
                <a:latin typeface="Georgia" pitchFamily="34" charset="0"/>
                <a:ea typeface="Georgia" pitchFamily="34" charset="-122"/>
                <a:cs typeface="Georgia" pitchFamily="34" charset="-120"/>
              </a:rPr>
              <a:t>Keep several, explain the rest</a:t>
            </a:r>
            <a:endParaRPr lang="en-US" sz="2000" dirty="0"/>
          </a:p>
        </p:txBody>
      </p:sp>
      <p:sp>
        <p:nvSpPr>
          <p:cNvPr id="43" name="Body 1"/>
          <p:cNvSpPr txBox="1"/>
          <p:nvPr/>
        </p:nvSpPr>
        <p:spPr>
          <a:xfrm>
            <a:off x="4334255" y="4983480"/>
            <a:ext cx="3383280" cy="914400"/>
          </a:xfrm>
          <a:prstGeom prst="rect">
            <a:avLst/>
          </a:prstGeom>
          <a:noFill/>
          <a:ln/>
        </p:spPr>
        <p:txBody>
          <a:bodyPr wrap="square" lIns="0" tIns="0" rIns="0" bIns="0" rtlCol="0" anchor="t"/>
          <a:lstStyle/>
          <a:p>
            <a:pPr marL="0" indent="0">
              <a:buNone/>
            </a:pPr>
            <a:r>
              <a:rPr lang="en-US" sz="1300">
                <a:solidFill>
                  <a:srgbClr val="7D6D8E"/>
                </a:solidFill>
                <a:latin typeface="Calibri" pitchFamily="34" charset="0"/>
                <a:ea typeface="Calibri" pitchFamily="34" charset="-122"/>
                <a:cs typeface="Calibri" pitchFamily="34" charset="-120"/>
              </a:rPr>
              <a:t>Cleanup sets frames aside with a stated reason (duplicate, blink, blur). Nothing is deleted until you say so.</a:t>
            </a:r>
            <a:endParaRPr lang="en-US" sz="1300" dirty="0"/>
          </a:p>
        </p:txBody>
      </p:sp>
      <p:sp>
        <p:nvSpPr>
          <p:cNvPr id="44" name="Head 2"/>
          <p:cNvSpPr txBox="1"/>
          <p:nvPr/>
        </p:nvSpPr>
        <p:spPr>
          <a:xfrm>
            <a:off x="8119871" y="4526280"/>
            <a:ext cx="3566160" cy="731520"/>
          </a:xfrm>
          <a:prstGeom prst="rect">
            <a:avLst/>
          </a:prstGeom>
          <a:noFill/>
          <a:ln/>
        </p:spPr>
        <p:txBody>
          <a:bodyPr wrap="square" lIns="0" tIns="0" rIns="0" bIns="0" rtlCol="0" anchor="t"/>
          <a:lstStyle/>
          <a:p>
            <a:pPr marL="0" indent="0">
              <a:buNone/>
            </a:pPr>
            <a:r>
              <a:rPr lang="en-US" sz="2000" dirty="0">
                <a:solidFill>
                  <a:srgbClr val="2F2440"/>
                </a:solidFill>
                <a:latin typeface="Georgia" pitchFamily="34" charset="0"/>
                <a:ea typeface="Georgia" pitchFamily="34" charset="-122"/>
                <a:cs typeface="Georgia" pitchFamily="34" charset="-120"/>
              </a:rPr>
              <a:t>Next signal: everyone in frame</a:t>
            </a:r>
            <a:endParaRPr lang="en-US" sz="2000" dirty="0"/>
          </a:p>
        </p:txBody>
      </p:sp>
      <p:sp>
        <p:nvSpPr>
          <p:cNvPr id="45" name="Body 2"/>
          <p:cNvSpPr txBox="1"/>
          <p:nvPr/>
        </p:nvSpPr>
        <p:spPr>
          <a:xfrm>
            <a:off x="8119871" y="4983480"/>
            <a:ext cx="3383280" cy="914400"/>
          </a:xfrm>
          <a:prstGeom prst="rect">
            <a:avLst/>
          </a:prstGeom>
          <a:noFill/>
          <a:ln/>
        </p:spPr>
        <p:txBody>
          <a:bodyPr wrap="square" lIns="0" tIns="0" rIns="0" bIns="0" rtlCol="0" anchor="t"/>
          <a:lstStyle/>
          <a:p>
            <a:pPr marL="0" indent="0">
              <a:buNone/>
            </a:pPr>
            <a:r>
              <a:rPr lang="en-US" sz="1300" dirty="0">
                <a:solidFill>
                  <a:srgbClr val="7D6D8E"/>
                </a:solidFill>
                <a:latin typeface="Calibri" pitchFamily="34" charset="0"/>
                <a:ea typeface="Calibri" pitchFamily="34" charset="-122"/>
                <a:cs typeface="Calibri" pitchFamily="34" charset="-120"/>
              </a:rPr>
              <a:t>Every tester kept the wide shot of the whole party. Sharpness and NIMA can't see that.</a:t>
            </a:r>
            <a:endParaRPr lang="en-US" sz="1300" dirty="0"/>
          </a:p>
        </p:txBody>
      </p:sp>
      <p:sp>
        <p:nvSpPr>
          <p:cNvPr id="21" name="Text 17"/>
          <p:cNvSpPr txBox="1"/>
          <p:nvPr/>
        </p:nvSpPr>
        <p:spPr>
          <a:xfrm>
            <a:off x="548640" y="6419088"/>
            <a:ext cx="1828800" cy="256032"/>
          </a:xfrm>
          <a:prstGeom prst="rect">
            <a:avLst/>
          </a:prstGeom>
          <a:noFill/>
          <a:ln/>
        </p:spPr>
        <p:txBody>
          <a:bodyPr wrap="square" lIns="0" tIns="0" rIns="0" bIns="0" rtlCol="0" anchor="ctr"/>
          <a:lstStyle/>
          <a:p>
            <a:pPr marL="0" indent="0">
              <a:buNone/>
            </a:pPr>
            <a:r>
              <a:rPr lang="en-US" sz="1000" dirty="0">
                <a:solidFill>
                  <a:srgbClr val="7D6D8E"/>
                </a:solidFill>
                <a:latin typeface="Georgia" pitchFamily="34" charset="0"/>
                <a:ea typeface="Georgia" pitchFamily="34" charset="-122"/>
                <a:cs typeface="Georgia" pitchFamily="34" charset="-120"/>
              </a:rPr>
              <a:t>Lumina</a:t>
            </a:r>
            <a:endParaRPr lang="en-US" sz="1000" dirty="0"/>
          </a:p>
        </p:txBody>
      </p:sp>
      <p:sp>
        <p:nvSpPr>
          <p:cNvPr id="22" name="Text 18"/>
          <p:cNvSpPr txBox="1"/>
          <p:nvPr/>
        </p:nvSpPr>
        <p:spPr>
          <a:xfrm>
            <a:off x="10728655" y="6419088"/>
            <a:ext cx="914400" cy="256032"/>
          </a:xfrm>
          <a:prstGeom prst="rect">
            <a:avLst/>
          </a:prstGeom>
          <a:noFill/>
          <a:ln/>
        </p:spPr>
        <p:txBody>
          <a:bodyPr wrap="square" lIns="0" tIns="0" rIns="0" bIns="0" rtlCol="0" anchor="ctr"/>
          <a:lstStyle/>
          <a:p>
            <a:pPr marL="0" indent="0" algn="r">
              <a:buNone/>
            </a:pPr>
            <a:r>
              <a:rPr lang="en-US" sz="1000" dirty="0">
                <a:solidFill>
                  <a:srgbClr val="7D6D8E"/>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85800"/>
            <a:ext cx="5486400" cy="274320"/>
          </a:xfrm>
          <a:prstGeom prst="rect">
            <a:avLst/>
          </a:prstGeom>
          <a:noFill/>
          <a:ln/>
        </p:spPr>
        <p:txBody>
          <a:bodyPr wrap="square" lIns="0" tIns="0" rIns="0" bIns="0" rtlCol="0" anchor="ctr"/>
          <a:lstStyle/>
          <a:p>
            <a:pPr marL="0" indent="0">
              <a:buNone/>
            </a:pPr>
            <a:r>
              <a:rPr lang="en-US" sz="1100" b="1" kern="0" spc="300" dirty="0">
                <a:solidFill>
                  <a:srgbClr val="8F7BC6"/>
                </a:solidFill>
                <a:latin typeface="Calibri" pitchFamily="34" charset="0"/>
                <a:ea typeface="Calibri" pitchFamily="34" charset="-122"/>
                <a:cs typeface="Calibri" pitchFamily="34" charset="-120"/>
              </a:rPr>
              <a:t>13  ·  REFLECTION</a:t>
            </a:r>
            <a:endParaRPr lang="en-US" sz="1100" dirty="0"/>
          </a:p>
        </p:txBody>
      </p:sp>
      <p:sp>
        <p:nvSpPr>
          <p:cNvPr id="3" name="Text 1"/>
          <p:cNvSpPr txBox="1"/>
          <p:nvPr/>
        </p:nvSpPr>
        <p:spPr>
          <a:xfrm>
            <a:off x="548640" y="1005840"/>
            <a:ext cx="7315200" cy="731520"/>
          </a:xfrm>
          <a:prstGeom prst="rect">
            <a:avLst/>
          </a:prstGeom>
          <a:noFill/>
          <a:ln/>
        </p:spPr>
        <p:txBody>
          <a:bodyPr wrap="square" lIns="0" tIns="0" rIns="0" bIns="0" rtlCol="0" anchor="t"/>
          <a:lstStyle/>
          <a:p>
            <a:pPr marL="0" indent="0">
              <a:buNone/>
            </a:pPr>
            <a:r>
              <a:rPr lang="en-US" sz="3800" dirty="0">
                <a:solidFill>
                  <a:srgbClr val="2F2440"/>
                </a:solidFill>
                <a:latin typeface="Georgia" pitchFamily="34" charset="0"/>
                <a:ea typeface="Georgia" pitchFamily="34" charset="-122"/>
                <a:cs typeface="Georgia" pitchFamily="34" charset="-120"/>
              </a:rPr>
              <a:t>Limits, and what's next</a:t>
            </a:r>
            <a:endParaRPr lang="en-US" sz="3800" dirty="0"/>
          </a:p>
        </p:txBody>
      </p:sp>
      <p:sp>
        <p:nvSpPr>
          <p:cNvPr id="4" name="Shape 2"/>
          <p:cNvSpPr/>
          <p:nvPr/>
        </p:nvSpPr>
        <p:spPr>
          <a:xfrm>
            <a:off x="548640" y="2011680"/>
            <a:ext cx="4297680" cy="3108960"/>
          </a:xfrm>
          <a:prstGeom prst="roundRect">
            <a:avLst>
              <a:gd name="adj" fmla="val 4118"/>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5" name="Shape 3"/>
          <p:cNvSpPr/>
          <p:nvPr/>
        </p:nvSpPr>
        <p:spPr>
          <a:xfrm>
            <a:off x="914400" y="2468880"/>
            <a:ext cx="164592" cy="164592"/>
          </a:xfrm>
          <a:prstGeom prst="ellipse">
            <a:avLst/>
          </a:prstGeom>
          <a:solidFill>
            <a:srgbClr val="E38C9E"/>
          </a:solidFill>
          <a:ln/>
        </p:spPr>
        <p:txBody>
          <a:bodyPr/>
          <a:lstStyle/>
          <a:p>
            <a:endParaRPr lang="en-US"/>
          </a:p>
        </p:txBody>
      </p:sp>
      <p:sp>
        <p:nvSpPr>
          <p:cNvPr id="6" name="Text 4"/>
          <p:cNvSpPr txBox="1"/>
          <p:nvPr/>
        </p:nvSpPr>
        <p:spPr>
          <a:xfrm>
            <a:off x="1234440" y="2350008"/>
            <a:ext cx="2743200" cy="411480"/>
          </a:xfrm>
          <a:prstGeom prst="rect">
            <a:avLst/>
          </a:prstGeom>
          <a:noFill/>
          <a:ln/>
        </p:spPr>
        <p:txBody>
          <a:bodyPr wrap="square" lIns="0" tIns="0" rIns="0" bIns="0" rtlCol="0" anchor="t"/>
          <a:lstStyle/>
          <a:p>
            <a:pPr marL="0" indent="0">
              <a:buNone/>
            </a:pPr>
            <a:r>
              <a:rPr lang="en-US" sz="2400" dirty="0">
                <a:solidFill>
                  <a:srgbClr val="2F2440"/>
                </a:solidFill>
                <a:latin typeface="Georgia" pitchFamily="34" charset="0"/>
                <a:ea typeface="Georgia" pitchFamily="34" charset="-122"/>
                <a:cs typeface="Georgia" pitchFamily="34" charset="-120"/>
              </a:rPr>
              <a:t>Limits</a:t>
            </a:r>
            <a:endParaRPr lang="en-US" sz="2400" dirty="0"/>
          </a:p>
        </p:txBody>
      </p:sp>
      <p:sp>
        <p:nvSpPr>
          <p:cNvPr id="7" name="Text 5"/>
          <p:cNvSpPr txBox="1"/>
          <p:nvPr/>
        </p:nvSpPr>
        <p:spPr>
          <a:xfrm>
            <a:off x="914400" y="3108960"/>
            <a:ext cx="3749040" cy="1920240"/>
          </a:xfrm>
          <a:prstGeom prst="rect">
            <a:avLst/>
          </a:prstGeom>
          <a:noFill/>
          <a:ln/>
        </p:spPr>
        <p:txBody>
          <a:bodyPr wrap="square" lIns="0" tIns="0" rIns="0" bIns="0" rtlCol="0" anchor="t"/>
          <a:lstStyle/>
          <a:p>
            <a:pPr marL="228600" indent="-228600">
              <a:spcAft>
                <a:spcPts val="900"/>
              </a:spcAft>
              <a:buSzPct val="100000"/>
              <a:buChar char="•"/>
            </a:pPr>
            <a:r>
              <a:rPr lang="en-US" sz="1600" dirty="0">
                <a:solidFill>
                  <a:srgbClr val="2F2440"/>
                </a:solidFill>
                <a:latin typeface="Calibri" pitchFamily="34" charset="0"/>
                <a:ea typeface="Calibri" pitchFamily="34" charset="-122"/>
                <a:cs typeface="Calibri" pitchFamily="34" charset="-120"/>
              </a:rPr>
              <a:t>55 private photos, no identity labels</a:t>
            </a:r>
            <a:endParaRPr lang="en-US" sz="1600" dirty="0"/>
          </a:p>
          <a:p>
            <a:pPr marL="228600" indent="-228600">
              <a:spcAft>
                <a:spcPts val="900"/>
              </a:spcAft>
              <a:buSzPct val="100000"/>
              <a:buChar char="•"/>
            </a:pPr>
            <a:r>
              <a:rPr lang="en-US" sz="1600" dirty="0">
                <a:solidFill>
                  <a:srgbClr val="2F2440"/>
                </a:solidFill>
                <a:latin typeface="Calibri" pitchFamily="34" charset="0"/>
                <a:ea typeface="Calibri" pitchFamily="34" charset="-122"/>
                <a:cs typeface="Calibri" pitchFamily="34" charset="-120"/>
              </a:rPr>
              <a:t>One learning pass didn't beat defaults</a:t>
            </a:r>
            <a:endParaRPr lang="en-US" sz="1600" dirty="0"/>
          </a:p>
          <a:p>
            <a:pPr marL="228600" indent="-228600">
              <a:spcAft>
                <a:spcPts val="900"/>
              </a:spcAft>
              <a:buSzPct val="100000"/>
              <a:buChar char="•"/>
            </a:pPr>
            <a:r>
              <a:rPr lang="en-US" sz="1600" dirty="0">
                <a:solidFill>
                  <a:srgbClr val="2F2440"/>
                </a:solidFill>
                <a:latin typeface="Calibri" pitchFamily="34" charset="0"/>
                <a:ea typeface="Calibri" pitchFamily="34" charset="-122"/>
                <a:cs typeface="Calibri" pitchFamily="34" charset="-120"/>
              </a:rPr>
              <a:t>CPU hosting: slow first load</a:t>
            </a:r>
            <a:endParaRPr lang="en-US" sz="1600" dirty="0"/>
          </a:p>
          <a:p>
            <a:pPr marL="228600" indent="-228600">
              <a:spcAft>
                <a:spcPts val="900"/>
              </a:spcAft>
              <a:buSzPct val="100000"/>
              <a:buChar char="•"/>
            </a:pPr>
            <a:r>
              <a:rPr lang="en-US" sz="1600" dirty="0">
                <a:solidFill>
                  <a:srgbClr val="2F2440"/>
                </a:solidFill>
                <a:latin typeface="Calibri" pitchFamily="34" charset="0"/>
                <a:ea typeface="Calibri" pitchFamily="34" charset="-122"/>
                <a:cs typeface="Calibri" pitchFamily="34" charset="-120"/>
              </a:rPr>
              <a:t>200 photos per batch</a:t>
            </a:r>
            <a:endParaRPr lang="en-US" sz="1600" dirty="0"/>
          </a:p>
          <a:p>
            <a:pPr marL="228600" indent="-228600">
              <a:spcAft>
                <a:spcPts val="900"/>
              </a:spcAft>
              <a:buSzPct val="100000"/>
              <a:buChar char="•"/>
            </a:pPr>
            <a:r>
              <a:rPr lang="en-US" sz="1600" dirty="0">
                <a:solidFill>
                  <a:srgbClr val="2F2440"/>
                </a:solidFill>
                <a:latin typeface="Calibri" pitchFamily="34" charset="0"/>
                <a:ea typeface="Calibri" pitchFamily="34" charset="-122"/>
                <a:cs typeface="Calibri" pitchFamily="34" charset="-120"/>
              </a:rPr>
              <a:t>Enhance needs a paid API</a:t>
            </a:r>
            <a:endParaRPr lang="en-US" sz="1600" dirty="0"/>
          </a:p>
        </p:txBody>
      </p:sp>
      <p:sp>
        <p:nvSpPr>
          <p:cNvPr id="8" name="Shape 6"/>
          <p:cNvSpPr/>
          <p:nvPr/>
        </p:nvSpPr>
        <p:spPr>
          <a:xfrm>
            <a:off x="5074920" y="2011680"/>
            <a:ext cx="4297680" cy="3108960"/>
          </a:xfrm>
          <a:prstGeom prst="roundRect">
            <a:avLst>
              <a:gd name="adj" fmla="val 4118"/>
            </a:avLst>
          </a:prstGeom>
          <a:solidFill>
            <a:srgbClr val="FFFFFF"/>
          </a:solidFill>
          <a:ln/>
          <a:effectLst>
            <a:outerShdw blurRad="177800" dist="38100" dir="5400000" algn="bl" rotWithShape="0">
              <a:srgbClr val="4A345C">
                <a:alpha val="14000"/>
              </a:srgbClr>
            </a:outerShdw>
          </a:effectLst>
        </p:spPr>
        <p:txBody>
          <a:bodyPr/>
          <a:lstStyle/>
          <a:p>
            <a:endParaRPr lang="en-US"/>
          </a:p>
        </p:txBody>
      </p:sp>
      <p:sp>
        <p:nvSpPr>
          <p:cNvPr id="9" name="Shape 7"/>
          <p:cNvSpPr/>
          <p:nvPr/>
        </p:nvSpPr>
        <p:spPr>
          <a:xfrm>
            <a:off x="5440680" y="2468880"/>
            <a:ext cx="164592" cy="164592"/>
          </a:xfrm>
          <a:prstGeom prst="ellipse">
            <a:avLst/>
          </a:prstGeom>
          <a:solidFill>
            <a:srgbClr val="8F7BC6"/>
          </a:solidFill>
          <a:ln/>
        </p:spPr>
        <p:txBody>
          <a:bodyPr/>
          <a:lstStyle/>
          <a:p>
            <a:endParaRPr lang="en-US"/>
          </a:p>
        </p:txBody>
      </p:sp>
      <p:sp>
        <p:nvSpPr>
          <p:cNvPr id="10" name="Text 8"/>
          <p:cNvSpPr txBox="1"/>
          <p:nvPr/>
        </p:nvSpPr>
        <p:spPr>
          <a:xfrm>
            <a:off x="5760720" y="2350008"/>
            <a:ext cx="2743200" cy="411480"/>
          </a:xfrm>
          <a:prstGeom prst="rect">
            <a:avLst/>
          </a:prstGeom>
          <a:noFill/>
          <a:ln/>
        </p:spPr>
        <p:txBody>
          <a:bodyPr wrap="square" lIns="0" tIns="0" rIns="0" bIns="0" rtlCol="0" anchor="t"/>
          <a:lstStyle/>
          <a:p>
            <a:pPr marL="0" indent="0">
              <a:buNone/>
            </a:pPr>
            <a:r>
              <a:rPr lang="en-US" sz="2400" dirty="0">
                <a:solidFill>
                  <a:srgbClr val="2F2440"/>
                </a:solidFill>
                <a:latin typeface="Georgia" pitchFamily="34" charset="0"/>
                <a:ea typeface="Georgia" pitchFamily="34" charset="-122"/>
                <a:cs typeface="Georgia" pitchFamily="34" charset="-120"/>
              </a:rPr>
              <a:t>Next</a:t>
            </a:r>
            <a:endParaRPr lang="en-US" sz="2400" dirty="0"/>
          </a:p>
        </p:txBody>
      </p:sp>
      <p:sp>
        <p:nvSpPr>
          <p:cNvPr id="11" name="Text 9"/>
          <p:cNvSpPr txBox="1"/>
          <p:nvPr/>
        </p:nvSpPr>
        <p:spPr>
          <a:xfrm>
            <a:off x="5440680" y="3108960"/>
            <a:ext cx="3749040" cy="1920240"/>
          </a:xfrm>
          <a:prstGeom prst="rect">
            <a:avLst/>
          </a:prstGeom>
          <a:noFill/>
          <a:ln/>
        </p:spPr>
        <p:txBody>
          <a:bodyPr wrap="square" lIns="0" tIns="0" rIns="0" bIns="0" rtlCol="0" anchor="t"/>
          <a:lstStyle/>
          <a:p>
            <a:pPr marL="228600" indent="-228600">
              <a:spcAft>
                <a:spcPts val="900"/>
              </a:spcAft>
              <a:buSzPct val="100000"/>
              <a:buChar char="•"/>
            </a:pPr>
            <a:r>
              <a:rPr lang="en-US" sz="1600" dirty="0">
                <a:solidFill>
                  <a:srgbClr val="2F2440"/>
                </a:solidFill>
                <a:latin typeface="Calibri" pitchFamily="34" charset="0"/>
                <a:ea typeface="Calibri" pitchFamily="34" charset="-122"/>
                <a:cs typeface="Calibri" pitchFamily="34" charset="-120"/>
              </a:rPr>
              <a:t>Count who's in the frame</a:t>
            </a:r>
            <a:endParaRPr lang="en-US" sz="1600" dirty="0"/>
          </a:p>
          <a:p>
            <a:pPr marL="228600" indent="-228600">
              <a:spcAft>
                <a:spcPts val="900"/>
              </a:spcAft>
              <a:buSzPct val="100000"/>
              <a:buChar char="•"/>
            </a:pPr>
            <a:r>
              <a:rPr lang="en-US" sz="1600" dirty="0">
                <a:solidFill>
                  <a:srgbClr val="2F2440"/>
                </a:solidFill>
                <a:latin typeface="Calibri" pitchFamily="34" charset="0"/>
                <a:ea typeface="Calibri" pitchFamily="34" charset="-122"/>
                <a:cs typeface="Calibri" pitchFamily="34" charset="-120"/>
              </a:rPr>
              <a:t>Keep several shots, show why</a:t>
            </a:r>
            <a:endParaRPr lang="en-US" sz="1600" dirty="0"/>
          </a:p>
          <a:p>
            <a:pPr marL="228600" indent="-228600">
              <a:spcAft>
                <a:spcPts val="900"/>
              </a:spcAft>
              <a:buSzPct val="100000"/>
              <a:buChar char="•"/>
            </a:pPr>
            <a:r>
              <a:rPr lang="en-US" sz="1600" dirty="0">
                <a:solidFill>
                  <a:srgbClr val="2F2440"/>
                </a:solidFill>
                <a:latin typeface="Calibri" pitchFamily="34" charset="0"/>
                <a:ea typeface="Calibri" pitchFamily="34" charset="-122"/>
                <a:cs typeface="Calibri" pitchFamily="34" charset="-120"/>
              </a:rPr>
              <a:t>Bigger study, more repeat questions</a:t>
            </a:r>
            <a:endParaRPr lang="en-US" sz="1600" dirty="0"/>
          </a:p>
          <a:p>
            <a:pPr marL="228600" indent="-228600">
              <a:spcAft>
                <a:spcPts val="900"/>
              </a:spcAft>
              <a:buSzPct val="100000"/>
              <a:buChar char="•"/>
            </a:pPr>
            <a:r>
              <a:rPr lang="en-US" sz="1600" dirty="0">
                <a:solidFill>
                  <a:srgbClr val="2F2440"/>
                </a:solidFill>
                <a:latin typeface="Calibri" pitchFamily="34" charset="0"/>
                <a:ea typeface="Calibri" pitchFamily="34" charset="-122"/>
                <a:cs typeface="Calibri" pitchFamily="34" charset="-120"/>
              </a:rPr>
              <a:t>Labelled public album benchmark</a:t>
            </a:r>
            <a:endParaRPr lang="en-US" sz="1600" dirty="0"/>
          </a:p>
          <a:p>
            <a:pPr marL="228600" indent="-228600">
              <a:spcAft>
                <a:spcPts val="900"/>
              </a:spcAft>
              <a:buSzPct val="100000"/>
              <a:buChar char="•"/>
            </a:pPr>
            <a:r>
              <a:rPr lang="en-US" sz="1600" dirty="0">
                <a:solidFill>
                  <a:srgbClr val="2F2440"/>
                </a:solidFill>
                <a:latin typeface="Calibri" pitchFamily="34" charset="0"/>
                <a:ea typeface="Calibri" pitchFamily="34" charset="-122"/>
                <a:cs typeface="Calibri" pitchFamily="34" charset="-120"/>
              </a:rPr>
              <a:t>Ask the user on unsure faces</a:t>
            </a:r>
            <a:endParaRPr lang="en-US" sz="1600" dirty="0"/>
          </a:p>
        </p:txBody>
      </p:sp>
      <p:pic>
        <p:nvPicPr>
          <p:cNvPr id="12" name="Image 0" descr="C:\Users\himat\AppData\Local\Temp\claude\c--Ai-stuffs-lumina\f3d460ba-f3ac-44b0-bd4c-6f066a888707\scratchpad\deck\assets\lumi_travel.png"/>
          <p:cNvPicPr>
            <a:picLocks noChangeAspect="1"/>
          </p:cNvPicPr>
          <p:nvPr/>
        </p:nvPicPr>
        <p:blipFill>
          <a:blip r:embed="rId4"/>
          <a:stretch>
            <a:fillRect/>
          </a:stretch>
        </p:blipFill>
        <p:spPr>
          <a:xfrm>
            <a:off x="9449562" y="2926080"/>
            <a:ext cx="2209038" cy="2377440"/>
          </a:xfrm>
          <a:prstGeom prst="rect">
            <a:avLst/>
          </a:prstGeom>
        </p:spPr>
      </p:pic>
      <p:sp>
        <p:nvSpPr>
          <p:cNvPr id="14" name="Text 10"/>
          <p:cNvSpPr txBox="1"/>
          <p:nvPr/>
        </p:nvSpPr>
        <p:spPr>
          <a:xfrm>
            <a:off x="548640" y="6419088"/>
            <a:ext cx="1828800" cy="256032"/>
          </a:xfrm>
          <a:prstGeom prst="rect">
            <a:avLst/>
          </a:prstGeom>
          <a:noFill/>
          <a:ln/>
        </p:spPr>
        <p:txBody>
          <a:bodyPr wrap="square" lIns="0" tIns="0" rIns="0" bIns="0" rtlCol="0" anchor="ctr"/>
          <a:lstStyle/>
          <a:p>
            <a:pPr marL="0" indent="0">
              <a:buNone/>
            </a:pPr>
            <a:r>
              <a:rPr lang="en-US" sz="1000" dirty="0">
                <a:solidFill>
                  <a:srgbClr val="7D6D8E"/>
                </a:solidFill>
                <a:latin typeface="Georgia" pitchFamily="34" charset="0"/>
                <a:ea typeface="Georgia" pitchFamily="34" charset="-122"/>
                <a:cs typeface="Georgia" pitchFamily="34" charset="-120"/>
              </a:rPr>
              <a:t>Lumina</a:t>
            </a:r>
            <a:endParaRPr lang="en-US" sz="1000" dirty="0"/>
          </a:p>
        </p:txBody>
      </p:sp>
      <p:sp>
        <p:nvSpPr>
          <p:cNvPr id="15" name="Text 11"/>
          <p:cNvSpPr txBox="1"/>
          <p:nvPr/>
        </p:nvSpPr>
        <p:spPr>
          <a:xfrm>
            <a:off x="10728655" y="6419088"/>
            <a:ext cx="914400" cy="256032"/>
          </a:xfrm>
          <a:prstGeom prst="rect">
            <a:avLst/>
          </a:prstGeom>
          <a:noFill/>
          <a:ln/>
        </p:spPr>
        <p:txBody>
          <a:bodyPr wrap="square" lIns="0" tIns="0" rIns="0" bIns="0" rtlCol="0" anchor="ctr"/>
          <a:lstStyle/>
          <a:p>
            <a:pPr marL="0" indent="0" algn="r">
              <a:buNone/>
            </a:pPr>
            <a:r>
              <a:rPr lang="en-US" sz="1000" dirty="0">
                <a:solidFill>
                  <a:srgbClr val="7D6D8E"/>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914400"/>
            <a:ext cx="5760720" cy="5029200"/>
          </a:xfrm>
          <a:prstGeom prst="roundRect">
            <a:avLst>
              <a:gd name="adj" fmla="val 3636"/>
            </a:avLst>
          </a:prstGeom>
          <a:solidFill>
            <a:srgbClr val="FFFFFF">
              <a:alpha val="78000"/>
            </a:srgbClr>
          </a:solidFill>
          <a:ln/>
          <a:effectLst>
            <a:outerShdw blurRad="177800" dist="38100" dir="5400000" algn="bl" rotWithShape="0">
              <a:srgbClr val="4A345C">
                <a:alpha val="14000"/>
              </a:srgbClr>
            </a:outerShdw>
          </a:effectLst>
        </p:spPr>
        <p:txBody>
          <a:bodyPr/>
          <a:lstStyle/>
          <a:p>
            <a:endParaRPr lang="en-US"/>
          </a:p>
        </p:txBody>
      </p:sp>
      <p:sp>
        <p:nvSpPr>
          <p:cNvPr id="3" name="Text 1"/>
          <p:cNvSpPr txBox="1"/>
          <p:nvPr/>
        </p:nvSpPr>
        <p:spPr>
          <a:xfrm>
            <a:off x="960120" y="1325880"/>
            <a:ext cx="5486400" cy="274320"/>
          </a:xfrm>
          <a:prstGeom prst="rect">
            <a:avLst/>
          </a:prstGeom>
          <a:noFill/>
          <a:ln/>
        </p:spPr>
        <p:txBody>
          <a:bodyPr wrap="square" lIns="0" tIns="0" rIns="0" bIns="0" rtlCol="0" anchor="ctr"/>
          <a:lstStyle/>
          <a:p>
            <a:pPr marL="0" indent="0">
              <a:buNone/>
            </a:pPr>
            <a:r>
              <a:rPr lang="en-US" sz="1100" b="1" kern="0" spc="300" dirty="0">
                <a:solidFill>
                  <a:srgbClr val="8F7BC6"/>
                </a:solidFill>
                <a:latin typeface="Calibri" pitchFamily="34" charset="0"/>
                <a:ea typeface="Calibri" pitchFamily="34" charset="-122"/>
                <a:cs typeface="Calibri" pitchFamily="34" charset="-120"/>
              </a:rPr>
              <a:t>CONCLUSION</a:t>
            </a:r>
            <a:endParaRPr lang="en-US" sz="1100" dirty="0"/>
          </a:p>
        </p:txBody>
      </p:sp>
      <p:sp>
        <p:nvSpPr>
          <p:cNvPr id="4" name="Text 2"/>
          <p:cNvSpPr txBox="1"/>
          <p:nvPr/>
        </p:nvSpPr>
        <p:spPr>
          <a:xfrm>
            <a:off x="960120" y="1645920"/>
            <a:ext cx="5120640" cy="1463040"/>
          </a:xfrm>
          <a:prstGeom prst="rect">
            <a:avLst/>
          </a:prstGeom>
          <a:noFill/>
          <a:ln/>
        </p:spPr>
        <p:txBody>
          <a:bodyPr wrap="square" lIns="0" tIns="0" rIns="0" bIns="0" rtlCol="0" anchor="t"/>
          <a:lstStyle/>
          <a:p>
            <a:pPr marL="0" indent="0">
              <a:buNone/>
            </a:pPr>
            <a:r>
              <a:rPr lang="en-US" sz="4000" dirty="0">
                <a:solidFill>
                  <a:srgbClr val="2F2440"/>
                </a:solidFill>
                <a:latin typeface="Georgia" pitchFamily="34" charset="0"/>
                <a:ea typeface="Georgia" pitchFamily="34" charset="-122"/>
                <a:cs typeface="Georgia" pitchFamily="34" charset="-120"/>
              </a:rPr>
              <a:t>Less scrolling.</a:t>
            </a:r>
            <a:endParaRPr lang="en-US" sz="4000" dirty="0"/>
          </a:p>
          <a:p>
            <a:pPr marL="0" indent="0">
              <a:buNone/>
            </a:pPr>
            <a:r>
              <a:rPr lang="en-US" sz="4000" dirty="0">
                <a:solidFill>
                  <a:srgbClr val="2F2440"/>
                </a:solidFill>
                <a:latin typeface="Georgia" pitchFamily="34" charset="0"/>
                <a:ea typeface="Georgia" pitchFamily="34" charset="-122"/>
                <a:cs typeface="Georgia" pitchFamily="34" charset="-120"/>
              </a:rPr>
              <a:t>More remembering.</a:t>
            </a:r>
            <a:endParaRPr lang="en-US" sz="4000" dirty="0"/>
          </a:p>
        </p:txBody>
      </p:sp>
      <p:sp>
        <p:nvSpPr>
          <p:cNvPr id="5" name="Text 3"/>
          <p:cNvSpPr txBox="1"/>
          <p:nvPr/>
        </p:nvSpPr>
        <p:spPr>
          <a:xfrm>
            <a:off x="960120" y="3648456"/>
            <a:ext cx="457200" cy="320040"/>
          </a:xfrm>
          <a:prstGeom prst="rect">
            <a:avLst/>
          </a:prstGeom>
          <a:noFill/>
          <a:ln/>
        </p:spPr>
        <p:txBody>
          <a:bodyPr wrap="square" lIns="0" tIns="0" rIns="0" bIns="0" rtlCol="0" anchor="t"/>
          <a:lstStyle/>
          <a:p>
            <a:pPr marL="0" indent="0">
              <a:buNone/>
            </a:pPr>
            <a:r>
              <a:rPr lang="en-US" sz="1200" b="1" kern="0" spc="200" dirty="0">
                <a:solidFill>
                  <a:srgbClr val="8F7BC6"/>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1463040" y="3611880"/>
            <a:ext cx="4480560" cy="365760"/>
          </a:xfrm>
          <a:prstGeom prst="rect">
            <a:avLst/>
          </a:prstGeom>
          <a:noFill/>
          <a:ln/>
        </p:spPr>
        <p:txBody>
          <a:bodyPr wrap="square" lIns="0" tIns="0" rIns="0" bIns="0" rtlCol="0" anchor="t"/>
          <a:lstStyle/>
          <a:p>
            <a:pPr marL="0" indent="0">
              <a:buNone/>
            </a:pPr>
            <a:r>
              <a:rPr lang="en-US" sz="1700" dirty="0">
                <a:solidFill>
                  <a:srgbClr val="2F2440"/>
                </a:solidFill>
                <a:latin typeface="Calibri" pitchFamily="34" charset="0"/>
                <a:ea typeface="Calibri" pitchFamily="34" charset="-122"/>
                <a:cs typeface="Calibri" pitchFamily="34" charset="-120"/>
              </a:rPr>
              <a:t>Finds the people and the moments.</a:t>
            </a:r>
            <a:endParaRPr lang="en-US" sz="1700" dirty="0"/>
          </a:p>
        </p:txBody>
      </p:sp>
      <p:sp>
        <p:nvSpPr>
          <p:cNvPr id="7" name="Text 5"/>
          <p:cNvSpPr txBox="1"/>
          <p:nvPr/>
        </p:nvSpPr>
        <p:spPr>
          <a:xfrm>
            <a:off x="960120" y="4306824"/>
            <a:ext cx="457200" cy="320040"/>
          </a:xfrm>
          <a:prstGeom prst="rect">
            <a:avLst/>
          </a:prstGeom>
          <a:noFill/>
          <a:ln/>
        </p:spPr>
        <p:txBody>
          <a:bodyPr wrap="square" lIns="0" tIns="0" rIns="0" bIns="0" rtlCol="0" anchor="t"/>
          <a:lstStyle/>
          <a:p>
            <a:pPr marL="0" indent="0">
              <a:buNone/>
            </a:pPr>
            <a:r>
              <a:rPr lang="en-US" sz="1200" b="1" kern="0" spc="200" dirty="0">
                <a:solidFill>
                  <a:srgbClr val="8F7BC6"/>
                </a:solidFill>
                <a:latin typeface="Calibri" pitchFamily="34" charset="0"/>
                <a:ea typeface="Calibri" pitchFamily="34" charset="-122"/>
                <a:cs typeface="Calibri" pitchFamily="34" charset="-120"/>
              </a:rPr>
              <a:t>02</a:t>
            </a:r>
            <a:endParaRPr lang="en-US" sz="1200" dirty="0"/>
          </a:p>
        </p:txBody>
      </p:sp>
      <p:sp>
        <p:nvSpPr>
          <p:cNvPr id="8" name="Text 6"/>
          <p:cNvSpPr txBox="1"/>
          <p:nvPr/>
        </p:nvSpPr>
        <p:spPr>
          <a:xfrm>
            <a:off x="1463040" y="4270248"/>
            <a:ext cx="4480560" cy="365760"/>
          </a:xfrm>
          <a:prstGeom prst="rect">
            <a:avLst/>
          </a:prstGeom>
          <a:noFill/>
          <a:ln/>
        </p:spPr>
        <p:txBody>
          <a:bodyPr wrap="square" lIns="0" tIns="0" rIns="0" bIns="0" rtlCol="0" anchor="t"/>
          <a:lstStyle/>
          <a:p>
            <a:pPr marL="0" indent="0">
              <a:buNone/>
            </a:pPr>
            <a:r>
              <a:rPr lang="en-US" sz="1700" dirty="0">
                <a:solidFill>
                  <a:srgbClr val="2F2440"/>
                </a:solidFill>
                <a:latin typeface="Calibri" pitchFamily="34" charset="0"/>
                <a:ea typeface="Calibri" pitchFamily="34" charset="-122"/>
                <a:cs typeface="Calibri" pitchFamily="34" charset="-120"/>
              </a:rPr>
              <a:t>Picks the best shot, and says why.</a:t>
            </a:r>
            <a:endParaRPr lang="en-US" sz="1700" dirty="0"/>
          </a:p>
        </p:txBody>
      </p:sp>
      <p:sp>
        <p:nvSpPr>
          <p:cNvPr id="9" name="Text 7"/>
          <p:cNvSpPr txBox="1"/>
          <p:nvPr/>
        </p:nvSpPr>
        <p:spPr>
          <a:xfrm>
            <a:off x="960120" y="4965192"/>
            <a:ext cx="457200" cy="320040"/>
          </a:xfrm>
          <a:prstGeom prst="rect">
            <a:avLst/>
          </a:prstGeom>
          <a:noFill/>
          <a:ln/>
        </p:spPr>
        <p:txBody>
          <a:bodyPr wrap="square" lIns="0" tIns="0" rIns="0" bIns="0" rtlCol="0" anchor="t"/>
          <a:lstStyle/>
          <a:p>
            <a:pPr marL="0" indent="0">
              <a:buNone/>
            </a:pPr>
            <a:r>
              <a:rPr lang="en-US" sz="1200" b="1" kern="0" spc="200" dirty="0">
                <a:solidFill>
                  <a:srgbClr val="8F7BC6"/>
                </a:solidFill>
                <a:latin typeface="Calibri" pitchFamily="34" charset="0"/>
                <a:ea typeface="Calibri" pitchFamily="34" charset="-122"/>
                <a:cs typeface="Calibri" pitchFamily="34" charset="-120"/>
              </a:rPr>
              <a:t>03</a:t>
            </a:r>
            <a:endParaRPr lang="en-US" sz="1200" dirty="0"/>
          </a:p>
        </p:txBody>
      </p:sp>
      <p:sp>
        <p:nvSpPr>
          <p:cNvPr id="10" name="Text 8"/>
          <p:cNvSpPr txBox="1"/>
          <p:nvPr/>
        </p:nvSpPr>
        <p:spPr>
          <a:xfrm>
            <a:off x="1463040" y="4928616"/>
            <a:ext cx="4480560" cy="365760"/>
          </a:xfrm>
          <a:prstGeom prst="rect">
            <a:avLst/>
          </a:prstGeom>
          <a:noFill/>
          <a:ln/>
        </p:spPr>
        <p:txBody>
          <a:bodyPr wrap="square" lIns="0" tIns="0" rIns="0" bIns="0" rtlCol="0" anchor="t"/>
          <a:lstStyle/>
          <a:p>
            <a:pPr marL="0" indent="0">
              <a:buNone/>
            </a:pPr>
            <a:r>
              <a:rPr lang="en-US" sz="1700" dirty="0">
                <a:solidFill>
                  <a:srgbClr val="2F2440"/>
                </a:solidFill>
                <a:latin typeface="Calibri" pitchFamily="34" charset="0"/>
                <a:ea typeface="Calibri" pitchFamily="34" charset="-122"/>
                <a:cs typeface="Calibri" pitchFamily="34" charset="-120"/>
              </a:rPr>
              <a:t>Learns you, then makes something to keep.</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1737360"/>
            <a:ext cx="6400800" cy="1280160"/>
          </a:xfrm>
          <a:prstGeom prst="rect">
            <a:avLst/>
          </a:prstGeom>
          <a:noFill/>
          <a:ln/>
        </p:spPr>
        <p:txBody>
          <a:bodyPr wrap="square" lIns="0" tIns="0" rIns="0" bIns="0" rtlCol="0" anchor="ctr"/>
          <a:lstStyle/>
          <a:p>
            <a:pPr marL="0" indent="0">
              <a:buNone/>
            </a:pPr>
            <a:r>
              <a:rPr lang="en-US" sz="8000" dirty="0">
                <a:solidFill>
                  <a:srgbClr val="FFFFFF"/>
                </a:solidFill>
                <a:latin typeface="Georgia" pitchFamily="34" charset="0"/>
                <a:ea typeface="Georgia" pitchFamily="34" charset="-122"/>
                <a:cs typeface="Georgia" pitchFamily="34" charset="-120"/>
              </a:rPr>
              <a:t>Questions?</a:t>
            </a:r>
            <a:endParaRPr lang="en-US" sz="8000" dirty="0"/>
          </a:p>
        </p:txBody>
      </p:sp>
      <p:sp>
        <p:nvSpPr>
          <p:cNvPr id="3" name="Text 1"/>
          <p:cNvSpPr txBox="1"/>
          <p:nvPr/>
        </p:nvSpPr>
        <p:spPr>
          <a:xfrm>
            <a:off x="777240" y="3063240"/>
            <a:ext cx="6400800" cy="457200"/>
          </a:xfrm>
          <a:prstGeom prst="rect">
            <a:avLst/>
          </a:prstGeom>
          <a:noFill/>
          <a:ln/>
        </p:spPr>
        <p:txBody>
          <a:bodyPr wrap="square" lIns="0" tIns="0" rIns="0" bIns="0" rtlCol="0" anchor="ctr"/>
          <a:lstStyle/>
          <a:p>
            <a:pPr marL="0" indent="0">
              <a:buNone/>
            </a:pPr>
            <a:r>
              <a:rPr lang="en-US" sz="2200" i="1" dirty="0">
                <a:solidFill>
                  <a:srgbClr val="FFFFFF"/>
                </a:solidFill>
                <a:latin typeface="Georgia" pitchFamily="34" charset="0"/>
                <a:ea typeface="Georgia" pitchFamily="34" charset="-122"/>
                <a:cs typeface="Georgia" pitchFamily="34" charset="-120"/>
              </a:rPr>
              <a:t>Thank you, from us and from Lumi.</a:t>
            </a:r>
            <a:endParaRPr lang="en-US" sz="2200" dirty="0"/>
          </a:p>
        </p:txBody>
      </p:sp>
      <p:sp>
        <p:nvSpPr>
          <p:cNvPr id="4" name="Text 2"/>
          <p:cNvSpPr txBox="1"/>
          <p:nvPr/>
        </p:nvSpPr>
        <p:spPr>
          <a:xfrm>
            <a:off x="777240" y="5577840"/>
            <a:ext cx="6400800" cy="640080"/>
          </a:xfrm>
          <a:prstGeom prst="rect">
            <a:avLst/>
          </a:prstGeom>
          <a:noFill/>
          <a:ln/>
        </p:spPr>
        <p:txBody>
          <a:bodyPr wrap="square" lIns="0" tIns="0" rIns="0" bIns="0" rtlCol="0" anchor="ctr"/>
          <a:lstStyle/>
          <a:p>
            <a:pPr marL="0" indent="0">
              <a:buNone/>
            </a:pPr>
            <a:r>
              <a:rPr lang="en-US" sz="1500" b="1" dirty="0">
                <a:solidFill>
                  <a:srgbClr val="8F7BC6"/>
                </a:solidFill>
                <a:latin typeface="Calibri" pitchFamily="34" charset="0"/>
                <a:ea typeface="Calibri" pitchFamily="34" charset="-122"/>
                <a:cs typeface="Calibri" pitchFamily="34" charset="-120"/>
              </a:rPr>
              <a:t>Try it</a:t>
            </a:r>
            <a:endParaRPr lang="en-US" sz="1500" dirty="0"/>
          </a:p>
          <a:p>
            <a:pPr marL="0" indent="0">
              <a:buNone/>
            </a:pPr>
            <a:r>
              <a:rPr lang="en-US" sz="1500" dirty="0">
                <a:solidFill>
                  <a:srgbClr val="2F2440"/>
                </a:solidFill>
                <a:latin typeface="Calibri" pitchFamily="34" charset="0"/>
                <a:ea typeface="Calibri" pitchFamily="34" charset="-122"/>
                <a:cs typeface="Calibri" pitchFamily="34" charset="-120"/>
              </a:rPr>
              <a:t>lumina-production-639d.up.railway.app</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772</TotalTime>
  <Words>2112</Words>
  <Application>Microsoft Office PowerPoint</Application>
  <PresentationFormat>Widescreen</PresentationFormat>
  <Paragraphs>252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Lumina — Capstone Presentation</dc:title>
  <dc:subject>PptxGenJS Presentation</dc:subject>
  <dc:creator>Ong Qing Quan, Agustinus Benyamin Prasetyo</dc:creator>
  <cp:lastModifiedBy>qing quan ong</cp:lastModifiedBy>
  <cp:revision>5</cp:revision>
  <dcterms:created xsi:type="dcterms:W3CDTF">2026-09-26T16:32:45Z</dcterms:created>
  <dcterms:modified xsi:type="dcterms:W3CDTF">2026-10-04T10:21:27Z</dcterms:modified>
</cp:coreProperties>
</file>