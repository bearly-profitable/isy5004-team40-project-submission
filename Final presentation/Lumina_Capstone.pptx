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8" d="100"/>
          <a:sy n="88" d="100"/>
        </p:scale>
        <p:origin x="228"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Weight</c:v>
                </c:pt>
              </c:strCache>
            </c:strRef>
          </c:tx>
          <c:spPr>
            <a:solidFill>
              <a:srgbClr val="8F7BC6"/>
            </a:solidFill>
            <a:effectLst/>
          </c:spPr>
          <c:invertIfNegative val="0"/>
          <c:dLbls>
            <c:numFmt formatCode="0&quot;%&quot;" sourceLinked="0"/>
            <c:spPr>
              <a:noFill/>
              <a:ln>
                <a:noFill/>
              </a:ln>
              <a:effectLst/>
            </c:spPr>
            <c:txPr>
              <a:bodyPr/>
              <a:lstStyle/>
              <a:p>
                <a:pPr>
                  <a:defRPr sz="1200" b="0" i="0" u="none" strike="noStrike">
                    <a:solidFill>
                      <a:srgbClr val="2F2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Centrality</c:v>
                </c:pt>
                <c:pt idx="1">
                  <c:v>Aesthetics (NIMA)</c:v>
                </c:pt>
                <c:pt idx="2">
                  <c:v>Face sharpness</c:v>
                </c:pt>
                <c:pt idx="3">
                  <c:v>Face size</c:v>
                </c:pt>
                <c:pt idx="4">
                  <c:v>Detection conf.</c:v>
                </c:pt>
                <c:pt idx="5">
                  <c:v>Pose</c:v>
                </c:pt>
                <c:pt idx="6">
                  <c:v>Eyes open</c:v>
                </c:pt>
              </c:strCache>
            </c:strRef>
          </c:cat>
          <c:val>
            <c:numRef>
              <c:f>Sheet1!$B$2:$B$8</c:f>
              <c:numCache>
                <c:formatCode>General</c:formatCode>
                <c:ptCount val="7"/>
                <c:pt idx="0">
                  <c:v>25</c:v>
                </c:pt>
                <c:pt idx="1">
                  <c:v>25</c:v>
                </c:pt>
                <c:pt idx="2">
                  <c:v>15</c:v>
                </c:pt>
                <c:pt idx="3">
                  <c:v>10</c:v>
                </c:pt>
                <c:pt idx="4">
                  <c:v>10</c:v>
                </c:pt>
                <c:pt idx="5">
                  <c:v>10</c:v>
                </c:pt>
                <c:pt idx="6">
                  <c:v>5</c:v>
                </c:pt>
              </c:numCache>
            </c:numRef>
          </c:val>
          <c:extLst>
            <c:ext xmlns:c16="http://schemas.microsoft.com/office/drawing/2014/chart" uri="{C3380CC4-5D6E-409C-BE32-E72D297353CC}">
              <c16:uniqueId val="{00000000-8263-44B7-88AC-B2B81BE0D4B3}"/>
            </c:ext>
          </c:extLst>
        </c:ser>
        <c:dLbls>
          <c:showLegendKey val="0"/>
          <c:showVal val="1"/>
          <c:showCatName val="0"/>
          <c:showSerName val="0"/>
          <c:showPercent val="0"/>
          <c:showBubbleSize val="0"/>
        </c:dLbls>
        <c:gapWidth val="5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2F2440"/>
                </a:solidFill>
                <a:latin typeface="Calibri"/>
              </a:defRPr>
            </a:pPr>
            <a:endParaRPr lang="en-US"/>
          </a:p>
        </c:txPr>
        <c:crossAx val="2094734552"/>
        <c:crosses val="autoZero"/>
        <c:auto val="1"/>
        <c:lblAlgn val="ctr"/>
        <c:lblOffset val="100"/>
        <c:noMultiLvlLbl val="1"/>
      </c:catAx>
      <c:valAx>
        <c:axId val="2094734552"/>
        <c:scaling>
          <c:orientation val="minMax"/>
          <c:max val="3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Kendall tau</c:v>
                </c:pt>
              </c:strCache>
            </c:strRef>
          </c:tx>
          <c:spPr>
            <a:solidFill>
              <a:srgbClr val="E38C9E"/>
            </a:solidFill>
            <a:effectLst/>
          </c:spPr>
          <c:invertIfNegative val="0"/>
          <c:dPt>
            <c:idx val="0"/>
            <c:invertIfNegative val="0"/>
            <c:bubble3D val="0"/>
            <c:extLst>
              <c:ext xmlns:c16="http://schemas.microsoft.com/office/drawing/2014/chart" uri="{C3380CC4-5D6E-409C-BE32-E72D297353CC}">
                <c16:uniqueId val="{00000001-5AED-42AD-9D2E-C211CACF81FD}"/>
              </c:ext>
            </c:extLst>
          </c:dPt>
          <c:dPt>
            <c:idx val="1"/>
            <c:invertIfNegative val="0"/>
            <c:bubble3D val="0"/>
            <c:extLst>
              <c:ext xmlns:c16="http://schemas.microsoft.com/office/drawing/2014/chart" uri="{C3380CC4-5D6E-409C-BE32-E72D297353CC}">
                <c16:uniqueId val="{00000003-5AED-42AD-9D2E-C211CACF81FD}"/>
              </c:ext>
            </c:extLst>
          </c:dPt>
          <c:dPt>
            <c:idx val="2"/>
            <c:invertIfNegative val="0"/>
            <c:bubble3D val="0"/>
            <c:spPr>
              <a:solidFill>
                <a:srgbClr val="C4B4E6"/>
              </a:solidFill>
              <a:effectLst/>
            </c:spPr>
            <c:extLst>
              <c:ext xmlns:c16="http://schemas.microsoft.com/office/drawing/2014/chart" uri="{C3380CC4-5D6E-409C-BE32-E72D297353CC}">
                <c16:uniqueId val="{00000005-5AED-42AD-9D2E-C211CACF81FD}"/>
              </c:ext>
            </c:extLst>
          </c:dPt>
          <c:dPt>
            <c:idx val="3"/>
            <c:invertIfNegative val="0"/>
            <c:bubble3D val="0"/>
            <c:spPr>
              <a:solidFill>
                <a:srgbClr val="C4B4E6"/>
              </a:solidFill>
              <a:effectLst/>
            </c:spPr>
            <c:extLst>
              <c:ext xmlns:c16="http://schemas.microsoft.com/office/drawing/2014/chart" uri="{C3380CC4-5D6E-409C-BE32-E72D297353CC}">
                <c16:uniqueId val="{00000007-5AED-42AD-9D2E-C211CACF81FD}"/>
              </c:ext>
            </c:extLst>
          </c:dPt>
          <c:dPt>
            <c:idx val="4"/>
            <c:invertIfNegative val="0"/>
            <c:bubble3D val="0"/>
            <c:spPr>
              <a:solidFill>
                <a:srgbClr val="C4B4E6"/>
              </a:solidFill>
              <a:effectLst/>
            </c:spPr>
            <c:extLst>
              <c:ext xmlns:c16="http://schemas.microsoft.com/office/drawing/2014/chart" uri="{C3380CC4-5D6E-409C-BE32-E72D297353CC}">
                <c16:uniqueId val="{00000009-5AED-42AD-9D2E-C211CACF81FD}"/>
              </c:ext>
            </c:extLst>
          </c:dPt>
          <c:dPt>
            <c:idx val="5"/>
            <c:invertIfNegative val="0"/>
            <c:bubble3D val="0"/>
            <c:spPr>
              <a:solidFill>
                <a:srgbClr val="C4B4E6"/>
              </a:solidFill>
              <a:effectLst/>
            </c:spPr>
            <c:extLst>
              <c:ext xmlns:c16="http://schemas.microsoft.com/office/drawing/2014/chart" uri="{C3380CC4-5D6E-409C-BE32-E72D297353CC}">
                <c16:uniqueId val="{0000000B-5AED-42AD-9D2E-C211CACF81FD}"/>
              </c:ext>
            </c:extLst>
          </c:dPt>
          <c:dPt>
            <c:idx val="6"/>
            <c:invertIfNegative val="0"/>
            <c:bubble3D val="0"/>
            <c:spPr>
              <a:solidFill>
                <a:srgbClr val="C4B4E6"/>
              </a:solidFill>
              <a:effectLst/>
            </c:spPr>
            <c:extLst>
              <c:ext xmlns:c16="http://schemas.microsoft.com/office/drawing/2014/chart" uri="{C3380CC4-5D6E-409C-BE32-E72D297353CC}">
                <c16:uniqueId val="{0000000D-5AED-42AD-9D2E-C211CACF81FD}"/>
              </c:ext>
            </c:extLst>
          </c:dPt>
          <c:dLbls>
            <c:numFmt formatCode="0.00" sourceLinked="0"/>
            <c:spPr>
              <a:noFill/>
              <a:ln>
                <a:noFill/>
              </a:ln>
              <a:effectLst/>
            </c:spPr>
            <c:txPr>
              <a:bodyPr/>
              <a:lstStyle/>
              <a:p>
                <a:pPr>
                  <a:defRPr sz="1100" b="0" i="0" u="none" strike="noStrike">
                    <a:solidFill>
                      <a:srgbClr val="2F244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Sharpness</c:v>
                </c:pt>
                <c:pt idx="1">
                  <c:v>Face size</c:v>
                </c:pt>
                <c:pt idx="2">
                  <c:v>Pose</c:v>
                </c:pt>
                <c:pt idx="3">
                  <c:v>NIMA</c:v>
                </c:pt>
                <c:pt idx="4">
                  <c:v>Centrality</c:v>
                </c:pt>
                <c:pt idx="5">
                  <c:v>Detection</c:v>
                </c:pt>
                <c:pt idx="6">
                  <c:v>Eyes open</c:v>
                </c:pt>
              </c:strCache>
            </c:strRef>
          </c:cat>
          <c:val>
            <c:numRef>
              <c:f>Sheet1!$B$2:$B$8</c:f>
              <c:numCache>
                <c:formatCode>General</c:formatCode>
                <c:ptCount val="7"/>
                <c:pt idx="0">
                  <c:v>0.33</c:v>
                </c:pt>
                <c:pt idx="1">
                  <c:v>0.33</c:v>
                </c:pt>
                <c:pt idx="2">
                  <c:v>0.44</c:v>
                </c:pt>
                <c:pt idx="3">
                  <c:v>0.56000000000000005</c:v>
                </c:pt>
                <c:pt idx="4">
                  <c:v>0.67</c:v>
                </c:pt>
                <c:pt idx="5">
                  <c:v>0.78</c:v>
                </c:pt>
                <c:pt idx="6">
                  <c:v>1</c:v>
                </c:pt>
              </c:numCache>
            </c:numRef>
          </c:val>
          <c:extLst>
            <c:ext xmlns:c16="http://schemas.microsoft.com/office/drawing/2014/chart" uri="{C3380CC4-5D6E-409C-BE32-E72D297353CC}">
              <c16:uniqueId val="{0000000E-5AED-42AD-9D2E-C211CACF81FD}"/>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F2440"/>
                </a:solidFill>
                <a:latin typeface="Calibri"/>
              </a:defRPr>
            </a:pPr>
            <a:endParaRPr lang="en-US"/>
          </a:p>
        </c:txPr>
        <c:crossAx val="2094734552"/>
        <c:crosses val="autoZero"/>
        <c:auto val="1"/>
        <c:lblAlgn val="ctr"/>
        <c:lblOffset val="100"/>
        <c:noMultiLvlLbl val="1"/>
      </c:catAx>
      <c:valAx>
        <c:axId val="2094734552"/>
        <c:scaling>
          <c:orientation val="minMax"/>
          <c:max val="1.2"/>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090891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presenting Lumina. It's a photo curator: you give it a pile of photos from a trip or an event, and it hands back the best shot of each person at each moment, with a reason. The little bear is Lumi, our mascot. You'll see Lumi a lot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has this problem. One dinner turns into forty photos: burst shots, someone blinking, the same pose four times. Picking the keeper is slow, and people aren't consistent about it. These four photos are one moment from our own test set. Two have closed eyes.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Lumina does four things. It groups photos into moments, recognises who's in them, picks the best shot, and explains the pick in plain words. Everything runs on our own backend. Photos only go to a third party if you ask for Enhance or AI captions.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flow. Upload a batch. Lumi narrates each stage while the models run. You land in a gallery organised by moment and person, with a best shot already picked. Then you keep it: a printable album, a short video, or a zip. [Live demo here if time allows: lumina-production-639d.up.railway.app]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photo is read four ways. ArcFace for faces, YOLOv8 plus OSNet for bodies, DINOv3 for the scene, and CLIP for meaning. Those feed three answers: who is in it, which moment it belongs to, and which shot is best. Features are cached by the file's hash, so a photo is never analysed twice.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Faces alone fail when someone turns away. So each detection gets a fused embedding: face and body concatenated, with the face weighted by how much we trust it. Alpha never drops below 0.5, so a visible face always leads. Agglomerative clustering then groups people across the whole set. On screen, Spotlight on one person highlights them in every group photo.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each moment, seven signals are normalised and combined: how representative the photo is of the scene, NIMA aesthetics, face sharpness, size, detection confidence, pose and open eyes. The winner comes with an explanation generated from the signal differences, for example 'beat the runner-up mainly on face sharpness'. Users can see the full breakdown.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swap in a photo you prefer, that's a pairwise signal: this one beats that one. We take one Bradley-Terry gradient step on the difference in signal vectors, pulled gently back toward the defaults. The profile shows your learned weights against the defaults. On synthetic users it converges in 20 to 60 swaps.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curation is done, you can make something. A printable PDF album where Lumi holds your photos, CLIP search in plain words like 'eating lunch together', a 1080p video cut to the beat, a small 3D island where Lumi walks among your moments, and Cleanup, which sets aside duplicates and blinks without deleting anything.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Lumi is our personal touch. Each moment is labelled zero-shot with CLIP, and that label chooses Lumi's outfit: sunglasses for the beach, a party hat for a birthday. The same mapping is used in the gallery, the album and the video. All 30 poses were generated once, offline, under a hard spending cap. The whole mascot cost about $2.60. Outfits are colour matrices, not extra artwork.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Semester 1 report listed six limitations. Each one is now addressed: fixed weights became preference learning; full recomputation became a hash-keyed feature cache; black-box picks now come with reasons; we added CLIP search; MMR gives Quality, Balanced and Diverse selection; and identity moved from body-only HDBSCAN to face-plus-body fusion.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clustering reached a silhouette of 0.775, finding 7 moments. The scorer is stable: perturbing any weight by 20 percent changed the top pick once. Enhancement keeps faces: ArcFace similarity 0.96 between original and enhanced. Moving upload off the critical path made it 5.7 times faster. The ablation shows sharpness and face size drive the ranking. Caveat: these come from a small labelled set, so we read them as indicative.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our labelled evaluation set is small, the free CPU hosting makes the first load slow, and batches are capped at 200. Next, we'd add timestamps and GPS to separate moments more sharply, ask the user about faces the model is unsure of, and move toward on-device processing.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Lumina finds the people and the moments, picks the best shot and explains it, learns your taste, and turns the result into something you keep. Less time scrolling, more time remembering.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We're happy to take questions. Likely ones: why agglomerative over HDBSCAN for identity (fusion space and stability on small sets); how the explanation is generated (signal deltas vs runner-up); privacy (all inference on our backend; third-party only for Enhance/captions); why a mascot (makes waiting and results feel friendly, and it's reused consistently across app, album and video).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9.jpeg"/><Relationship Id="rId7"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19.jpeg"/><Relationship Id="rId7"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77240" y="1417320"/>
            <a:ext cx="5486400" cy="274320"/>
          </a:xfrm>
          <a:prstGeom prst="rect">
            <a:avLst/>
          </a:prstGeom>
          <a:noFill/>
          <a:ln/>
        </p:spPr>
        <p:txBody>
          <a:bodyPr wrap="square" lIns="0" tIns="0" rIns="0" bIns="0" rtlCol="0" anchor="ctr"/>
          <a:lstStyle/>
          <a:p>
            <a:pPr marL="0" indent="0">
              <a:buNone/>
            </a:pPr>
            <a:r>
              <a:rPr lang="en-US" sz="1100" b="1" kern="0" spc="300" dirty="0">
                <a:solidFill>
                  <a:srgbClr val="FFFFFF"/>
                </a:solidFill>
                <a:latin typeface="Calibri" pitchFamily="34" charset="0"/>
                <a:ea typeface="Calibri" pitchFamily="34" charset="-122"/>
                <a:cs typeface="Calibri" pitchFamily="34" charset="-120"/>
              </a:rPr>
              <a:t>NUS-ISS  ·  ISY5004 CAPSTONE</a:t>
            </a:r>
            <a:endParaRPr lang="en-US" sz="1100" dirty="0"/>
          </a:p>
        </p:txBody>
      </p:sp>
      <p:sp>
        <p:nvSpPr>
          <p:cNvPr id="3" name="Text 1"/>
          <p:cNvSpPr txBox="1"/>
          <p:nvPr/>
        </p:nvSpPr>
        <p:spPr>
          <a:xfrm>
            <a:off x="731520" y="1691640"/>
            <a:ext cx="5486400" cy="1371600"/>
          </a:xfrm>
          <a:prstGeom prst="rect">
            <a:avLst/>
          </a:prstGeom>
          <a:noFill/>
          <a:ln/>
        </p:spPr>
        <p:txBody>
          <a:bodyPr wrap="square" lIns="0" tIns="0" rIns="0" bIns="0" rtlCol="0" anchor="ctr"/>
          <a:lstStyle/>
          <a:p>
            <a:pPr marL="0" indent="0">
              <a:buNone/>
            </a:pPr>
            <a:r>
              <a:rPr lang="en-US" sz="9600" dirty="0">
                <a:solidFill>
                  <a:srgbClr val="FFFFFF"/>
                </a:solidFill>
                <a:latin typeface="Georgia" pitchFamily="34" charset="0"/>
                <a:ea typeface="Georgia" pitchFamily="34" charset="-122"/>
                <a:cs typeface="Georgia" pitchFamily="34" charset="-120"/>
              </a:rPr>
              <a:t>Lumina</a:t>
            </a:r>
            <a:endParaRPr lang="en-US" sz="9600" dirty="0"/>
          </a:p>
        </p:txBody>
      </p:sp>
      <p:sp>
        <p:nvSpPr>
          <p:cNvPr id="4" name="Text 2"/>
          <p:cNvSpPr txBox="1"/>
          <p:nvPr/>
        </p:nvSpPr>
        <p:spPr>
          <a:xfrm>
            <a:off x="777240" y="3063240"/>
            <a:ext cx="5486400" cy="457200"/>
          </a:xfrm>
          <a:prstGeom prst="rect">
            <a:avLst/>
          </a:prstGeom>
          <a:noFill/>
          <a:ln/>
        </p:spPr>
        <p:txBody>
          <a:bodyPr wrap="square" lIns="0" tIns="0" rIns="0" bIns="0" rtlCol="0" anchor="ctr"/>
          <a:lstStyle/>
          <a:p>
            <a:pPr marL="0" indent="0">
              <a:buNone/>
            </a:pPr>
            <a:r>
              <a:rPr lang="en-US" sz="2400" i="1" dirty="0">
                <a:solidFill>
                  <a:srgbClr val="FFFFFF"/>
                </a:solidFill>
                <a:latin typeface="Georgia" pitchFamily="34" charset="0"/>
                <a:ea typeface="Georgia" pitchFamily="34" charset="-122"/>
                <a:cs typeface="Georgia" pitchFamily="34" charset="-120"/>
              </a:rPr>
              <a:t>Your best photos, found for you.</a:t>
            </a:r>
            <a:endParaRPr lang="en-US" sz="2400" dirty="0"/>
          </a:p>
        </p:txBody>
      </p:sp>
      <p:sp>
        <p:nvSpPr>
          <p:cNvPr id="5" name="Text 3"/>
          <p:cNvSpPr txBox="1"/>
          <p:nvPr/>
        </p:nvSpPr>
        <p:spPr>
          <a:xfrm>
            <a:off x="777240" y="5623560"/>
            <a:ext cx="6400800" cy="640080"/>
          </a:xfrm>
          <a:prstGeom prst="rect">
            <a:avLst/>
          </a:prstGeom>
          <a:noFill/>
          <a:ln/>
        </p:spPr>
        <p:txBody>
          <a:bodyPr wrap="square" lIns="0" tIns="0" rIns="0" bIns="0" rtlCol="0" anchor="ctr"/>
          <a:lstStyle/>
          <a:p>
            <a:pPr marL="0" indent="0">
              <a:spcAft>
                <a:spcPts val="200"/>
              </a:spcAft>
              <a:buNone/>
            </a:pPr>
            <a:r>
              <a:rPr lang="en-US" sz="1400" b="1" dirty="0">
                <a:solidFill>
                  <a:srgbClr val="2F2440"/>
                </a:solidFill>
                <a:latin typeface="Calibri" pitchFamily="34" charset="0"/>
                <a:ea typeface="Calibri" pitchFamily="34" charset="-122"/>
                <a:cs typeface="Calibri" pitchFamily="34" charset="-120"/>
              </a:rPr>
              <a:t>Ong Qing Quan  ·  Agustinus Benyamin Prasetyo</a:t>
            </a:r>
            <a:endParaRPr lang="en-US" sz="1400" dirty="0"/>
          </a:p>
          <a:p>
            <a:pPr marL="0" indent="0">
              <a:spcAft>
                <a:spcPts val="200"/>
              </a:spcAft>
              <a:buNone/>
            </a:pPr>
            <a:r>
              <a:rPr lang="en-US" sz="1400" dirty="0">
                <a:solidFill>
                  <a:srgbClr val="7D6D8E"/>
                </a:solidFill>
                <a:latin typeface="Calibri" pitchFamily="34" charset="0"/>
                <a:ea typeface="Calibri" pitchFamily="34" charset="-122"/>
                <a:cs typeface="Calibri" pitchFamily="34" charset="-120"/>
              </a:rPr>
              <a:t>AIS Group 40</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01  ·  THE PROBLEM</a:t>
            </a:r>
            <a:endParaRPr lang="en-US" sz="1100" dirty="0"/>
          </a:p>
        </p:txBody>
      </p:sp>
      <p:sp>
        <p:nvSpPr>
          <p:cNvPr id="3" name="Text 1"/>
          <p:cNvSpPr txBox="1"/>
          <p:nvPr/>
        </p:nvSpPr>
        <p:spPr>
          <a:xfrm>
            <a:off x="548640" y="1005840"/>
            <a:ext cx="5852160" cy="146304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Hundreds of photos.</a:t>
            </a:r>
            <a:endParaRPr lang="en-US" sz="3800" dirty="0"/>
          </a:p>
          <a:p>
            <a:pPr marL="0" indent="0">
              <a:buNone/>
            </a:pPr>
            <a:r>
              <a:rPr lang="en-US" sz="3800" dirty="0">
                <a:solidFill>
                  <a:srgbClr val="2F2440"/>
                </a:solidFill>
                <a:latin typeface="Georgia" pitchFamily="34" charset="0"/>
                <a:ea typeface="Georgia" pitchFamily="34" charset="-122"/>
                <a:cs typeface="Georgia" pitchFamily="34" charset="-120"/>
              </a:rPr>
              <a:t>A handful worth keeping.</a:t>
            </a:r>
            <a:endParaRPr lang="en-US" sz="3800" dirty="0"/>
          </a:p>
        </p:txBody>
      </p:sp>
      <p:sp>
        <p:nvSpPr>
          <p:cNvPr id="4" name="Shape 2"/>
          <p:cNvSpPr/>
          <p:nvPr/>
        </p:nvSpPr>
        <p:spPr>
          <a:xfrm>
            <a:off x="548640" y="3520440"/>
            <a:ext cx="1783080" cy="1783080"/>
          </a:xfrm>
          <a:prstGeom prst="roundRect">
            <a:avLst>
              <a:gd name="adj" fmla="val 717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5" name="Shape 3"/>
          <p:cNvSpPr/>
          <p:nvPr/>
        </p:nvSpPr>
        <p:spPr>
          <a:xfrm>
            <a:off x="777240" y="3794760"/>
            <a:ext cx="146304" cy="146304"/>
          </a:xfrm>
          <a:prstGeom prst="ellipse">
            <a:avLst/>
          </a:prstGeom>
          <a:solidFill>
            <a:srgbClr val="8F7BC6"/>
          </a:solidFill>
          <a:ln/>
        </p:spPr>
        <p:txBody>
          <a:bodyPr/>
          <a:lstStyle/>
          <a:p>
            <a:endParaRPr lang="en-US"/>
          </a:p>
        </p:txBody>
      </p:sp>
      <p:sp>
        <p:nvSpPr>
          <p:cNvPr id="6" name="Text 4"/>
          <p:cNvSpPr txBox="1"/>
          <p:nvPr/>
        </p:nvSpPr>
        <p:spPr>
          <a:xfrm>
            <a:off x="777240" y="4087368"/>
            <a:ext cx="1417320" cy="365760"/>
          </a:xfrm>
          <a:prstGeom prst="rect">
            <a:avLst/>
          </a:prstGeom>
          <a:noFill/>
          <a:ln/>
        </p:spPr>
        <p:txBody>
          <a:bodyPr wrap="square" lIns="0" tIns="0" rIns="0" bIns="0" rtlCol="0" anchor="t"/>
          <a:lstStyle/>
          <a:p>
            <a:pPr marL="0" indent="0">
              <a:buNone/>
            </a:pPr>
            <a:r>
              <a:rPr lang="en-US" sz="1800" dirty="0">
                <a:solidFill>
                  <a:srgbClr val="2F2440"/>
                </a:solidFill>
                <a:latin typeface="Georgia" pitchFamily="34" charset="0"/>
                <a:ea typeface="Georgia" pitchFamily="34" charset="-122"/>
                <a:cs typeface="Georgia" pitchFamily="34" charset="-120"/>
              </a:rPr>
              <a:t>Redundancy</a:t>
            </a:r>
            <a:endParaRPr lang="en-US" sz="1800" dirty="0"/>
          </a:p>
        </p:txBody>
      </p:sp>
      <p:sp>
        <p:nvSpPr>
          <p:cNvPr id="7" name="Text 5"/>
          <p:cNvSpPr txBox="1"/>
          <p:nvPr/>
        </p:nvSpPr>
        <p:spPr>
          <a:xfrm>
            <a:off x="777240" y="4480560"/>
            <a:ext cx="1417320" cy="640080"/>
          </a:xfrm>
          <a:prstGeom prst="rect">
            <a:avLst/>
          </a:prstGeom>
          <a:noFill/>
          <a:ln/>
        </p:spPr>
        <p:txBody>
          <a:bodyPr wrap="square" lIns="0" tIns="0" rIns="0" bIns="0" rtlCol="0" anchor="t"/>
          <a:lstStyle/>
          <a:p>
            <a:pPr marL="0" indent="0">
              <a:buNone/>
            </a:pPr>
            <a:r>
              <a:rPr lang="en-US" sz="1250" dirty="0">
                <a:solidFill>
                  <a:srgbClr val="7D6D8E"/>
                </a:solidFill>
                <a:latin typeface="Calibri" pitchFamily="34" charset="0"/>
                <a:ea typeface="Calibri" pitchFamily="34" charset="-122"/>
                <a:cs typeface="Calibri" pitchFamily="34" charset="-120"/>
              </a:rPr>
              <a:t>Bursts and near-duplicates</a:t>
            </a:r>
            <a:endParaRPr lang="en-US" sz="1250" dirty="0"/>
          </a:p>
        </p:txBody>
      </p:sp>
      <p:sp>
        <p:nvSpPr>
          <p:cNvPr id="8" name="Shape 6"/>
          <p:cNvSpPr/>
          <p:nvPr/>
        </p:nvSpPr>
        <p:spPr>
          <a:xfrm>
            <a:off x="2514600" y="3520440"/>
            <a:ext cx="1783080" cy="1783080"/>
          </a:xfrm>
          <a:prstGeom prst="roundRect">
            <a:avLst>
              <a:gd name="adj" fmla="val 717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9" name="Shape 7"/>
          <p:cNvSpPr/>
          <p:nvPr/>
        </p:nvSpPr>
        <p:spPr>
          <a:xfrm>
            <a:off x="2743200" y="3794760"/>
            <a:ext cx="146304" cy="146304"/>
          </a:xfrm>
          <a:prstGeom prst="ellipse">
            <a:avLst/>
          </a:prstGeom>
          <a:solidFill>
            <a:srgbClr val="E38C9E"/>
          </a:solidFill>
          <a:ln/>
        </p:spPr>
        <p:txBody>
          <a:bodyPr/>
          <a:lstStyle/>
          <a:p>
            <a:endParaRPr lang="en-US"/>
          </a:p>
        </p:txBody>
      </p:sp>
      <p:sp>
        <p:nvSpPr>
          <p:cNvPr id="10" name="Text 8"/>
          <p:cNvSpPr txBox="1"/>
          <p:nvPr/>
        </p:nvSpPr>
        <p:spPr>
          <a:xfrm>
            <a:off x="2743200" y="4087368"/>
            <a:ext cx="1417320" cy="365760"/>
          </a:xfrm>
          <a:prstGeom prst="rect">
            <a:avLst/>
          </a:prstGeom>
          <a:noFill/>
          <a:ln/>
        </p:spPr>
        <p:txBody>
          <a:bodyPr wrap="square" lIns="0" tIns="0" rIns="0" bIns="0" rtlCol="0" anchor="t"/>
          <a:lstStyle/>
          <a:p>
            <a:pPr marL="0" indent="0">
              <a:buNone/>
            </a:pPr>
            <a:r>
              <a:rPr lang="en-US" sz="1800" dirty="0">
                <a:solidFill>
                  <a:srgbClr val="2F2440"/>
                </a:solidFill>
                <a:latin typeface="Georgia" pitchFamily="34" charset="0"/>
                <a:ea typeface="Georgia" pitchFamily="34" charset="-122"/>
                <a:cs typeface="Georgia" pitchFamily="34" charset="-120"/>
              </a:rPr>
              <a:t>Effort</a:t>
            </a:r>
            <a:endParaRPr lang="en-US" sz="1800" dirty="0"/>
          </a:p>
        </p:txBody>
      </p:sp>
      <p:sp>
        <p:nvSpPr>
          <p:cNvPr id="11" name="Text 9"/>
          <p:cNvSpPr txBox="1"/>
          <p:nvPr/>
        </p:nvSpPr>
        <p:spPr>
          <a:xfrm>
            <a:off x="2743200" y="4480560"/>
            <a:ext cx="1417320" cy="640080"/>
          </a:xfrm>
          <a:prstGeom prst="rect">
            <a:avLst/>
          </a:prstGeom>
          <a:noFill/>
          <a:ln/>
        </p:spPr>
        <p:txBody>
          <a:bodyPr wrap="square" lIns="0" tIns="0" rIns="0" bIns="0" rtlCol="0" anchor="t"/>
          <a:lstStyle/>
          <a:p>
            <a:pPr marL="0" indent="0">
              <a:buNone/>
            </a:pPr>
            <a:r>
              <a:rPr lang="en-US" sz="1250" dirty="0">
                <a:solidFill>
                  <a:srgbClr val="7D6D8E"/>
                </a:solidFill>
                <a:latin typeface="Calibri" pitchFamily="34" charset="0"/>
                <a:ea typeface="Calibri" pitchFamily="34" charset="-122"/>
                <a:cs typeface="Calibri" pitchFamily="34" charset="-120"/>
              </a:rPr>
              <a:t>Hours comparing, one by one</a:t>
            </a:r>
            <a:endParaRPr lang="en-US" sz="1250" dirty="0"/>
          </a:p>
        </p:txBody>
      </p:sp>
      <p:sp>
        <p:nvSpPr>
          <p:cNvPr id="12" name="Shape 10"/>
          <p:cNvSpPr/>
          <p:nvPr/>
        </p:nvSpPr>
        <p:spPr>
          <a:xfrm>
            <a:off x="4480560" y="3520440"/>
            <a:ext cx="1783080" cy="1783080"/>
          </a:xfrm>
          <a:prstGeom prst="roundRect">
            <a:avLst>
              <a:gd name="adj" fmla="val 717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3" name="Shape 11"/>
          <p:cNvSpPr/>
          <p:nvPr/>
        </p:nvSpPr>
        <p:spPr>
          <a:xfrm>
            <a:off x="4709160" y="3794760"/>
            <a:ext cx="146304" cy="146304"/>
          </a:xfrm>
          <a:prstGeom prst="ellipse">
            <a:avLst/>
          </a:prstGeom>
          <a:solidFill>
            <a:srgbClr val="F3AD7F"/>
          </a:solidFill>
          <a:ln/>
        </p:spPr>
        <p:txBody>
          <a:bodyPr/>
          <a:lstStyle/>
          <a:p>
            <a:endParaRPr lang="en-US"/>
          </a:p>
        </p:txBody>
      </p:sp>
      <p:sp>
        <p:nvSpPr>
          <p:cNvPr id="14" name="Text 12"/>
          <p:cNvSpPr txBox="1"/>
          <p:nvPr/>
        </p:nvSpPr>
        <p:spPr>
          <a:xfrm>
            <a:off x="4709160" y="4087368"/>
            <a:ext cx="1417320" cy="365760"/>
          </a:xfrm>
          <a:prstGeom prst="rect">
            <a:avLst/>
          </a:prstGeom>
          <a:noFill/>
          <a:ln/>
        </p:spPr>
        <p:txBody>
          <a:bodyPr wrap="square" lIns="0" tIns="0" rIns="0" bIns="0" rtlCol="0" anchor="t"/>
          <a:lstStyle/>
          <a:p>
            <a:pPr marL="0" indent="0">
              <a:buNone/>
            </a:pPr>
            <a:r>
              <a:rPr lang="en-US" sz="1800" dirty="0">
                <a:solidFill>
                  <a:srgbClr val="2F2440"/>
                </a:solidFill>
                <a:latin typeface="Georgia" pitchFamily="34" charset="0"/>
                <a:ea typeface="Georgia" pitchFamily="34" charset="-122"/>
                <a:cs typeface="Georgia" pitchFamily="34" charset="-120"/>
              </a:rPr>
              <a:t>Judgement</a:t>
            </a:r>
            <a:endParaRPr lang="en-US" sz="1800" dirty="0"/>
          </a:p>
        </p:txBody>
      </p:sp>
      <p:sp>
        <p:nvSpPr>
          <p:cNvPr id="15" name="Text 13"/>
          <p:cNvSpPr txBox="1"/>
          <p:nvPr/>
        </p:nvSpPr>
        <p:spPr>
          <a:xfrm>
            <a:off x="4709160" y="4480560"/>
            <a:ext cx="1417320" cy="640080"/>
          </a:xfrm>
          <a:prstGeom prst="rect">
            <a:avLst/>
          </a:prstGeom>
          <a:noFill/>
          <a:ln/>
        </p:spPr>
        <p:txBody>
          <a:bodyPr wrap="square" lIns="0" tIns="0" rIns="0" bIns="0" rtlCol="0" anchor="t"/>
          <a:lstStyle/>
          <a:p>
            <a:pPr marL="0" indent="0">
              <a:buNone/>
            </a:pPr>
            <a:r>
              <a:rPr lang="en-US" sz="1250" dirty="0">
                <a:solidFill>
                  <a:srgbClr val="7D6D8E"/>
                </a:solidFill>
                <a:latin typeface="Calibri" pitchFamily="34" charset="0"/>
                <a:ea typeface="Calibri" pitchFamily="34" charset="-122"/>
                <a:cs typeface="Calibri" pitchFamily="34" charset="-120"/>
              </a:rPr>
              <a:t>Which one is actually best?</a:t>
            </a:r>
            <a:endParaRPr lang="en-US" sz="1250" dirty="0"/>
          </a:p>
        </p:txBody>
      </p:sp>
      <p:pic>
        <p:nvPicPr>
          <p:cNvPr id="16" name="Image 0" descr="C:\Users\himat\AppData\Local\Temp\claude\c--Ai-stuffs-lumina\f3d460ba-f3ac-44b0-bd4c-6f066a888707\scratchpad\deck\assets\pol_0.png"/>
          <p:cNvPicPr>
            <a:picLocks noChangeAspect="1"/>
          </p:cNvPicPr>
          <p:nvPr/>
        </p:nvPicPr>
        <p:blipFill>
          <a:blip r:embed="rId4"/>
          <a:stretch>
            <a:fillRect/>
          </a:stretch>
        </p:blipFill>
        <p:spPr>
          <a:xfrm rot="-420000">
            <a:off x="6428232" y="713232"/>
            <a:ext cx="2688336" cy="2386584"/>
          </a:xfrm>
          <a:prstGeom prst="rect">
            <a:avLst/>
          </a:prstGeom>
        </p:spPr>
      </p:pic>
      <p:pic>
        <p:nvPicPr>
          <p:cNvPr id="17" name="Image 1" descr="C:\Users\himat\AppData\Local\Temp\claude\c--Ai-stuffs-lumina\f3d460ba-f3ac-44b0-bd4c-6f066a888707\scratchpad\deck\assets\pol_1.png"/>
          <p:cNvPicPr>
            <a:picLocks noChangeAspect="1"/>
          </p:cNvPicPr>
          <p:nvPr/>
        </p:nvPicPr>
        <p:blipFill>
          <a:blip r:embed="rId5"/>
          <a:stretch>
            <a:fillRect/>
          </a:stretch>
        </p:blipFill>
        <p:spPr>
          <a:xfrm rot="360000">
            <a:off x="8897112" y="530352"/>
            <a:ext cx="2688336" cy="2386584"/>
          </a:xfrm>
          <a:prstGeom prst="rect">
            <a:avLst/>
          </a:prstGeom>
        </p:spPr>
      </p:pic>
      <p:pic>
        <p:nvPicPr>
          <p:cNvPr id="18" name="Image 2" descr="C:\Users\himat\AppData\Local\Temp\claude\c--Ai-stuffs-lumina\f3d460ba-f3ac-44b0-bd4c-6f066a888707\scratchpad\deck\assets\pol_2.png"/>
          <p:cNvPicPr>
            <a:picLocks noChangeAspect="1"/>
          </p:cNvPicPr>
          <p:nvPr/>
        </p:nvPicPr>
        <p:blipFill>
          <a:blip r:embed="rId6"/>
          <a:stretch>
            <a:fillRect/>
          </a:stretch>
        </p:blipFill>
        <p:spPr>
          <a:xfrm rot="240000">
            <a:off x="7068312" y="2587752"/>
            <a:ext cx="2688336" cy="2386584"/>
          </a:xfrm>
          <a:prstGeom prst="rect">
            <a:avLst/>
          </a:prstGeom>
        </p:spPr>
      </p:pic>
      <p:pic>
        <p:nvPicPr>
          <p:cNvPr id="19" name="Image 3" descr="C:\Users\himat\AppData\Local\Temp\claude\c--Ai-stuffs-lumina\f3d460ba-f3ac-44b0-bd4c-6f066a888707\scratchpad\deck\assets\pol_3.png"/>
          <p:cNvPicPr>
            <a:picLocks noChangeAspect="1"/>
          </p:cNvPicPr>
          <p:nvPr/>
        </p:nvPicPr>
        <p:blipFill>
          <a:blip r:embed="rId7"/>
          <a:stretch>
            <a:fillRect/>
          </a:stretch>
        </p:blipFill>
        <p:spPr>
          <a:xfrm rot="-300000">
            <a:off x="9034272" y="2679192"/>
            <a:ext cx="2688336" cy="2386584"/>
          </a:xfrm>
          <a:prstGeom prst="rect">
            <a:avLst/>
          </a:prstGeom>
        </p:spPr>
      </p:pic>
      <p:sp>
        <p:nvSpPr>
          <p:cNvPr id="20" name="Shape 14"/>
          <p:cNvSpPr/>
          <p:nvPr/>
        </p:nvSpPr>
        <p:spPr>
          <a:xfrm>
            <a:off x="8321040" y="5440680"/>
            <a:ext cx="2194560" cy="384048"/>
          </a:xfrm>
          <a:prstGeom prst="roundRect">
            <a:avLst>
              <a:gd name="adj" fmla="val 50000"/>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21" name="Text 15"/>
          <p:cNvSpPr txBox="1"/>
          <p:nvPr/>
        </p:nvSpPr>
        <p:spPr>
          <a:xfrm>
            <a:off x="8321040" y="5440680"/>
            <a:ext cx="2194560" cy="384048"/>
          </a:xfrm>
          <a:prstGeom prst="rect">
            <a:avLst/>
          </a:prstGeom>
          <a:noFill/>
          <a:ln/>
        </p:spPr>
        <p:txBody>
          <a:bodyPr wrap="square" lIns="0" tIns="0" rIns="0" bIns="0" rtlCol="0" anchor="ctr"/>
          <a:lstStyle/>
          <a:p>
            <a:pPr marL="0" indent="0" algn="ctr">
              <a:buNone/>
            </a:pPr>
            <a:r>
              <a:rPr lang="en-US" sz="1200" b="1" dirty="0">
                <a:solidFill>
                  <a:srgbClr val="2F2440"/>
                </a:solidFill>
                <a:latin typeface="Calibri" pitchFamily="34" charset="0"/>
                <a:ea typeface="Calibri" pitchFamily="34" charset="-122"/>
                <a:cs typeface="Calibri" pitchFamily="34" charset="-120"/>
              </a:rPr>
              <a:t>One moment. Four shots.</a:t>
            </a:r>
            <a:endParaRPr lang="en-US" sz="1200" dirty="0"/>
          </a:p>
        </p:txBody>
      </p:sp>
      <p:pic>
        <p:nvPicPr>
          <p:cNvPr id="22" name="Image 4" descr="C:\Users\himat\AppData\Local\Temp\claude\c--Ai-stuffs-lumina\f3d460ba-f3ac-44b0-bd4c-6f066a888707\scratchpad\deck\assets\lumi_sad.png"/>
          <p:cNvPicPr>
            <a:picLocks noChangeAspect="1"/>
          </p:cNvPicPr>
          <p:nvPr/>
        </p:nvPicPr>
        <p:blipFill>
          <a:blip r:embed="rId8"/>
          <a:stretch>
            <a:fillRect/>
          </a:stretch>
        </p:blipFill>
        <p:spPr>
          <a:xfrm>
            <a:off x="10635139" y="4800600"/>
            <a:ext cx="1023461" cy="1600200"/>
          </a:xfrm>
          <a:prstGeom prst="rect">
            <a:avLst/>
          </a:prstGeom>
        </p:spPr>
      </p:pic>
      <p:sp>
        <p:nvSpPr>
          <p:cNvPr id="24" name="Text 16"/>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25" name="Text 17"/>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914400"/>
            <a:ext cx="5486400" cy="5029200"/>
          </a:xfrm>
          <a:prstGeom prst="roundRect">
            <a:avLst>
              <a:gd name="adj" fmla="val 3636"/>
            </a:avLst>
          </a:prstGeom>
          <a:solidFill>
            <a:srgbClr val="FFFFFF">
              <a:alpha val="78000"/>
            </a:srgbClr>
          </a:solidFill>
          <a:ln/>
          <a:effectLst>
            <a:outerShdw blurRad="177800" dist="38100" dir="5400000" algn="bl" rotWithShape="0">
              <a:srgbClr val="4A345C">
                <a:alpha val="14000"/>
              </a:srgbClr>
            </a:outerShdw>
          </a:effectLst>
        </p:spPr>
        <p:txBody>
          <a:bodyPr/>
          <a:lstStyle/>
          <a:p>
            <a:endParaRPr lang="en-US"/>
          </a:p>
        </p:txBody>
      </p:sp>
      <p:sp>
        <p:nvSpPr>
          <p:cNvPr id="3" name="Text 1"/>
          <p:cNvSpPr txBox="1"/>
          <p:nvPr/>
        </p:nvSpPr>
        <p:spPr>
          <a:xfrm>
            <a:off x="960120" y="132588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02  ·  THE IDEA</a:t>
            </a:r>
            <a:endParaRPr lang="en-US" sz="1100" dirty="0"/>
          </a:p>
        </p:txBody>
      </p:sp>
      <p:sp>
        <p:nvSpPr>
          <p:cNvPr id="4" name="Text 2"/>
          <p:cNvSpPr txBox="1"/>
          <p:nvPr/>
        </p:nvSpPr>
        <p:spPr>
          <a:xfrm>
            <a:off x="960120" y="1645920"/>
            <a:ext cx="4754880" cy="731520"/>
          </a:xfrm>
          <a:prstGeom prst="rect">
            <a:avLst/>
          </a:prstGeom>
          <a:noFill/>
          <a:ln/>
        </p:spPr>
        <p:txBody>
          <a:bodyPr wrap="square" lIns="0" tIns="0" rIns="0" bIns="0" rtlCol="0" anchor="t"/>
          <a:lstStyle/>
          <a:p>
            <a:pPr marL="0" indent="0">
              <a:buNone/>
            </a:pPr>
            <a:r>
              <a:rPr lang="en-US" sz="4200" dirty="0">
                <a:solidFill>
                  <a:srgbClr val="2F2440"/>
                </a:solidFill>
                <a:latin typeface="Georgia" pitchFamily="34" charset="0"/>
                <a:ea typeface="Georgia" pitchFamily="34" charset="-122"/>
                <a:cs typeface="Georgia" pitchFamily="34" charset="-120"/>
              </a:rPr>
              <a:t>Meet Lumina</a:t>
            </a:r>
            <a:endParaRPr lang="en-US" sz="4200" dirty="0"/>
          </a:p>
        </p:txBody>
      </p:sp>
      <p:sp>
        <p:nvSpPr>
          <p:cNvPr id="5" name="Text 3"/>
          <p:cNvSpPr txBox="1"/>
          <p:nvPr/>
        </p:nvSpPr>
        <p:spPr>
          <a:xfrm>
            <a:off x="960120" y="2514600"/>
            <a:ext cx="4663440" cy="822960"/>
          </a:xfrm>
          <a:prstGeom prst="rect">
            <a:avLst/>
          </a:prstGeom>
          <a:noFill/>
          <a:ln/>
        </p:spPr>
        <p:txBody>
          <a:bodyPr wrap="square" lIns="0" tIns="0" rIns="0" bIns="0" rtlCol="0" anchor="t"/>
          <a:lstStyle/>
          <a:p>
            <a:pPr marL="0" indent="0">
              <a:buNone/>
            </a:pPr>
            <a:r>
              <a:rPr lang="en-US" sz="1600" dirty="0">
                <a:solidFill>
                  <a:srgbClr val="2F2440"/>
                </a:solidFill>
                <a:latin typeface="Calibri" pitchFamily="34" charset="0"/>
                <a:ea typeface="Calibri" pitchFamily="34" charset="-122"/>
                <a:cs typeface="Calibri" pitchFamily="34" charset="-120"/>
              </a:rPr>
              <a:t>Drop in a whole trip. Lumina returns the best shot of everyone, at every moment, and tells you why.</a:t>
            </a:r>
            <a:endParaRPr lang="en-US" sz="1600" dirty="0"/>
          </a:p>
        </p:txBody>
      </p:sp>
      <p:sp>
        <p:nvSpPr>
          <p:cNvPr id="6" name="Text 4"/>
          <p:cNvSpPr txBox="1"/>
          <p:nvPr/>
        </p:nvSpPr>
        <p:spPr>
          <a:xfrm>
            <a:off x="960120" y="3703320"/>
            <a:ext cx="2286000" cy="411480"/>
          </a:xfrm>
          <a:prstGeom prst="rect">
            <a:avLst/>
          </a:prstGeom>
          <a:noFill/>
          <a:ln/>
        </p:spPr>
        <p:txBody>
          <a:bodyPr wrap="square" lIns="0" tIns="0" rIns="0" bIns="0" rtlCol="0" anchor="t"/>
          <a:lstStyle/>
          <a:p>
            <a:pPr marL="0" indent="0">
              <a:buNone/>
            </a:pPr>
            <a:r>
              <a:rPr lang="en-US" sz="2200" dirty="0">
                <a:solidFill>
                  <a:srgbClr val="2F2440"/>
                </a:solidFill>
                <a:latin typeface="Georgia" pitchFamily="34" charset="0"/>
                <a:ea typeface="Georgia" pitchFamily="34" charset="-122"/>
                <a:cs typeface="Georgia" pitchFamily="34" charset="-120"/>
              </a:rPr>
              <a:t>Groups</a:t>
            </a:r>
            <a:endParaRPr lang="en-US" sz="2200" dirty="0"/>
          </a:p>
        </p:txBody>
      </p:sp>
      <p:sp>
        <p:nvSpPr>
          <p:cNvPr id="7" name="Text 5"/>
          <p:cNvSpPr txBox="1"/>
          <p:nvPr/>
        </p:nvSpPr>
        <p:spPr>
          <a:xfrm>
            <a:off x="960120" y="4114800"/>
            <a:ext cx="2286000" cy="32004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the moments</a:t>
            </a:r>
            <a:endParaRPr lang="en-US" sz="1300" dirty="0"/>
          </a:p>
        </p:txBody>
      </p:sp>
      <p:sp>
        <p:nvSpPr>
          <p:cNvPr id="8" name="Text 6"/>
          <p:cNvSpPr txBox="1"/>
          <p:nvPr/>
        </p:nvSpPr>
        <p:spPr>
          <a:xfrm>
            <a:off x="3337560" y="3703320"/>
            <a:ext cx="2286000" cy="411480"/>
          </a:xfrm>
          <a:prstGeom prst="rect">
            <a:avLst/>
          </a:prstGeom>
          <a:noFill/>
          <a:ln/>
        </p:spPr>
        <p:txBody>
          <a:bodyPr wrap="square" lIns="0" tIns="0" rIns="0" bIns="0" rtlCol="0" anchor="t"/>
          <a:lstStyle/>
          <a:p>
            <a:pPr marL="0" indent="0">
              <a:buNone/>
            </a:pPr>
            <a:r>
              <a:rPr lang="en-US" sz="2200" dirty="0">
                <a:solidFill>
                  <a:srgbClr val="2F2440"/>
                </a:solidFill>
                <a:latin typeface="Georgia" pitchFamily="34" charset="0"/>
                <a:ea typeface="Georgia" pitchFamily="34" charset="-122"/>
                <a:cs typeface="Georgia" pitchFamily="34" charset="-120"/>
              </a:rPr>
              <a:t>Recognises</a:t>
            </a:r>
            <a:endParaRPr lang="en-US" sz="2200" dirty="0"/>
          </a:p>
        </p:txBody>
      </p:sp>
      <p:sp>
        <p:nvSpPr>
          <p:cNvPr id="9" name="Text 7"/>
          <p:cNvSpPr txBox="1"/>
          <p:nvPr/>
        </p:nvSpPr>
        <p:spPr>
          <a:xfrm>
            <a:off x="3337560" y="4114800"/>
            <a:ext cx="2286000" cy="32004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the people</a:t>
            </a:r>
            <a:endParaRPr lang="en-US" sz="1300" dirty="0"/>
          </a:p>
        </p:txBody>
      </p:sp>
      <p:sp>
        <p:nvSpPr>
          <p:cNvPr id="10" name="Text 8"/>
          <p:cNvSpPr txBox="1"/>
          <p:nvPr/>
        </p:nvSpPr>
        <p:spPr>
          <a:xfrm>
            <a:off x="960120" y="4663440"/>
            <a:ext cx="2286000" cy="411480"/>
          </a:xfrm>
          <a:prstGeom prst="rect">
            <a:avLst/>
          </a:prstGeom>
          <a:noFill/>
          <a:ln/>
        </p:spPr>
        <p:txBody>
          <a:bodyPr wrap="square" lIns="0" tIns="0" rIns="0" bIns="0" rtlCol="0" anchor="t"/>
          <a:lstStyle/>
          <a:p>
            <a:pPr marL="0" indent="0">
              <a:buNone/>
            </a:pPr>
            <a:r>
              <a:rPr lang="en-US" sz="2200" dirty="0">
                <a:solidFill>
                  <a:srgbClr val="2F2440"/>
                </a:solidFill>
                <a:latin typeface="Georgia" pitchFamily="34" charset="0"/>
                <a:ea typeface="Georgia" pitchFamily="34" charset="-122"/>
                <a:cs typeface="Georgia" pitchFamily="34" charset="-120"/>
              </a:rPr>
              <a:t>Picks</a:t>
            </a:r>
            <a:endParaRPr lang="en-US" sz="2200" dirty="0"/>
          </a:p>
        </p:txBody>
      </p:sp>
      <p:sp>
        <p:nvSpPr>
          <p:cNvPr id="11" name="Text 9"/>
          <p:cNvSpPr txBox="1"/>
          <p:nvPr/>
        </p:nvSpPr>
        <p:spPr>
          <a:xfrm>
            <a:off x="960120" y="5074920"/>
            <a:ext cx="2286000" cy="32004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the best shot</a:t>
            </a:r>
            <a:endParaRPr lang="en-US" sz="1300" dirty="0"/>
          </a:p>
        </p:txBody>
      </p:sp>
      <p:sp>
        <p:nvSpPr>
          <p:cNvPr id="12" name="Text 10"/>
          <p:cNvSpPr txBox="1"/>
          <p:nvPr/>
        </p:nvSpPr>
        <p:spPr>
          <a:xfrm>
            <a:off x="3337560" y="4663440"/>
            <a:ext cx="2286000" cy="411480"/>
          </a:xfrm>
          <a:prstGeom prst="rect">
            <a:avLst/>
          </a:prstGeom>
          <a:noFill/>
          <a:ln/>
        </p:spPr>
        <p:txBody>
          <a:bodyPr wrap="square" lIns="0" tIns="0" rIns="0" bIns="0" rtlCol="0" anchor="t"/>
          <a:lstStyle/>
          <a:p>
            <a:pPr marL="0" indent="0">
              <a:buNone/>
            </a:pPr>
            <a:r>
              <a:rPr lang="en-US" sz="2200" dirty="0">
                <a:solidFill>
                  <a:srgbClr val="2F2440"/>
                </a:solidFill>
                <a:latin typeface="Georgia" pitchFamily="34" charset="0"/>
                <a:ea typeface="Georgia" pitchFamily="34" charset="-122"/>
                <a:cs typeface="Georgia" pitchFamily="34" charset="-120"/>
              </a:rPr>
              <a:t>Explains</a:t>
            </a:r>
            <a:endParaRPr lang="en-US" sz="2200" dirty="0"/>
          </a:p>
        </p:txBody>
      </p:sp>
      <p:sp>
        <p:nvSpPr>
          <p:cNvPr id="13" name="Text 11"/>
          <p:cNvSpPr txBox="1"/>
          <p:nvPr/>
        </p:nvSpPr>
        <p:spPr>
          <a:xfrm>
            <a:off x="3337560" y="5074920"/>
            <a:ext cx="2286000" cy="32004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in plain words</a:t>
            </a:r>
            <a:endParaRPr lang="en-US" sz="1300" dirty="0"/>
          </a:p>
        </p:txBody>
      </p:sp>
      <p:sp>
        <p:nvSpPr>
          <p:cNvPr id="15" name="Text 12"/>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16" name="Text 13"/>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03  ·  THE EXPERIENCE</a:t>
            </a:r>
            <a:endParaRPr lang="en-US" sz="1100" dirty="0"/>
          </a:p>
        </p:txBody>
      </p:sp>
      <p:sp>
        <p:nvSpPr>
          <p:cNvPr id="3" name="Text 1"/>
          <p:cNvSpPr txBox="1"/>
          <p:nvPr/>
        </p:nvSpPr>
        <p:spPr>
          <a:xfrm>
            <a:off x="548640" y="1005840"/>
            <a:ext cx="73152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Four steps. Zero sorting.</a:t>
            </a:r>
            <a:endParaRPr lang="en-US" sz="3800" dirty="0"/>
          </a:p>
        </p:txBody>
      </p:sp>
      <p:pic>
        <p:nvPicPr>
          <p:cNvPr id="4" name="Image 0" descr="C:\Users\himat\AppData\Local\Temp\claude\c--Ai-stuffs-lumina\f3d460ba-f3ac-44b0-bd4c-6f066a888707\scratchpad\deck\assets\lumi_camera.png"/>
          <p:cNvPicPr>
            <a:picLocks noChangeAspect="1"/>
          </p:cNvPicPr>
          <p:nvPr/>
        </p:nvPicPr>
        <p:blipFill>
          <a:blip r:embed="rId4"/>
          <a:stretch>
            <a:fillRect/>
          </a:stretch>
        </p:blipFill>
        <p:spPr>
          <a:xfrm>
            <a:off x="10565416" y="411480"/>
            <a:ext cx="1074896" cy="1691640"/>
          </a:xfrm>
          <a:prstGeom prst="rect">
            <a:avLst/>
          </a:prstGeom>
        </p:spPr>
      </p:pic>
      <p:pic>
        <p:nvPicPr>
          <p:cNvPr id="5" name="Image 1" descr="C:\Users\himat\AppData\Local\Temp\claude\c--Ai-stuffs-lumina\f3d460ba-f3ac-44b0-bd4c-6f066a888707\scratchpad\deck\assets\t_upload.png"/>
          <p:cNvPicPr>
            <a:picLocks noChangeAspect="1"/>
          </p:cNvPicPr>
          <p:nvPr/>
        </p:nvPicPr>
        <p:blipFill>
          <a:blip r:embed="rId5"/>
          <a:stretch>
            <a:fillRect/>
          </a:stretch>
        </p:blipFill>
        <p:spPr>
          <a:xfrm>
            <a:off x="347472" y="2221992"/>
            <a:ext cx="3008376" cy="2231136"/>
          </a:xfrm>
          <a:prstGeom prst="rect">
            <a:avLst/>
          </a:prstGeom>
        </p:spPr>
      </p:pic>
      <p:sp>
        <p:nvSpPr>
          <p:cNvPr id="6" name="Shape 2"/>
          <p:cNvSpPr/>
          <p:nvPr/>
        </p:nvSpPr>
        <p:spPr>
          <a:xfrm>
            <a:off x="548640" y="4572000"/>
            <a:ext cx="384048" cy="384048"/>
          </a:xfrm>
          <a:prstGeom prst="ellipse">
            <a:avLst/>
          </a:prstGeom>
          <a:solidFill>
            <a:srgbClr val="8F7BC6"/>
          </a:solidFill>
          <a:ln/>
        </p:spPr>
        <p:txBody>
          <a:bodyPr/>
          <a:lstStyle/>
          <a:p>
            <a:endParaRPr lang="en-US"/>
          </a:p>
        </p:txBody>
      </p:sp>
      <p:sp>
        <p:nvSpPr>
          <p:cNvPr id="7" name="Text 3"/>
          <p:cNvSpPr txBox="1"/>
          <p:nvPr/>
        </p:nvSpPr>
        <p:spPr>
          <a:xfrm>
            <a:off x="548640" y="4572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4"/>
          <p:cNvSpPr txBox="1"/>
          <p:nvPr/>
        </p:nvSpPr>
        <p:spPr>
          <a:xfrm>
            <a:off x="1078992" y="4553712"/>
            <a:ext cx="2011680" cy="411480"/>
          </a:xfrm>
          <a:prstGeom prst="rect">
            <a:avLst/>
          </a:prstGeom>
          <a:noFill/>
          <a:ln/>
        </p:spPr>
        <p:txBody>
          <a:bodyPr wrap="square" lIns="0" tIns="0" rIns="0" bIns="0" rtlCol="0" anchor="t"/>
          <a:lstStyle/>
          <a:p>
            <a:pPr marL="0" indent="0">
              <a:buNone/>
            </a:pPr>
            <a:r>
              <a:rPr lang="en-US" sz="2000" dirty="0">
                <a:solidFill>
                  <a:srgbClr val="2F2440"/>
                </a:solidFill>
                <a:latin typeface="Georgia" pitchFamily="34" charset="0"/>
                <a:ea typeface="Georgia" pitchFamily="34" charset="-122"/>
                <a:cs typeface="Georgia" pitchFamily="34" charset="-120"/>
              </a:rPr>
              <a:t>Upload</a:t>
            </a:r>
            <a:endParaRPr lang="en-US" sz="2000" dirty="0"/>
          </a:p>
        </p:txBody>
      </p:sp>
      <p:sp>
        <p:nvSpPr>
          <p:cNvPr id="9" name="Text 5"/>
          <p:cNvSpPr txBox="1"/>
          <p:nvPr/>
        </p:nvSpPr>
        <p:spPr>
          <a:xfrm>
            <a:off x="1078992" y="4965192"/>
            <a:ext cx="2057400" cy="36576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Up to 200 photos</a:t>
            </a:r>
            <a:endParaRPr lang="en-US" sz="1300" dirty="0"/>
          </a:p>
        </p:txBody>
      </p:sp>
      <p:pic>
        <p:nvPicPr>
          <p:cNvPr id="10" name="Image 2" descr="C:\Users\himat\AppData\Local\Temp\claude\c--Ai-stuffs-lumina\f3d460ba-f3ac-44b0-bd4c-6f066a888707\scratchpad\deck\assets\t_processing.png"/>
          <p:cNvPicPr>
            <a:picLocks noChangeAspect="1"/>
          </p:cNvPicPr>
          <p:nvPr/>
        </p:nvPicPr>
        <p:blipFill>
          <a:blip r:embed="rId6"/>
          <a:stretch>
            <a:fillRect/>
          </a:stretch>
        </p:blipFill>
        <p:spPr>
          <a:xfrm>
            <a:off x="3236976" y="2221992"/>
            <a:ext cx="3008376" cy="2231136"/>
          </a:xfrm>
          <a:prstGeom prst="rect">
            <a:avLst/>
          </a:prstGeom>
        </p:spPr>
      </p:pic>
      <p:sp>
        <p:nvSpPr>
          <p:cNvPr id="11" name="Shape 6"/>
          <p:cNvSpPr/>
          <p:nvPr/>
        </p:nvSpPr>
        <p:spPr>
          <a:xfrm>
            <a:off x="3438144" y="4572000"/>
            <a:ext cx="384048" cy="384048"/>
          </a:xfrm>
          <a:prstGeom prst="ellipse">
            <a:avLst/>
          </a:prstGeom>
          <a:solidFill>
            <a:srgbClr val="8F7BC6"/>
          </a:solidFill>
          <a:ln/>
        </p:spPr>
        <p:txBody>
          <a:bodyPr/>
          <a:lstStyle/>
          <a:p>
            <a:endParaRPr lang="en-US"/>
          </a:p>
        </p:txBody>
      </p:sp>
      <p:sp>
        <p:nvSpPr>
          <p:cNvPr id="12" name="Text 7"/>
          <p:cNvSpPr txBox="1"/>
          <p:nvPr/>
        </p:nvSpPr>
        <p:spPr>
          <a:xfrm>
            <a:off x="3438144" y="4572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8"/>
          <p:cNvSpPr txBox="1"/>
          <p:nvPr/>
        </p:nvSpPr>
        <p:spPr>
          <a:xfrm>
            <a:off x="3968496" y="4553712"/>
            <a:ext cx="2011680" cy="411480"/>
          </a:xfrm>
          <a:prstGeom prst="rect">
            <a:avLst/>
          </a:prstGeom>
          <a:noFill/>
          <a:ln/>
        </p:spPr>
        <p:txBody>
          <a:bodyPr wrap="square" lIns="0" tIns="0" rIns="0" bIns="0" rtlCol="0" anchor="t"/>
          <a:lstStyle/>
          <a:p>
            <a:pPr marL="0" indent="0">
              <a:buNone/>
            </a:pPr>
            <a:r>
              <a:rPr lang="en-US" sz="2000" dirty="0">
                <a:solidFill>
                  <a:srgbClr val="2F2440"/>
                </a:solidFill>
                <a:latin typeface="Georgia" pitchFamily="34" charset="0"/>
                <a:ea typeface="Georgia" pitchFamily="34" charset="-122"/>
                <a:cs typeface="Georgia" pitchFamily="34" charset="-120"/>
              </a:rPr>
              <a:t>Analyse</a:t>
            </a:r>
            <a:endParaRPr lang="en-US" sz="2000" dirty="0"/>
          </a:p>
        </p:txBody>
      </p:sp>
      <p:sp>
        <p:nvSpPr>
          <p:cNvPr id="14" name="Text 9"/>
          <p:cNvSpPr txBox="1"/>
          <p:nvPr/>
        </p:nvSpPr>
        <p:spPr>
          <a:xfrm>
            <a:off x="3968496" y="4965192"/>
            <a:ext cx="2057400" cy="36576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Lumi narrates, live</a:t>
            </a:r>
            <a:endParaRPr lang="en-US" sz="1300" dirty="0"/>
          </a:p>
        </p:txBody>
      </p:sp>
      <p:pic>
        <p:nvPicPr>
          <p:cNvPr id="15" name="Image 3" descr="C:\Users\himat\AppData\Local\Temp\claude\c--Ai-stuffs-lumina\f3d460ba-f3ac-44b0-bd4c-6f066a888707\scratchpad\deck\assets\t_gallery.png"/>
          <p:cNvPicPr>
            <a:picLocks noChangeAspect="1"/>
          </p:cNvPicPr>
          <p:nvPr/>
        </p:nvPicPr>
        <p:blipFill>
          <a:blip r:embed="rId7"/>
          <a:stretch>
            <a:fillRect/>
          </a:stretch>
        </p:blipFill>
        <p:spPr>
          <a:xfrm>
            <a:off x="6126480" y="2221992"/>
            <a:ext cx="3008376" cy="2231136"/>
          </a:xfrm>
          <a:prstGeom prst="rect">
            <a:avLst/>
          </a:prstGeom>
        </p:spPr>
      </p:pic>
      <p:sp>
        <p:nvSpPr>
          <p:cNvPr id="16" name="Shape 10"/>
          <p:cNvSpPr/>
          <p:nvPr/>
        </p:nvSpPr>
        <p:spPr>
          <a:xfrm>
            <a:off x="6327648" y="4572000"/>
            <a:ext cx="384048" cy="384048"/>
          </a:xfrm>
          <a:prstGeom prst="ellipse">
            <a:avLst/>
          </a:prstGeom>
          <a:solidFill>
            <a:srgbClr val="8F7BC6"/>
          </a:solidFill>
          <a:ln/>
        </p:spPr>
        <p:txBody>
          <a:bodyPr/>
          <a:lstStyle/>
          <a:p>
            <a:endParaRPr lang="en-US"/>
          </a:p>
        </p:txBody>
      </p:sp>
      <p:sp>
        <p:nvSpPr>
          <p:cNvPr id="17" name="Text 11"/>
          <p:cNvSpPr txBox="1"/>
          <p:nvPr/>
        </p:nvSpPr>
        <p:spPr>
          <a:xfrm>
            <a:off x="6327648" y="4572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2"/>
          <p:cNvSpPr txBox="1"/>
          <p:nvPr/>
        </p:nvSpPr>
        <p:spPr>
          <a:xfrm>
            <a:off x="6858000" y="4553712"/>
            <a:ext cx="2011680" cy="411480"/>
          </a:xfrm>
          <a:prstGeom prst="rect">
            <a:avLst/>
          </a:prstGeom>
          <a:noFill/>
          <a:ln/>
        </p:spPr>
        <p:txBody>
          <a:bodyPr wrap="square" lIns="0" tIns="0" rIns="0" bIns="0" rtlCol="0" anchor="t"/>
          <a:lstStyle/>
          <a:p>
            <a:pPr marL="0" indent="0">
              <a:buNone/>
            </a:pPr>
            <a:r>
              <a:rPr lang="en-US" sz="2000" dirty="0">
                <a:solidFill>
                  <a:srgbClr val="2F2440"/>
                </a:solidFill>
                <a:latin typeface="Georgia" pitchFamily="34" charset="0"/>
                <a:ea typeface="Georgia" pitchFamily="34" charset="-122"/>
                <a:cs typeface="Georgia" pitchFamily="34" charset="-120"/>
              </a:rPr>
              <a:t>Browse</a:t>
            </a:r>
            <a:endParaRPr lang="en-US" sz="2000" dirty="0"/>
          </a:p>
        </p:txBody>
      </p:sp>
      <p:sp>
        <p:nvSpPr>
          <p:cNvPr id="19" name="Text 13"/>
          <p:cNvSpPr txBox="1"/>
          <p:nvPr/>
        </p:nvSpPr>
        <p:spPr>
          <a:xfrm>
            <a:off x="6858000" y="4965192"/>
            <a:ext cx="2057400" cy="36576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Moments, people, best shots</a:t>
            </a:r>
            <a:endParaRPr lang="en-US" sz="1300" dirty="0"/>
          </a:p>
        </p:txBody>
      </p:sp>
      <p:pic>
        <p:nvPicPr>
          <p:cNvPr id="20" name="Image 4" descr="C:\Users\himat\AppData\Local\Temp\claude\c--Ai-stuffs-lumina\f3d460ba-f3ac-44b0-bd4c-6f066a888707\scratchpad\deck\assets\t_album.png"/>
          <p:cNvPicPr>
            <a:picLocks noChangeAspect="1"/>
          </p:cNvPicPr>
          <p:nvPr/>
        </p:nvPicPr>
        <p:blipFill>
          <a:blip r:embed="rId8"/>
          <a:stretch>
            <a:fillRect/>
          </a:stretch>
        </p:blipFill>
        <p:spPr>
          <a:xfrm>
            <a:off x="9015984" y="2221992"/>
            <a:ext cx="3008376" cy="2231136"/>
          </a:xfrm>
          <a:prstGeom prst="rect">
            <a:avLst/>
          </a:prstGeom>
        </p:spPr>
      </p:pic>
      <p:sp>
        <p:nvSpPr>
          <p:cNvPr id="21" name="Shape 14"/>
          <p:cNvSpPr/>
          <p:nvPr/>
        </p:nvSpPr>
        <p:spPr>
          <a:xfrm>
            <a:off x="9217152" y="4572000"/>
            <a:ext cx="384048" cy="384048"/>
          </a:xfrm>
          <a:prstGeom prst="ellipse">
            <a:avLst/>
          </a:prstGeom>
          <a:solidFill>
            <a:srgbClr val="8F7BC6"/>
          </a:solidFill>
          <a:ln/>
        </p:spPr>
        <p:txBody>
          <a:bodyPr/>
          <a:lstStyle/>
          <a:p>
            <a:endParaRPr lang="en-US"/>
          </a:p>
        </p:txBody>
      </p:sp>
      <p:sp>
        <p:nvSpPr>
          <p:cNvPr id="22" name="Text 15"/>
          <p:cNvSpPr txBox="1"/>
          <p:nvPr/>
        </p:nvSpPr>
        <p:spPr>
          <a:xfrm>
            <a:off x="9217152" y="4572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16"/>
          <p:cNvSpPr txBox="1"/>
          <p:nvPr/>
        </p:nvSpPr>
        <p:spPr>
          <a:xfrm>
            <a:off x="9747504" y="4553712"/>
            <a:ext cx="2011680" cy="411480"/>
          </a:xfrm>
          <a:prstGeom prst="rect">
            <a:avLst/>
          </a:prstGeom>
          <a:noFill/>
          <a:ln/>
        </p:spPr>
        <p:txBody>
          <a:bodyPr wrap="square" lIns="0" tIns="0" rIns="0" bIns="0" rtlCol="0" anchor="t"/>
          <a:lstStyle/>
          <a:p>
            <a:pPr marL="0" indent="0">
              <a:buNone/>
            </a:pPr>
            <a:r>
              <a:rPr lang="en-US" sz="2000" dirty="0">
                <a:solidFill>
                  <a:srgbClr val="2F2440"/>
                </a:solidFill>
                <a:latin typeface="Georgia" pitchFamily="34" charset="0"/>
                <a:ea typeface="Georgia" pitchFamily="34" charset="-122"/>
                <a:cs typeface="Georgia" pitchFamily="34" charset="-120"/>
              </a:rPr>
              <a:t>Keep</a:t>
            </a:r>
            <a:endParaRPr lang="en-US" sz="2000" dirty="0"/>
          </a:p>
        </p:txBody>
      </p:sp>
      <p:sp>
        <p:nvSpPr>
          <p:cNvPr id="24" name="Text 17"/>
          <p:cNvSpPr txBox="1"/>
          <p:nvPr/>
        </p:nvSpPr>
        <p:spPr>
          <a:xfrm>
            <a:off x="9747504" y="4965192"/>
            <a:ext cx="2057400" cy="36576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Album, video or export</a:t>
            </a:r>
            <a:endParaRPr lang="en-US" sz="1300" dirty="0"/>
          </a:p>
        </p:txBody>
      </p:sp>
      <p:sp>
        <p:nvSpPr>
          <p:cNvPr id="26" name="Text 18"/>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27" name="Text 19"/>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04  ·  UNDER THE HOOD</a:t>
            </a:r>
            <a:endParaRPr lang="en-US" sz="1100" dirty="0"/>
          </a:p>
        </p:txBody>
      </p:sp>
      <p:sp>
        <p:nvSpPr>
          <p:cNvPr id="3" name="Text 1"/>
          <p:cNvSpPr txBox="1"/>
          <p:nvPr/>
        </p:nvSpPr>
        <p:spPr>
          <a:xfrm>
            <a:off x="548640" y="1005840"/>
            <a:ext cx="82296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One photo, four ways of seeing</a:t>
            </a:r>
            <a:endParaRPr lang="en-US" sz="3800" dirty="0"/>
          </a:p>
        </p:txBody>
      </p:sp>
      <p:pic>
        <p:nvPicPr>
          <p:cNvPr id="4" name="Image 0" descr="C:\Users\himat\AppData\Local\Temp\claude\c--Ai-stuffs-lumina\f3d460ba-f3ac-44b0-bd4c-6f066a888707\scratchpad\deck\assets\t_photo.png"/>
          <p:cNvPicPr>
            <a:picLocks noChangeAspect="1"/>
          </p:cNvPicPr>
          <p:nvPr/>
        </p:nvPicPr>
        <p:blipFill>
          <a:blip r:embed="rId4"/>
          <a:stretch>
            <a:fillRect/>
          </a:stretch>
        </p:blipFill>
        <p:spPr>
          <a:xfrm>
            <a:off x="347472" y="2770632"/>
            <a:ext cx="2596896" cy="2048256"/>
          </a:xfrm>
          <a:prstGeom prst="rect">
            <a:avLst/>
          </a:prstGeom>
        </p:spPr>
      </p:pic>
      <p:sp>
        <p:nvSpPr>
          <p:cNvPr id="5" name="Text 2"/>
          <p:cNvSpPr txBox="1"/>
          <p:nvPr/>
        </p:nvSpPr>
        <p:spPr>
          <a:xfrm>
            <a:off x="548640" y="4754880"/>
            <a:ext cx="2194560" cy="274320"/>
          </a:xfrm>
          <a:prstGeom prst="rect">
            <a:avLst/>
          </a:prstGeom>
          <a:noFill/>
          <a:ln/>
        </p:spPr>
        <p:txBody>
          <a:bodyPr wrap="square" lIns="0" tIns="0" rIns="0" bIns="0" rtlCol="0" anchor="t"/>
          <a:lstStyle/>
          <a:p>
            <a:pPr marL="0" indent="0" algn="ctr">
              <a:buNone/>
            </a:pPr>
            <a:r>
              <a:rPr lang="en-US" sz="1100" dirty="0">
                <a:solidFill>
                  <a:srgbClr val="7D6D8E"/>
                </a:solidFill>
                <a:latin typeface="Calibri" pitchFamily="34" charset="0"/>
                <a:ea typeface="Calibri" pitchFamily="34" charset="-122"/>
                <a:cs typeface="Calibri" pitchFamily="34" charset="-120"/>
              </a:rPr>
              <a:t>Features cached by SHA-256</a:t>
            </a:r>
            <a:endParaRPr lang="en-US" sz="1100" dirty="0"/>
          </a:p>
        </p:txBody>
      </p:sp>
      <p:sp>
        <p:nvSpPr>
          <p:cNvPr id="6" name="Shape 3"/>
          <p:cNvSpPr/>
          <p:nvPr/>
        </p:nvSpPr>
        <p:spPr>
          <a:xfrm>
            <a:off x="2743200" y="3794760"/>
            <a:ext cx="228600" cy="0"/>
          </a:xfrm>
          <a:prstGeom prst="line">
            <a:avLst/>
          </a:prstGeom>
          <a:noFill/>
          <a:ln w="19050">
            <a:solidFill>
              <a:srgbClr val="CDBFE3"/>
            </a:solidFill>
            <a:prstDash val="solid"/>
          </a:ln>
        </p:spPr>
        <p:txBody>
          <a:bodyPr/>
          <a:lstStyle/>
          <a:p>
            <a:endParaRPr lang="en-US"/>
          </a:p>
        </p:txBody>
      </p:sp>
      <p:sp>
        <p:nvSpPr>
          <p:cNvPr id="7" name="Shape 4"/>
          <p:cNvSpPr/>
          <p:nvPr/>
        </p:nvSpPr>
        <p:spPr>
          <a:xfrm>
            <a:off x="2971800" y="2505456"/>
            <a:ext cx="0" cy="2606040"/>
          </a:xfrm>
          <a:prstGeom prst="line">
            <a:avLst/>
          </a:prstGeom>
          <a:noFill/>
          <a:ln w="19050">
            <a:solidFill>
              <a:srgbClr val="CDBFE3"/>
            </a:solidFill>
            <a:prstDash val="solid"/>
          </a:ln>
        </p:spPr>
        <p:txBody>
          <a:bodyPr/>
          <a:lstStyle/>
          <a:p>
            <a:endParaRPr lang="en-US"/>
          </a:p>
        </p:txBody>
      </p:sp>
      <p:sp>
        <p:nvSpPr>
          <p:cNvPr id="8" name="Shape 5"/>
          <p:cNvSpPr/>
          <p:nvPr/>
        </p:nvSpPr>
        <p:spPr>
          <a:xfrm>
            <a:off x="2971800" y="2505456"/>
            <a:ext cx="274320" cy="0"/>
          </a:xfrm>
          <a:prstGeom prst="line">
            <a:avLst/>
          </a:prstGeom>
          <a:noFill/>
          <a:ln w="19050">
            <a:solidFill>
              <a:srgbClr val="CDBFE3"/>
            </a:solidFill>
            <a:prstDash val="solid"/>
          </a:ln>
        </p:spPr>
        <p:txBody>
          <a:bodyPr/>
          <a:lstStyle/>
          <a:p>
            <a:endParaRPr lang="en-US"/>
          </a:p>
        </p:txBody>
      </p:sp>
      <p:sp>
        <p:nvSpPr>
          <p:cNvPr id="9" name="Shape 6"/>
          <p:cNvSpPr/>
          <p:nvPr/>
        </p:nvSpPr>
        <p:spPr>
          <a:xfrm>
            <a:off x="3246120" y="2148840"/>
            <a:ext cx="2926080" cy="713232"/>
          </a:xfrm>
          <a:prstGeom prst="roundRect">
            <a:avLst>
              <a:gd name="adj" fmla="val 15385"/>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0" name="Shape 7"/>
          <p:cNvSpPr/>
          <p:nvPr/>
        </p:nvSpPr>
        <p:spPr>
          <a:xfrm>
            <a:off x="3456432" y="2441448"/>
            <a:ext cx="128016" cy="128016"/>
          </a:xfrm>
          <a:prstGeom prst="ellipse">
            <a:avLst/>
          </a:prstGeom>
          <a:solidFill>
            <a:srgbClr val="8F7BC6"/>
          </a:solidFill>
          <a:ln/>
        </p:spPr>
        <p:txBody>
          <a:bodyPr/>
          <a:lstStyle/>
          <a:p>
            <a:endParaRPr lang="en-US"/>
          </a:p>
        </p:txBody>
      </p:sp>
      <p:sp>
        <p:nvSpPr>
          <p:cNvPr id="11" name="Text 8"/>
          <p:cNvSpPr txBox="1"/>
          <p:nvPr/>
        </p:nvSpPr>
        <p:spPr>
          <a:xfrm>
            <a:off x="3730752" y="2221992"/>
            <a:ext cx="2377440" cy="566928"/>
          </a:xfrm>
          <a:prstGeom prst="rect">
            <a:avLst/>
          </a:prstGeom>
          <a:noFill/>
          <a:ln/>
        </p:spPr>
        <p:txBody>
          <a:bodyPr wrap="square" lIns="0" tIns="0" rIns="0" bIns="0" rtlCol="0" anchor="ctr"/>
          <a:lstStyle/>
          <a:p>
            <a:pPr marL="0" indent="0">
              <a:buNone/>
            </a:pPr>
            <a:r>
              <a:rPr lang="en-US" sz="1400" b="1" dirty="0">
                <a:solidFill>
                  <a:srgbClr val="2F2440"/>
                </a:solidFill>
                <a:latin typeface="Calibri" pitchFamily="34" charset="0"/>
                <a:ea typeface="Calibri" pitchFamily="34" charset="-122"/>
                <a:cs typeface="Calibri" pitchFamily="34" charset="-120"/>
              </a:rPr>
              <a:t>ArcFace</a:t>
            </a:r>
            <a:endParaRPr lang="en-US" sz="1400" dirty="0"/>
          </a:p>
          <a:p>
            <a:pPr marL="0" indent="0">
              <a:buNone/>
            </a:pPr>
            <a:r>
              <a:rPr lang="en-US" sz="1100" dirty="0">
                <a:solidFill>
                  <a:srgbClr val="7D6D8E"/>
                </a:solidFill>
                <a:latin typeface="Calibri" pitchFamily="34" charset="0"/>
                <a:ea typeface="Calibri" pitchFamily="34" charset="-122"/>
                <a:cs typeface="Calibri" pitchFamily="34" charset="-120"/>
              </a:rPr>
              <a:t>Faces · identity, quality</a:t>
            </a:r>
            <a:endParaRPr lang="en-US" sz="1400" dirty="0"/>
          </a:p>
        </p:txBody>
      </p:sp>
      <p:sp>
        <p:nvSpPr>
          <p:cNvPr id="12" name="Shape 9"/>
          <p:cNvSpPr/>
          <p:nvPr/>
        </p:nvSpPr>
        <p:spPr>
          <a:xfrm>
            <a:off x="6172200" y="2505456"/>
            <a:ext cx="365760" cy="0"/>
          </a:xfrm>
          <a:prstGeom prst="line">
            <a:avLst/>
          </a:prstGeom>
          <a:noFill/>
          <a:ln w="19050">
            <a:solidFill>
              <a:srgbClr val="CDBFE3"/>
            </a:solidFill>
            <a:prstDash val="solid"/>
          </a:ln>
        </p:spPr>
        <p:txBody>
          <a:bodyPr/>
          <a:lstStyle/>
          <a:p>
            <a:endParaRPr lang="en-US"/>
          </a:p>
        </p:txBody>
      </p:sp>
      <p:sp>
        <p:nvSpPr>
          <p:cNvPr id="13" name="Shape 10"/>
          <p:cNvSpPr/>
          <p:nvPr/>
        </p:nvSpPr>
        <p:spPr>
          <a:xfrm>
            <a:off x="2971800" y="3374136"/>
            <a:ext cx="274320" cy="0"/>
          </a:xfrm>
          <a:prstGeom prst="line">
            <a:avLst/>
          </a:prstGeom>
          <a:noFill/>
          <a:ln w="19050">
            <a:solidFill>
              <a:srgbClr val="CDBFE3"/>
            </a:solidFill>
            <a:prstDash val="solid"/>
          </a:ln>
        </p:spPr>
        <p:txBody>
          <a:bodyPr/>
          <a:lstStyle/>
          <a:p>
            <a:endParaRPr lang="en-US"/>
          </a:p>
        </p:txBody>
      </p:sp>
      <p:sp>
        <p:nvSpPr>
          <p:cNvPr id="14" name="Shape 11"/>
          <p:cNvSpPr/>
          <p:nvPr/>
        </p:nvSpPr>
        <p:spPr>
          <a:xfrm>
            <a:off x="3246120" y="3017520"/>
            <a:ext cx="2926080" cy="713232"/>
          </a:xfrm>
          <a:prstGeom prst="roundRect">
            <a:avLst>
              <a:gd name="adj" fmla="val 15385"/>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5" name="Shape 12"/>
          <p:cNvSpPr/>
          <p:nvPr/>
        </p:nvSpPr>
        <p:spPr>
          <a:xfrm>
            <a:off x="3456432" y="3310128"/>
            <a:ext cx="128016" cy="128016"/>
          </a:xfrm>
          <a:prstGeom prst="ellipse">
            <a:avLst/>
          </a:prstGeom>
          <a:solidFill>
            <a:srgbClr val="E38C9E"/>
          </a:solidFill>
          <a:ln/>
        </p:spPr>
        <p:txBody>
          <a:bodyPr/>
          <a:lstStyle/>
          <a:p>
            <a:endParaRPr lang="en-US"/>
          </a:p>
        </p:txBody>
      </p:sp>
      <p:sp>
        <p:nvSpPr>
          <p:cNvPr id="16" name="Text 13"/>
          <p:cNvSpPr txBox="1"/>
          <p:nvPr/>
        </p:nvSpPr>
        <p:spPr>
          <a:xfrm>
            <a:off x="3730752" y="3090672"/>
            <a:ext cx="2377440" cy="566928"/>
          </a:xfrm>
          <a:prstGeom prst="rect">
            <a:avLst/>
          </a:prstGeom>
          <a:noFill/>
          <a:ln/>
        </p:spPr>
        <p:txBody>
          <a:bodyPr wrap="square" lIns="0" tIns="0" rIns="0" bIns="0" rtlCol="0" anchor="ctr"/>
          <a:lstStyle/>
          <a:p>
            <a:pPr marL="0" indent="0">
              <a:buNone/>
            </a:pPr>
            <a:r>
              <a:rPr lang="en-US" sz="1400" b="1" dirty="0">
                <a:solidFill>
                  <a:srgbClr val="2F2440"/>
                </a:solidFill>
                <a:latin typeface="Calibri" pitchFamily="34" charset="0"/>
                <a:ea typeface="Calibri" pitchFamily="34" charset="-122"/>
                <a:cs typeface="Calibri" pitchFamily="34" charset="-120"/>
              </a:rPr>
              <a:t>YOLOv8 + OSNet</a:t>
            </a:r>
            <a:endParaRPr lang="en-US" sz="1400" dirty="0"/>
          </a:p>
          <a:p>
            <a:pPr marL="0" indent="0">
              <a:buNone/>
            </a:pPr>
            <a:r>
              <a:rPr lang="en-US" sz="1100" dirty="0">
                <a:solidFill>
                  <a:srgbClr val="7D6D8E"/>
                </a:solidFill>
                <a:latin typeface="Calibri" pitchFamily="34" charset="0"/>
                <a:ea typeface="Calibri" pitchFamily="34" charset="-122"/>
                <a:cs typeface="Calibri" pitchFamily="34" charset="-120"/>
              </a:rPr>
              <a:t>Bodies · re-identification</a:t>
            </a:r>
            <a:endParaRPr lang="en-US" sz="1400" dirty="0"/>
          </a:p>
        </p:txBody>
      </p:sp>
      <p:sp>
        <p:nvSpPr>
          <p:cNvPr id="17" name="Shape 14"/>
          <p:cNvSpPr/>
          <p:nvPr/>
        </p:nvSpPr>
        <p:spPr>
          <a:xfrm>
            <a:off x="6172200" y="3374136"/>
            <a:ext cx="365760" cy="0"/>
          </a:xfrm>
          <a:prstGeom prst="line">
            <a:avLst/>
          </a:prstGeom>
          <a:noFill/>
          <a:ln w="19050">
            <a:solidFill>
              <a:srgbClr val="CDBFE3"/>
            </a:solidFill>
            <a:prstDash val="solid"/>
          </a:ln>
        </p:spPr>
        <p:txBody>
          <a:bodyPr/>
          <a:lstStyle/>
          <a:p>
            <a:endParaRPr lang="en-US"/>
          </a:p>
        </p:txBody>
      </p:sp>
      <p:sp>
        <p:nvSpPr>
          <p:cNvPr id="18" name="Shape 15"/>
          <p:cNvSpPr/>
          <p:nvPr/>
        </p:nvSpPr>
        <p:spPr>
          <a:xfrm>
            <a:off x="2971800" y="4242816"/>
            <a:ext cx="274320" cy="0"/>
          </a:xfrm>
          <a:prstGeom prst="line">
            <a:avLst/>
          </a:prstGeom>
          <a:noFill/>
          <a:ln w="19050">
            <a:solidFill>
              <a:srgbClr val="CDBFE3"/>
            </a:solidFill>
            <a:prstDash val="solid"/>
          </a:ln>
        </p:spPr>
        <p:txBody>
          <a:bodyPr/>
          <a:lstStyle/>
          <a:p>
            <a:endParaRPr lang="en-US"/>
          </a:p>
        </p:txBody>
      </p:sp>
      <p:sp>
        <p:nvSpPr>
          <p:cNvPr id="19" name="Shape 16"/>
          <p:cNvSpPr/>
          <p:nvPr/>
        </p:nvSpPr>
        <p:spPr>
          <a:xfrm>
            <a:off x="3246120" y="3886200"/>
            <a:ext cx="2926080" cy="713232"/>
          </a:xfrm>
          <a:prstGeom prst="roundRect">
            <a:avLst>
              <a:gd name="adj" fmla="val 15385"/>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20" name="Shape 17"/>
          <p:cNvSpPr/>
          <p:nvPr/>
        </p:nvSpPr>
        <p:spPr>
          <a:xfrm>
            <a:off x="3456432" y="4178808"/>
            <a:ext cx="128016" cy="128016"/>
          </a:xfrm>
          <a:prstGeom prst="ellipse">
            <a:avLst/>
          </a:prstGeom>
          <a:solidFill>
            <a:srgbClr val="F3AD7F"/>
          </a:solidFill>
          <a:ln/>
        </p:spPr>
        <p:txBody>
          <a:bodyPr/>
          <a:lstStyle/>
          <a:p>
            <a:endParaRPr lang="en-US"/>
          </a:p>
        </p:txBody>
      </p:sp>
      <p:sp>
        <p:nvSpPr>
          <p:cNvPr id="21" name="Text 18"/>
          <p:cNvSpPr txBox="1"/>
          <p:nvPr/>
        </p:nvSpPr>
        <p:spPr>
          <a:xfrm>
            <a:off x="3730752" y="3959352"/>
            <a:ext cx="2377440" cy="566928"/>
          </a:xfrm>
          <a:prstGeom prst="rect">
            <a:avLst/>
          </a:prstGeom>
          <a:noFill/>
          <a:ln/>
        </p:spPr>
        <p:txBody>
          <a:bodyPr wrap="square" lIns="0" tIns="0" rIns="0" bIns="0" rtlCol="0" anchor="ctr"/>
          <a:lstStyle/>
          <a:p>
            <a:pPr marL="0" indent="0">
              <a:buNone/>
            </a:pPr>
            <a:r>
              <a:rPr lang="en-US" sz="1400" b="1" dirty="0">
                <a:solidFill>
                  <a:srgbClr val="2F2440"/>
                </a:solidFill>
                <a:latin typeface="Calibri" pitchFamily="34" charset="0"/>
                <a:ea typeface="Calibri" pitchFamily="34" charset="-122"/>
                <a:cs typeface="Calibri" pitchFamily="34" charset="-120"/>
              </a:rPr>
              <a:t>DINOv3</a:t>
            </a:r>
            <a:endParaRPr lang="en-US" sz="1400" dirty="0"/>
          </a:p>
          <a:p>
            <a:pPr marL="0" indent="0">
              <a:buNone/>
            </a:pPr>
            <a:r>
              <a:rPr lang="en-US" sz="1100" dirty="0">
                <a:solidFill>
                  <a:srgbClr val="7D6D8E"/>
                </a:solidFill>
                <a:latin typeface="Calibri" pitchFamily="34" charset="0"/>
                <a:ea typeface="Calibri" pitchFamily="34" charset="-122"/>
                <a:cs typeface="Calibri" pitchFamily="34" charset="-120"/>
              </a:rPr>
              <a:t>Scenes · event context</a:t>
            </a:r>
            <a:endParaRPr lang="en-US" sz="1400" dirty="0"/>
          </a:p>
        </p:txBody>
      </p:sp>
      <p:sp>
        <p:nvSpPr>
          <p:cNvPr id="22" name="Shape 19"/>
          <p:cNvSpPr/>
          <p:nvPr/>
        </p:nvSpPr>
        <p:spPr>
          <a:xfrm>
            <a:off x="6172200" y="4242816"/>
            <a:ext cx="365760" cy="0"/>
          </a:xfrm>
          <a:prstGeom prst="line">
            <a:avLst/>
          </a:prstGeom>
          <a:noFill/>
          <a:ln w="19050">
            <a:solidFill>
              <a:srgbClr val="CDBFE3"/>
            </a:solidFill>
            <a:prstDash val="solid"/>
          </a:ln>
        </p:spPr>
        <p:txBody>
          <a:bodyPr/>
          <a:lstStyle/>
          <a:p>
            <a:endParaRPr lang="en-US"/>
          </a:p>
        </p:txBody>
      </p:sp>
      <p:sp>
        <p:nvSpPr>
          <p:cNvPr id="23" name="Shape 20"/>
          <p:cNvSpPr/>
          <p:nvPr/>
        </p:nvSpPr>
        <p:spPr>
          <a:xfrm>
            <a:off x="2971800" y="5111496"/>
            <a:ext cx="274320" cy="0"/>
          </a:xfrm>
          <a:prstGeom prst="line">
            <a:avLst/>
          </a:prstGeom>
          <a:noFill/>
          <a:ln w="19050">
            <a:solidFill>
              <a:srgbClr val="CDBFE3"/>
            </a:solidFill>
            <a:prstDash val="solid"/>
          </a:ln>
        </p:spPr>
        <p:txBody>
          <a:bodyPr/>
          <a:lstStyle/>
          <a:p>
            <a:endParaRPr lang="en-US"/>
          </a:p>
        </p:txBody>
      </p:sp>
      <p:sp>
        <p:nvSpPr>
          <p:cNvPr id="24" name="Shape 21"/>
          <p:cNvSpPr/>
          <p:nvPr/>
        </p:nvSpPr>
        <p:spPr>
          <a:xfrm>
            <a:off x="3246120" y="4754880"/>
            <a:ext cx="2926080" cy="713232"/>
          </a:xfrm>
          <a:prstGeom prst="roundRect">
            <a:avLst>
              <a:gd name="adj" fmla="val 15385"/>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25" name="Shape 22"/>
          <p:cNvSpPr/>
          <p:nvPr/>
        </p:nvSpPr>
        <p:spPr>
          <a:xfrm>
            <a:off x="3456432" y="5047488"/>
            <a:ext cx="128016" cy="128016"/>
          </a:xfrm>
          <a:prstGeom prst="ellipse">
            <a:avLst/>
          </a:prstGeom>
          <a:solidFill>
            <a:srgbClr val="2F2440"/>
          </a:solidFill>
          <a:ln/>
        </p:spPr>
        <p:txBody>
          <a:bodyPr/>
          <a:lstStyle/>
          <a:p>
            <a:endParaRPr lang="en-US"/>
          </a:p>
        </p:txBody>
      </p:sp>
      <p:sp>
        <p:nvSpPr>
          <p:cNvPr id="26" name="Text 23"/>
          <p:cNvSpPr txBox="1"/>
          <p:nvPr/>
        </p:nvSpPr>
        <p:spPr>
          <a:xfrm>
            <a:off x="3730752" y="4828032"/>
            <a:ext cx="2377440" cy="566928"/>
          </a:xfrm>
          <a:prstGeom prst="rect">
            <a:avLst/>
          </a:prstGeom>
          <a:noFill/>
          <a:ln/>
        </p:spPr>
        <p:txBody>
          <a:bodyPr wrap="square" lIns="0" tIns="0" rIns="0" bIns="0" rtlCol="0" anchor="ctr"/>
          <a:lstStyle/>
          <a:p>
            <a:pPr marL="0" indent="0">
              <a:buNone/>
            </a:pPr>
            <a:r>
              <a:rPr lang="en-US" sz="1400" b="1" dirty="0">
                <a:solidFill>
                  <a:srgbClr val="2F2440"/>
                </a:solidFill>
                <a:latin typeface="Calibri" pitchFamily="34" charset="0"/>
                <a:ea typeface="Calibri" pitchFamily="34" charset="-122"/>
                <a:cs typeface="Calibri" pitchFamily="34" charset="-120"/>
              </a:rPr>
              <a:t>CLIP</a:t>
            </a:r>
            <a:endParaRPr lang="en-US" sz="1400" dirty="0"/>
          </a:p>
          <a:p>
            <a:pPr marL="0" indent="0">
              <a:buNone/>
            </a:pPr>
            <a:r>
              <a:rPr lang="en-US" sz="1100" dirty="0">
                <a:solidFill>
                  <a:srgbClr val="7D6D8E"/>
                </a:solidFill>
                <a:latin typeface="Calibri" pitchFamily="34" charset="0"/>
                <a:ea typeface="Calibri" pitchFamily="34" charset="-122"/>
                <a:cs typeface="Calibri" pitchFamily="34" charset="-120"/>
              </a:rPr>
              <a:t>Meaning · search, naming</a:t>
            </a:r>
            <a:endParaRPr lang="en-US" sz="1400" dirty="0"/>
          </a:p>
        </p:txBody>
      </p:sp>
      <p:sp>
        <p:nvSpPr>
          <p:cNvPr id="27" name="Shape 24"/>
          <p:cNvSpPr/>
          <p:nvPr/>
        </p:nvSpPr>
        <p:spPr>
          <a:xfrm>
            <a:off x="6172200" y="5111496"/>
            <a:ext cx="365760" cy="0"/>
          </a:xfrm>
          <a:prstGeom prst="line">
            <a:avLst/>
          </a:prstGeom>
          <a:noFill/>
          <a:ln w="19050">
            <a:solidFill>
              <a:srgbClr val="CDBFE3"/>
            </a:solidFill>
            <a:prstDash val="solid"/>
          </a:ln>
        </p:spPr>
        <p:txBody>
          <a:bodyPr/>
          <a:lstStyle/>
          <a:p>
            <a:endParaRPr lang="en-US"/>
          </a:p>
        </p:txBody>
      </p:sp>
      <p:sp>
        <p:nvSpPr>
          <p:cNvPr id="28" name="Shape 25"/>
          <p:cNvSpPr/>
          <p:nvPr/>
        </p:nvSpPr>
        <p:spPr>
          <a:xfrm>
            <a:off x="6537960" y="2505456"/>
            <a:ext cx="0" cy="2606040"/>
          </a:xfrm>
          <a:prstGeom prst="line">
            <a:avLst/>
          </a:prstGeom>
          <a:noFill/>
          <a:ln w="19050">
            <a:solidFill>
              <a:srgbClr val="CDBFE3"/>
            </a:solidFill>
            <a:prstDash val="solid"/>
          </a:ln>
        </p:spPr>
        <p:txBody>
          <a:bodyPr/>
          <a:lstStyle/>
          <a:p>
            <a:endParaRPr lang="en-US"/>
          </a:p>
        </p:txBody>
      </p:sp>
      <p:sp>
        <p:nvSpPr>
          <p:cNvPr id="29" name="Shape 26"/>
          <p:cNvSpPr/>
          <p:nvPr/>
        </p:nvSpPr>
        <p:spPr>
          <a:xfrm>
            <a:off x="6537960" y="2628900"/>
            <a:ext cx="347472" cy="0"/>
          </a:xfrm>
          <a:prstGeom prst="line">
            <a:avLst/>
          </a:prstGeom>
          <a:noFill/>
          <a:ln w="19050">
            <a:solidFill>
              <a:srgbClr val="CDBFE3"/>
            </a:solidFill>
            <a:prstDash val="solid"/>
            <a:tailEnd type="triangle"/>
          </a:ln>
        </p:spPr>
        <p:txBody>
          <a:bodyPr/>
          <a:lstStyle/>
          <a:p>
            <a:endParaRPr lang="en-US"/>
          </a:p>
        </p:txBody>
      </p:sp>
      <p:sp>
        <p:nvSpPr>
          <p:cNvPr id="30" name="Shape 27"/>
          <p:cNvSpPr/>
          <p:nvPr/>
        </p:nvSpPr>
        <p:spPr>
          <a:xfrm>
            <a:off x="6903720" y="2148840"/>
            <a:ext cx="2743200" cy="960120"/>
          </a:xfrm>
          <a:prstGeom prst="roundRect">
            <a:avLst>
              <a:gd name="adj" fmla="val 1142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31" name="Text 28"/>
          <p:cNvSpPr txBox="1"/>
          <p:nvPr/>
        </p:nvSpPr>
        <p:spPr>
          <a:xfrm>
            <a:off x="7132320" y="2240280"/>
            <a:ext cx="2423160" cy="777240"/>
          </a:xfrm>
          <a:prstGeom prst="rect">
            <a:avLst/>
          </a:prstGeom>
          <a:noFill/>
          <a:ln/>
        </p:spPr>
        <p:txBody>
          <a:bodyPr wrap="square" lIns="0" tIns="0" rIns="0" bIns="0" rtlCol="0" anchor="ctr"/>
          <a:lstStyle/>
          <a:p>
            <a:pPr marL="0" indent="0">
              <a:buNone/>
            </a:pPr>
            <a:r>
              <a:rPr lang="en-US" sz="950" b="1" kern="0" spc="300" dirty="0">
                <a:solidFill>
                  <a:srgbClr val="8F7BC6"/>
                </a:solidFill>
                <a:latin typeface="Calibri" pitchFamily="34" charset="0"/>
                <a:ea typeface="Calibri" pitchFamily="34" charset="-122"/>
                <a:cs typeface="Calibri" pitchFamily="34" charset="-120"/>
              </a:rPr>
              <a:t>WHO</a:t>
            </a:r>
            <a:endParaRPr lang="en-US" sz="950" dirty="0"/>
          </a:p>
          <a:p>
            <a:pPr marL="0" indent="0">
              <a:buNone/>
            </a:pPr>
            <a:r>
              <a:rPr lang="en-US" sz="1800" dirty="0">
                <a:solidFill>
                  <a:srgbClr val="2F2440"/>
                </a:solidFill>
                <a:latin typeface="Georgia" pitchFamily="34" charset="0"/>
                <a:ea typeface="Georgia" pitchFamily="34" charset="-122"/>
                <a:cs typeface="Georgia" pitchFamily="34" charset="-120"/>
              </a:rPr>
              <a:t>People</a:t>
            </a:r>
            <a:endParaRPr lang="en-US" sz="950" dirty="0"/>
          </a:p>
          <a:p>
            <a:pPr marL="0" indent="0">
              <a:buNone/>
            </a:pPr>
            <a:r>
              <a:rPr lang="en-US" sz="1100" dirty="0">
                <a:solidFill>
                  <a:srgbClr val="7D6D8E"/>
                </a:solidFill>
                <a:latin typeface="Calibri" pitchFamily="34" charset="0"/>
                <a:ea typeface="Calibri" pitchFamily="34" charset="-122"/>
                <a:cs typeface="Calibri" pitchFamily="34" charset="-120"/>
              </a:rPr>
              <a:t>Face + body fusion</a:t>
            </a:r>
            <a:endParaRPr lang="en-US" sz="950" dirty="0"/>
          </a:p>
        </p:txBody>
      </p:sp>
      <p:sp>
        <p:nvSpPr>
          <p:cNvPr id="32" name="Shape 29"/>
          <p:cNvSpPr/>
          <p:nvPr/>
        </p:nvSpPr>
        <p:spPr>
          <a:xfrm>
            <a:off x="6537960" y="3790188"/>
            <a:ext cx="347472" cy="0"/>
          </a:xfrm>
          <a:prstGeom prst="line">
            <a:avLst/>
          </a:prstGeom>
          <a:noFill/>
          <a:ln w="19050">
            <a:solidFill>
              <a:srgbClr val="CDBFE3"/>
            </a:solidFill>
            <a:prstDash val="solid"/>
            <a:tailEnd type="triangle"/>
          </a:ln>
        </p:spPr>
        <p:txBody>
          <a:bodyPr/>
          <a:lstStyle/>
          <a:p>
            <a:endParaRPr lang="en-US"/>
          </a:p>
        </p:txBody>
      </p:sp>
      <p:sp>
        <p:nvSpPr>
          <p:cNvPr id="33" name="Shape 30"/>
          <p:cNvSpPr/>
          <p:nvPr/>
        </p:nvSpPr>
        <p:spPr>
          <a:xfrm>
            <a:off x="6903720" y="3310128"/>
            <a:ext cx="2743200" cy="960120"/>
          </a:xfrm>
          <a:prstGeom prst="roundRect">
            <a:avLst>
              <a:gd name="adj" fmla="val 1142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34" name="Text 31"/>
          <p:cNvSpPr txBox="1"/>
          <p:nvPr/>
        </p:nvSpPr>
        <p:spPr>
          <a:xfrm>
            <a:off x="7132320" y="3401568"/>
            <a:ext cx="2423160" cy="777240"/>
          </a:xfrm>
          <a:prstGeom prst="rect">
            <a:avLst/>
          </a:prstGeom>
          <a:noFill/>
          <a:ln/>
        </p:spPr>
        <p:txBody>
          <a:bodyPr wrap="square" lIns="0" tIns="0" rIns="0" bIns="0" rtlCol="0" anchor="ctr"/>
          <a:lstStyle/>
          <a:p>
            <a:pPr marL="0" indent="0">
              <a:buNone/>
            </a:pPr>
            <a:r>
              <a:rPr lang="en-US" sz="950" b="1" kern="0" spc="300" dirty="0">
                <a:solidFill>
                  <a:srgbClr val="8F7BC6"/>
                </a:solidFill>
                <a:latin typeface="Calibri" pitchFamily="34" charset="0"/>
                <a:ea typeface="Calibri" pitchFamily="34" charset="-122"/>
                <a:cs typeface="Calibri" pitchFamily="34" charset="-120"/>
              </a:rPr>
              <a:t>WHEN</a:t>
            </a:r>
            <a:endParaRPr lang="en-US" sz="950" dirty="0"/>
          </a:p>
          <a:p>
            <a:pPr marL="0" indent="0">
              <a:buNone/>
            </a:pPr>
            <a:r>
              <a:rPr lang="en-US" sz="1800" dirty="0">
                <a:solidFill>
                  <a:srgbClr val="2F2440"/>
                </a:solidFill>
                <a:latin typeface="Georgia" pitchFamily="34" charset="0"/>
                <a:ea typeface="Georgia" pitchFamily="34" charset="-122"/>
                <a:cs typeface="Georgia" pitchFamily="34" charset="-120"/>
              </a:rPr>
              <a:t>Moments</a:t>
            </a:r>
            <a:endParaRPr lang="en-US" sz="950" dirty="0"/>
          </a:p>
          <a:p>
            <a:pPr marL="0" indent="0">
              <a:buNone/>
            </a:pPr>
            <a:r>
              <a:rPr lang="en-US" sz="1100" dirty="0">
                <a:solidFill>
                  <a:srgbClr val="7D6D8E"/>
                </a:solidFill>
                <a:latin typeface="Calibri" pitchFamily="34" charset="0"/>
                <a:ea typeface="Calibri" pitchFamily="34" charset="-122"/>
                <a:cs typeface="Calibri" pitchFamily="34" charset="-120"/>
              </a:rPr>
              <a:t>Silhouette-tuned clusters</a:t>
            </a:r>
            <a:endParaRPr lang="en-US" sz="950" dirty="0"/>
          </a:p>
        </p:txBody>
      </p:sp>
      <p:sp>
        <p:nvSpPr>
          <p:cNvPr id="35" name="Shape 32"/>
          <p:cNvSpPr/>
          <p:nvPr/>
        </p:nvSpPr>
        <p:spPr>
          <a:xfrm>
            <a:off x="6537960" y="4951476"/>
            <a:ext cx="347472" cy="0"/>
          </a:xfrm>
          <a:prstGeom prst="line">
            <a:avLst/>
          </a:prstGeom>
          <a:noFill/>
          <a:ln w="19050">
            <a:solidFill>
              <a:srgbClr val="CDBFE3"/>
            </a:solidFill>
            <a:prstDash val="solid"/>
            <a:tailEnd type="triangle"/>
          </a:ln>
        </p:spPr>
        <p:txBody>
          <a:bodyPr/>
          <a:lstStyle/>
          <a:p>
            <a:endParaRPr lang="en-US"/>
          </a:p>
        </p:txBody>
      </p:sp>
      <p:sp>
        <p:nvSpPr>
          <p:cNvPr id="36" name="Shape 33"/>
          <p:cNvSpPr/>
          <p:nvPr/>
        </p:nvSpPr>
        <p:spPr>
          <a:xfrm>
            <a:off x="6903720" y="4471416"/>
            <a:ext cx="2743200" cy="960120"/>
          </a:xfrm>
          <a:prstGeom prst="roundRect">
            <a:avLst>
              <a:gd name="adj" fmla="val 1142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37" name="Text 34"/>
          <p:cNvSpPr txBox="1"/>
          <p:nvPr/>
        </p:nvSpPr>
        <p:spPr>
          <a:xfrm>
            <a:off x="7132320" y="4562856"/>
            <a:ext cx="2423160" cy="777240"/>
          </a:xfrm>
          <a:prstGeom prst="rect">
            <a:avLst/>
          </a:prstGeom>
          <a:noFill/>
          <a:ln/>
        </p:spPr>
        <p:txBody>
          <a:bodyPr wrap="square" lIns="0" tIns="0" rIns="0" bIns="0" rtlCol="0" anchor="ctr"/>
          <a:lstStyle/>
          <a:p>
            <a:pPr marL="0" indent="0">
              <a:buNone/>
            </a:pPr>
            <a:r>
              <a:rPr lang="en-US" sz="950" b="1" kern="0" spc="300" dirty="0">
                <a:solidFill>
                  <a:srgbClr val="8F7BC6"/>
                </a:solidFill>
                <a:latin typeface="Calibri" pitchFamily="34" charset="0"/>
                <a:ea typeface="Calibri" pitchFamily="34" charset="-122"/>
                <a:cs typeface="Calibri" pitchFamily="34" charset="-120"/>
              </a:rPr>
              <a:t>WHICH</a:t>
            </a:r>
            <a:endParaRPr lang="en-US" sz="950" dirty="0"/>
          </a:p>
          <a:p>
            <a:pPr marL="0" indent="0">
              <a:buNone/>
            </a:pPr>
            <a:r>
              <a:rPr lang="en-US" sz="1800" dirty="0">
                <a:solidFill>
                  <a:srgbClr val="2F2440"/>
                </a:solidFill>
                <a:latin typeface="Georgia" pitchFamily="34" charset="0"/>
                <a:ea typeface="Georgia" pitchFamily="34" charset="-122"/>
                <a:cs typeface="Georgia" pitchFamily="34" charset="-120"/>
              </a:rPr>
              <a:t>Best shot</a:t>
            </a:r>
            <a:endParaRPr lang="en-US" sz="950" dirty="0"/>
          </a:p>
          <a:p>
            <a:pPr marL="0" indent="0">
              <a:buNone/>
            </a:pPr>
            <a:r>
              <a:rPr lang="en-US" sz="1100" dirty="0">
                <a:solidFill>
                  <a:srgbClr val="7D6D8E"/>
                </a:solidFill>
                <a:latin typeface="Calibri" pitchFamily="34" charset="0"/>
                <a:ea typeface="Calibri" pitchFamily="34" charset="-122"/>
                <a:cs typeface="Calibri" pitchFamily="34" charset="-120"/>
              </a:rPr>
              <a:t>7 signals, plus a reason</a:t>
            </a:r>
            <a:endParaRPr lang="en-US" sz="950" dirty="0"/>
          </a:p>
        </p:txBody>
      </p:sp>
      <p:pic>
        <p:nvPicPr>
          <p:cNvPr id="38" name="Image 1" descr="C:\Users\himat\AppData\Local\Temp\claude\c--Ai-stuffs-lumina\f3d460ba-f3ac-44b0-bd4c-6f066a888707\scratchpad\deck\assets\lumi_search.png"/>
          <p:cNvPicPr>
            <a:picLocks noChangeAspect="1"/>
          </p:cNvPicPr>
          <p:nvPr/>
        </p:nvPicPr>
        <p:blipFill>
          <a:blip r:embed="rId5"/>
          <a:stretch>
            <a:fillRect/>
          </a:stretch>
        </p:blipFill>
        <p:spPr>
          <a:xfrm>
            <a:off x="9577197" y="2651760"/>
            <a:ext cx="2063115" cy="2743200"/>
          </a:xfrm>
          <a:prstGeom prst="rect">
            <a:avLst/>
          </a:prstGeom>
        </p:spPr>
      </p:pic>
      <p:sp>
        <p:nvSpPr>
          <p:cNvPr id="40" name="Text 35"/>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41" name="Text 36"/>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05  ·  PEOPLE</a:t>
            </a:r>
            <a:endParaRPr lang="en-US" sz="1100" dirty="0"/>
          </a:p>
        </p:txBody>
      </p:sp>
      <p:sp>
        <p:nvSpPr>
          <p:cNvPr id="3" name="Text 1"/>
          <p:cNvSpPr txBox="1"/>
          <p:nvPr/>
        </p:nvSpPr>
        <p:spPr>
          <a:xfrm>
            <a:off x="548640" y="1005840"/>
            <a:ext cx="73152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Recognised, even facing away</a:t>
            </a:r>
            <a:endParaRPr lang="en-US" sz="3800" dirty="0"/>
          </a:p>
        </p:txBody>
      </p:sp>
      <p:sp>
        <p:nvSpPr>
          <p:cNvPr id="4" name="Shape 2"/>
          <p:cNvSpPr/>
          <p:nvPr/>
        </p:nvSpPr>
        <p:spPr>
          <a:xfrm>
            <a:off x="548640" y="2148840"/>
            <a:ext cx="4846320" cy="1143000"/>
          </a:xfrm>
          <a:prstGeom prst="roundRect">
            <a:avLst>
              <a:gd name="adj" fmla="val 11200"/>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5" name="Text 3"/>
          <p:cNvSpPr txBox="1"/>
          <p:nvPr/>
        </p:nvSpPr>
        <p:spPr>
          <a:xfrm>
            <a:off x="548640" y="2148840"/>
            <a:ext cx="4846320" cy="1143000"/>
          </a:xfrm>
          <a:prstGeom prst="rect">
            <a:avLst/>
          </a:prstGeom>
          <a:noFill/>
          <a:ln/>
        </p:spPr>
        <p:txBody>
          <a:bodyPr wrap="square" lIns="0" tIns="0" rIns="0" bIns="0" rtlCol="0" anchor="ctr"/>
          <a:lstStyle/>
          <a:p>
            <a:pPr marL="0" indent="0" algn="ctr">
              <a:buNone/>
            </a:pPr>
            <a:r>
              <a:rPr lang="en-US" sz="2200" i="1" dirty="0">
                <a:solidFill>
                  <a:srgbClr val="2F2440"/>
                </a:solidFill>
                <a:latin typeface="Georgia" pitchFamily="34" charset="0"/>
                <a:ea typeface="Georgia" pitchFamily="34" charset="-122"/>
                <a:cs typeface="Georgia" pitchFamily="34" charset="-120"/>
              </a:rPr>
              <a:t>e</a:t>
            </a:r>
            <a:r>
              <a:rPr lang="en-US" sz="2200" dirty="0">
                <a:solidFill>
                  <a:srgbClr val="2F2440"/>
                </a:solidFill>
                <a:latin typeface="Georgia" pitchFamily="34" charset="0"/>
                <a:ea typeface="Georgia" pitchFamily="34" charset="-122"/>
                <a:cs typeface="Georgia" pitchFamily="34" charset="-120"/>
              </a:rPr>
              <a:t>  =  α · face  ⊕  (1 − α) · body</a:t>
            </a:r>
            <a:endParaRPr lang="en-US" sz="2200" dirty="0"/>
          </a:p>
        </p:txBody>
      </p:sp>
      <p:sp>
        <p:nvSpPr>
          <p:cNvPr id="6" name="Shape 4"/>
          <p:cNvSpPr/>
          <p:nvPr/>
        </p:nvSpPr>
        <p:spPr>
          <a:xfrm>
            <a:off x="594360" y="3749040"/>
            <a:ext cx="128016" cy="128016"/>
          </a:xfrm>
          <a:prstGeom prst="ellipse">
            <a:avLst/>
          </a:prstGeom>
          <a:solidFill>
            <a:srgbClr val="8F7BC6"/>
          </a:solidFill>
          <a:ln/>
        </p:spPr>
        <p:txBody>
          <a:bodyPr/>
          <a:lstStyle/>
          <a:p>
            <a:endParaRPr lang="en-US"/>
          </a:p>
        </p:txBody>
      </p:sp>
      <p:sp>
        <p:nvSpPr>
          <p:cNvPr id="7" name="Text 5"/>
          <p:cNvSpPr txBox="1"/>
          <p:nvPr/>
        </p:nvSpPr>
        <p:spPr>
          <a:xfrm>
            <a:off x="914400" y="3657600"/>
            <a:ext cx="4480560" cy="329184"/>
          </a:xfrm>
          <a:prstGeom prst="rect">
            <a:avLst/>
          </a:prstGeom>
          <a:noFill/>
          <a:ln/>
        </p:spPr>
        <p:txBody>
          <a:bodyPr wrap="square" lIns="0" tIns="0" rIns="0" bIns="0" rtlCol="0" anchor="ctr"/>
          <a:lstStyle/>
          <a:p>
            <a:pPr marL="0" indent="0">
              <a:buNone/>
            </a:pPr>
            <a:r>
              <a:rPr lang="en-US" sz="1600" b="1" dirty="0">
                <a:solidFill>
                  <a:srgbClr val="2F2440"/>
                </a:solidFill>
                <a:latin typeface="Calibri" pitchFamily="34" charset="0"/>
                <a:ea typeface="Calibri" pitchFamily="34" charset="-122"/>
                <a:cs typeface="Calibri" pitchFamily="34" charset="-120"/>
              </a:rPr>
              <a:t>Face leads </a:t>
            </a:r>
            <a:r>
              <a:rPr lang="en-US" sz="1600" dirty="0">
                <a:solidFill>
                  <a:srgbClr val="7D6D8E"/>
                </a:solidFill>
                <a:latin typeface="Calibri" pitchFamily="34" charset="0"/>
                <a:ea typeface="Calibri" pitchFamily="34" charset="-122"/>
                <a:cs typeface="Calibri" pitchFamily="34" charset="-120"/>
              </a:rPr>
              <a:t>when it's clear (α ≥ 0.5)</a:t>
            </a:r>
            <a:endParaRPr lang="en-US" sz="1600" dirty="0"/>
          </a:p>
        </p:txBody>
      </p:sp>
      <p:sp>
        <p:nvSpPr>
          <p:cNvPr id="8" name="Shape 6"/>
          <p:cNvSpPr/>
          <p:nvPr/>
        </p:nvSpPr>
        <p:spPr>
          <a:xfrm>
            <a:off x="594360" y="4297680"/>
            <a:ext cx="128016" cy="128016"/>
          </a:xfrm>
          <a:prstGeom prst="ellipse">
            <a:avLst/>
          </a:prstGeom>
          <a:solidFill>
            <a:srgbClr val="E38C9E"/>
          </a:solidFill>
          <a:ln/>
        </p:spPr>
        <p:txBody>
          <a:bodyPr/>
          <a:lstStyle/>
          <a:p>
            <a:endParaRPr lang="en-US"/>
          </a:p>
        </p:txBody>
      </p:sp>
      <p:sp>
        <p:nvSpPr>
          <p:cNvPr id="9" name="Text 7"/>
          <p:cNvSpPr txBox="1"/>
          <p:nvPr/>
        </p:nvSpPr>
        <p:spPr>
          <a:xfrm>
            <a:off x="914400" y="4206240"/>
            <a:ext cx="4480560" cy="329184"/>
          </a:xfrm>
          <a:prstGeom prst="rect">
            <a:avLst/>
          </a:prstGeom>
          <a:noFill/>
          <a:ln/>
        </p:spPr>
        <p:txBody>
          <a:bodyPr wrap="square" lIns="0" tIns="0" rIns="0" bIns="0" rtlCol="0" anchor="ctr"/>
          <a:lstStyle/>
          <a:p>
            <a:pPr marL="0" indent="0">
              <a:buNone/>
            </a:pPr>
            <a:r>
              <a:rPr lang="en-US" sz="1600" b="1" dirty="0">
                <a:solidFill>
                  <a:srgbClr val="2F2440"/>
                </a:solidFill>
                <a:latin typeface="Calibri" pitchFamily="34" charset="0"/>
                <a:ea typeface="Calibri" pitchFamily="34" charset="-122"/>
                <a:cs typeface="Calibri" pitchFamily="34" charset="-120"/>
              </a:rPr>
              <a:t>Body fills in </a:t>
            </a:r>
            <a:r>
              <a:rPr lang="en-US" sz="1600" dirty="0">
                <a:solidFill>
                  <a:srgbClr val="7D6D8E"/>
                </a:solidFill>
                <a:latin typeface="Calibri" pitchFamily="34" charset="0"/>
                <a:ea typeface="Calibri" pitchFamily="34" charset="-122"/>
                <a:cs typeface="Calibri" pitchFamily="34" charset="-120"/>
              </a:rPr>
              <a:t>for turned-away shots</a:t>
            </a:r>
            <a:endParaRPr lang="en-US" sz="1600" dirty="0"/>
          </a:p>
        </p:txBody>
      </p:sp>
      <p:sp>
        <p:nvSpPr>
          <p:cNvPr id="10" name="Shape 8"/>
          <p:cNvSpPr/>
          <p:nvPr/>
        </p:nvSpPr>
        <p:spPr>
          <a:xfrm>
            <a:off x="594360" y="4846320"/>
            <a:ext cx="128016" cy="128016"/>
          </a:xfrm>
          <a:prstGeom prst="ellipse">
            <a:avLst/>
          </a:prstGeom>
          <a:solidFill>
            <a:srgbClr val="F3AD7F"/>
          </a:solidFill>
          <a:ln/>
        </p:spPr>
        <p:txBody>
          <a:bodyPr/>
          <a:lstStyle/>
          <a:p>
            <a:endParaRPr lang="en-US"/>
          </a:p>
        </p:txBody>
      </p:sp>
      <p:sp>
        <p:nvSpPr>
          <p:cNvPr id="11" name="Text 9"/>
          <p:cNvSpPr txBox="1"/>
          <p:nvPr/>
        </p:nvSpPr>
        <p:spPr>
          <a:xfrm>
            <a:off x="914400" y="4754880"/>
            <a:ext cx="4480560" cy="329184"/>
          </a:xfrm>
          <a:prstGeom prst="rect">
            <a:avLst/>
          </a:prstGeom>
          <a:noFill/>
          <a:ln/>
        </p:spPr>
        <p:txBody>
          <a:bodyPr wrap="square" lIns="0" tIns="0" rIns="0" bIns="0" rtlCol="0" anchor="ctr"/>
          <a:lstStyle/>
          <a:p>
            <a:pPr marL="0" indent="0">
              <a:buNone/>
            </a:pPr>
            <a:r>
              <a:rPr lang="en-US" sz="1600" b="1" dirty="0">
                <a:solidFill>
                  <a:srgbClr val="2F2440"/>
                </a:solidFill>
                <a:latin typeface="Calibri" pitchFamily="34" charset="0"/>
                <a:ea typeface="Calibri" pitchFamily="34" charset="-122"/>
                <a:cs typeface="Calibri" pitchFamily="34" charset="-120"/>
              </a:rPr>
              <a:t>One person, </a:t>
            </a:r>
            <a:r>
              <a:rPr lang="en-US" sz="1600" dirty="0">
                <a:solidFill>
                  <a:srgbClr val="7D6D8E"/>
                </a:solidFill>
                <a:latin typeface="Calibri" pitchFamily="34" charset="0"/>
                <a:ea typeface="Calibri" pitchFamily="34" charset="-122"/>
                <a:cs typeface="Calibri" pitchFamily="34" charset="-120"/>
              </a:rPr>
              <a:t>tracked across every moment</a:t>
            </a:r>
            <a:endParaRPr lang="en-US" sz="1600" dirty="0"/>
          </a:p>
        </p:txBody>
      </p:sp>
      <p:pic>
        <p:nvPicPr>
          <p:cNvPr id="12" name="Image 0" descr="C:\Users\himat\AppData\Local\Temp\claude\c--Ai-stuffs-lumina\f3d460ba-f3ac-44b0-bd4c-6f066a888707\scratchpad\deck\assets\t_people.png"/>
          <p:cNvPicPr>
            <a:picLocks noChangeAspect="1"/>
          </p:cNvPicPr>
          <p:nvPr/>
        </p:nvPicPr>
        <p:blipFill>
          <a:blip r:embed="rId4"/>
          <a:stretch>
            <a:fillRect/>
          </a:stretch>
        </p:blipFill>
        <p:spPr>
          <a:xfrm>
            <a:off x="5678424" y="1719072"/>
            <a:ext cx="6163056" cy="3968496"/>
          </a:xfrm>
          <a:prstGeom prst="rect">
            <a:avLst/>
          </a:prstGeom>
        </p:spPr>
      </p:pic>
      <p:pic>
        <p:nvPicPr>
          <p:cNvPr id="13" name="Image 1" descr="C:\Users\himat\AppData\Local\Temp\claude\c--Ai-stuffs-lumina\f3d460ba-f3ac-44b0-bd4c-6f066a888707\scratchpad\deck\assets\lumi_tag.png"/>
          <p:cNvPicPr>
            <a:picLocks noChangeAspect="1"/>
          </p:cNvPicPr>
          <p:nvPr/>
        </p:nvPicPr>
        <p:blipFill>
          <a:blip r:embed="rId5"/>
          <a:stretch>
            <a:fillRect/>
          </a:stretch>
        </p:blipFill>
        <p:spPr>
          <a:xfrm>
            <a:off x="10286619" y="4297680"/>
            <a:ext cx="1554861" cy="2011680"/>
          </a:xfrm>
          <a:prstGeom prst="rect">
            <a:avLst/>
          </a:prstGeom>
        </p:spPr>
      </p:pic>
      <p:sp>
        <p:nvSpPr>
          <p:cNvPr id="15" name="Text 10"/>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16" name="Text 11"/>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06  ·  CHOOSING</a:t>
            </a:r>
            <a:endParaRPr lang="en-US" sz="1100" dirty="0"/>
          </a:p>
        </p:txBody>
      </p:sp>
      <p:sp>
        <p:nvSpPr>
          <p:cNvPr id="3" name="Text 1"/>
          <p:cNvSpPr txBox="1"/>
          <p:nvPr/>
        </p:nvSpPr>
        <p:spPr>
          <a:xfrm>
            <a:off x="548640" y="1005840"/>
            <a:ext cx="59436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The best shot, and why</a:t>
            </a:r>
            <a:endParaRPr lang="en-US" sz="3800" dirty="0"/>
          </a:p>
        </p:txBody>
      </p:sp>
      <p:sp>
        <p:nvSpPr>
          <p:cNvPr id="4" name="Text 2"/>
          <p:cNvSpPr txBox="1"/>
          <p:nvPr/>
        </p:nvSpPr>
        <p:spPr>
          <a:xfrm>
            <a:off x="548640" y="2011680"/>
            <a:ext cx="4572000" cy="320040"/>
          </a:xfrm>
          <a:prstGeom prst="rect">
            <a:avLst/>
          </a:prstGeom>
          <a:noFill/>
          <a:ln/>
        </p:spPr>
        <p:txBody>
          <a:bodyPr wrap="square" lIns="0" tIns="0" rIns="0" bIns="0" rtlCol="0" anchor="t"/>
          <a:lstStyle/>
          <a:p>
            <a:pPr marL="0" indent="0">
              <a:buNone/>
            </a:pPr>
            <a:r>
              <a:rPr lang="en-US" sz="1700" i="1" dirty="0">
                <a:solidFill>
                  <a:srgbClr val="7D6D8E"/>
                </a:solidFill>
                <a:latin typeface="Georgia" pitchFamily="34" charset="0"/>
                <a:ea typeface="Georgia" pitchFamily="34" charset="-122"/>
                <a:cs typeface="Georgia" pitchFamily="34" charset="-120"/>
              </a:rPr>
              <a:t>Seven signals, one score</a:t>
            </a:r>
            <a:endParaRPr lang="en-US" sz="1700" dirty="0"/>
          </a:p>
        </p:txBody>
      </p:sp>
      <p:graphicFrame>
        <p:nvGraphicFramePr>
          <p:cNvPr id="5" name="Chart 0"/>
          <p:cNvGraphicFramePr/>
          <p:nvPr/>
        </p:nvGraphicFramePr>
        <p:xfrm>
          <a:off x="320040" y="2377440"/>
          <a:ext cx="6035040" cy="3840480"/>
        </p:xfrm>
        <a:graphic>
          <a:graphicData uri="http://schemas.openxmlformats.org/drawingml/2006/chart">
            <c:chart xmlns:c="http://schemas.openxmlformats.org/drawingml/2006/chart" xmlns:r="http://schemas.openxmlformats.org/officeDocument/2006/relationships" r:id="rId4"/>
          </a:graphicData>
        </a:graphic>
      </p:graphicFrame>
      <p:pic>
        <p:nvPicPr>
          <p:cNvPr id="6" name="Image 0" descr="C:\Users\himat\AppData\Local\Temp\claude\c--Ai-stuffs-lumina\f3d460ba-f3ac-44b0-bd4c-6f066a888707\scratchpad\deck\assets\t_why.png"/>
          <p:cNvPicPr>
            <a:picLocks noChangeAspect="1"/>
          </p:cNvPicPr>
          <p:nvPr/>
        </p:nvPicPr>
        <p:blipFill>
          <a:blip r:embed="rId5"/>
          <a:stretch>
            <a:fillRect/>
          </a:stretch>
        </p:blipFill>
        <p:spPr>
          <a:xfrm>
            <a:off x="6611112" y="941832"/>
            <a:ext cx="3081528" cy="5243149"/>
          </a:xfrm>
          <a:prstGeom prst="rect">
            <a:avLst/>
          </a:prstGeom>
        </p:spPr>
      </p:pic>
      <p:sp>
        <p:nvSpPr>
          <p:cNvPr id="7" name="Text 3"/>
          <p:cNvSpPr txBox="1"/>
          <p:nvPr/>
        </p:nvSpPr>
        <p:spPr>
          <a:xfrm>
            <a:off x="9875520" y="1737360"/>
            <a:ext cx="1828800" cy="1554480"/>
          </a:xfrm>
          <a:prstGeom prst="rect">
            <a:avLst/>
          </a:prstGeom>
          <a:noFill/>
          <a:ln/>
        </p:spPr>
        <p:txBody>
          <a:bodyPr wrap="square" lIns="0" tIns="0" rIns="0" bIns="0" rtlCol="0" anchor="t"/>
          <a:lstStyle/>
          <a:p>
            <a:pPr marL="0" indent="0">
              <a:buNone/>
            </a:pPr>
            <a:r>
              <a:rPr lang="en-US" sz="1900" i="1" dirty="0">
                <a:solidFill>
                  <a:srgbClr val="2F2440"/>
                </a:solidFill>
                <a:latin typeface="Georgia" pitchFamily="34" charset="0"/>
                <a:ea typeface="Georgia" pitchFamily="34" charset="-122"/>
                <a:cs typeface="Georgia" pitchFamily="34" charset="-120"/>
              </a:rPr>
              <a:t>“Beat the runner-up mainly on face sharpness.”</a:t>
            </a:r>
            <a:endParaRPr lang="en-US" sz="1900" dirty="0"/>
          </a:p>
        </p:txBody>
      </p:sp>
      <p:sp>
        <p:nvSpPr>
          <p:cNvPr id="8" name="Text 4"/>
          <p:cNvSpPr txBox="1"/>
          <p:nvPr/>
        </p:nvSpPr>
        <p:spPr>
          <a:xfrm>
            <a:off x="9875520" y="3337560"/>
            <a:ext cx="1828800" cy="274320"/>
          </a:xfrm>
          <a:prstGeom prst="rect">
            <a:avLst/>
          </a:prstGeom>
          <a:noFill/>
          <a:ln/>
        </p:spPr>
        <p:txBody>
          <a:bodyPr wrap="square" lIns="0" tIns="0" rIns="0" bIns="0" rtlCol="0" anchor="t"/>
          <a:lstStyle/>
          <a:p>
            <a:pPr marL="0" indent="0">
              <a:buNone/>
            </a:pPr>
            <a:endParaRPr lang="en-US" sz="1100" dirty="0"/>
          </a:p>
        </p:txBody>
      </p:sp>
      <p:pic>
        <p:nvPicPr>
          <p:cNvPr id="9" name="Image 1" descr="C:\Users\himat\AppData\Local\Temp\claude\c--Ai-stuffs-lumina\f3d460ba-f3ac-44b0-bd4c-6f066a888707\scratchpad\deck\assets\lumi_star.png"/>
          <p:cNvPicPr>
            <a:picLocks noChangeAspect="1"/>
          </p:cNvPicPr>
          <p:nvPr/>
        </p:nvPicPr>
        <p:blipFill>
          <a:blip r:embed="rId6"/>
          <a:stretch>
            <a:fillRect/>
          </a:stretch>
        </p:blipFill>
        <p:spPr>
          <a:xfrm>
            <a:off x="9900285" y="4160520"/>
            <a:ext cx="1779270" cy="1828800"/>
          </a:xfrm>
          <a:prstGeom prst="rect">
            <a:avLst/>
          </a:prstGeom>
        </p:spPr>
      </p:pic>
      <p:sp>
        <p:nvSpPr>
          <p:cNvPr id="11" name="Text 5"/>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12" name="Text 6"/>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07  ·  PERSONAL</a:t>
            </a:r>
            <a:endParaRPr lang="en-US" sz="1100" dirty="0"/>
          </a:p>
        </p:txBody>
      </p:sp>
      <p:sp>
        <p:nvSpPr>
          <p:cNvPr id="3" name="Text 1"/>
          <p:cNvSpPr txBox="1"/>
          <p:nvPr/>
        </p:nvSpPr>
        <p:spPr>
          <a:xfrm>
            <a:off x="548640" y="1005840"/>
            <a:ext cx="64008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It learns your taste</a:t>
            </a:r>
            <a:endParaRPr lang="en-US" sz="3800" dirty="0"/>
          </a:p>
        </p:txBody>
      </p:sp>
      <p:sp>
        <p:nvSpPr>
          <p:cNvPr id="4" name="Shape 2"/>
          <p:cNvSpPr/>
          <p:nvPr/>
        </p:nvSpPr>
        <p:spPr>
          <a:xfrm>
            <a:off x="548640" y="2148840"/>
            <a:ext cx="1874520" cy="1600200"/>
          </a:xfrm>
          <a:prstGeom prst="roundRect">
            <a:avLst>
              <a:gd name="adj" fmla="val 8000"/>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5" name="Text 3"/>
          <p:cNvSpPr txBox="1"/>
          <p:nvPr/>
        </p:nvSpPr>
        <p:spPr>
          <a:xfrm>
            <a:off x="777240" y="2377440"/>
            <a:ext cx="914400" cy="274320"/>
          </a:xfrm>
          <a:prstGeom prst="rect">
            <a:avLst/>
          </a:prstGeom>
          <a:noFill/>
          <a:ln/>
        </p:spPr>
        <p:txBody>
          <a:bodyPr wrap="square" lIns="0" tIns="0" rIns="0" bIns="0" rtlCol="0" anchor="t"/>
          <a:lstStyle/>
          <a:p>
            <a:pPr marL="0" indent="0">
              <a:buNone/>
            </a:pPr>
            <a:r>
              <a:rPr lang="en-US" sz="1100" b="1" kern="0" spc="200" dirty="0">
                <a:solidFill>
                  <a:srgbClr val="8F7BC6"/>
                </a:solidFill>
                <a:latin typeface="Calibri" pitchFamily="34" charset="0"/>
                <a:ea typeface="Calibri" pitchFamily="34" charset="-122"/>
                <a:cs typeface="Calibri" pitchFamily="34" charset="-120"/>
              </a:rPr>
              <a:t>01</a:t>
            </a:r>
            <a:endParaRPr lang="en-US" sz="1100" dirty="0"/>
          </a:p>
        </p:txBody>
      </p:sp>
      <p:sp>
        <p:nvSpPr>
          <p:cNvPr id="6" name="Text 4"/>
          <p:cNvSpPr txBox="1"/>
          <p:nvPr/>
        </p:nvSpPr>
        <p:spPr>
          <a:xfrm>
            <a:off x="777240" y="2651760"/>
            <a:ext cx="1554480" cy="365760"/>
          </a:xfrm>
          <a:prstGeom prst="rect">
            <a:avLst/>
          </a:prstGeom>
          <a:noFill/>
          <a:ln/>
        </p:spPr>
        <p:txBody>
          <a:bodyPr wrap="square" lIns="0" tIns="0" rIns="0" bIns="0" rtlCol="0" anchor="t"/>
          <a:lstStyle/>
          <a:p>
            <a:pPr marL="0" indent="0">
              <a:buNone/>
            </a:pPr>
            <a:r>
              <a:rPr lang="en-US" sz="1800" dirty="0">
                <a:solidFill>
                  <a:srgbClr val="2F2440"/>
                </a:solidFill>
                <a:latin typeface="Georgia" pitchFamily="34" charset="0"/>
                <a:ea typeface="Georgia" pitchFamily="34" charset="-122"/>
                <a:cs typeface="Georgia" pitchFamily="34" charset="-120"/>
              </a:rPr>
              <a:t>You swap</a:t>
            </a:r>
            <a:endParaRPr lang="en-US" sz="1800" dirty="0"/>
          </a:p>
        </p:txBody>
      </p:sp>
      <p:sp>
        <p:nvSpPr>
          <p:cNvPr id="7" name="Text 5"/>
          <p:cNvSpPr txBox="1"/>
          <p:nvPr/>
        </p:nvSpPr>
        <p:spPr>
          <a:xfrm>
            <a:off x="777240" y="3044952"/>
            <a:ext cx="1508760" cy="594360"/>
          </a:xfrm>
          <a:prstGeom prst="rect">
            <a:avLst/>
          </a:prstGeom>
          <a:noFill/>
          <a:ln/>
        </p:spPr>
        <p:txBody>
          <a:bodyPr wrap="square" lIns="0" tIns="0" rIns="0" bIns="0" rtlCol="0" anchor="t"/>
          <a:lstStyle/>
          <a:p>
            <a:pPr marL="0" indent="0">
              <a:buNone/>
            </a:pPr>
            <a:r>
              <a:rPr lang="en-US" sz="1250" dirty="0">
                <a:solidFill>
                  <a:srgbClr val="7D6D8E"/>
                </a:solidFill>
                <a:latin typeface="Calibri" pitchFamily="34" charset="0"/>
                <a:ea typeface="Calibri" pitchFamily="34" charset="-122"/>
                <a:cs typeface="Calibri" pitchFamily="34" charset="-120"/>
              </a:rPr>
              <a:t>Choose a different best shot</a:t>
            </a:r>
            <a:endParaRPr lang="en-US" sz="1250" dirty="0"/>
          </a:p>
        </p:txBody>
      </p:sp>
      <p:sp>
        <p:nvSpPr>
          <p:cNvPr id="8" name="Text 6"/>
          <p:cNvSpPr txBox="1"/>
          <p:nvPr/>
        </p:nvSpPr>
        <p:spPr>
          <a:xfrm>
            <a:off x="2423160" y="2743200"/>
            <a:ext cx="228600" cy="365760"/>
          </a:xfrm>
          <a:prstGeom prst="rect">
            <a:avLst/>
          </a:prstGeom>
          <a:noFill/>
          <a:ln/>
        </p:spPr>
        <p:txBody>
          <a:bodyPr wrap="square" lIns="0" tIns="0" rIns="0" bIns="0" rtlCol="0" anchor="t"/>
          <a:lstStyle/>
          <a:p>
            <a:pPr marL="0" indent="0" algn="ctr">
              <a:buNone/>
            </a:pPr>
            <a:r>
              <a:rPr lang="en-US" sz="1600" dirty="0">
                <a:solidFill>
                  <a:srgbClr val="8F7BC6"/>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2651760" y="2148840"/>
            <a:ext cx="1874520" cy="1600200"/>
          </a:xfrm>
          <a:prstGeom prst="roundRect">
            <a:avLst>
              <a:gd name="adj" fmla="val 8000"/>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0" name="Text 8"/>
          <p:cNvSpPr txBox="1"/>
          <p:nvPr/>
        </p:nvSpPr>
        <p:spPr>
          <a:xfrm>
            <a:off x="2880360" y="2377440"/>
            <a:ext cx="914400" cy="274320"/>
          </a:xfrm>
          <a:prstGeom prst="rect">
            <a:avLst/>
          </a:prstGeom>
          <a:noFill/>
          <a:ln/>
        </p:spPr>
        <p:txBody>
          <a:bodyPr wrap="square" lIns="0" tIns="0" rIns="0" bIns="0" rtlCol="0" anchor="t"/>
          <a:lstStyle/>
          <a:p>
            <a:pPr marL="0" indent="0">
              <a:buNone/>
            </a:pPr>
            <a:r>
              <a:rPr lang="en-US" sz="1100" b="1" kern="0" spc="200" dirty="0">
                <a:solidFill>
                  <a:srgbClr val="8F7BC6"/>
                </a:solidFill>
                <a:latin typeface="Calibri" pitchFamily="34" charset="0"/>
                <a:ea typeface="Calibri" pitchFamily="34" charset="-122"/>
                <a:cs typeface="Calibri" pitchFamily="34" charset="-120"/>
              </a:rPr>
              <a:t>02</a:t>
            </a:r>
            <a:endParaRPr lang="en-US" sz="1100" dirty="0"/>
          </a:p>
        </p:txBody>
      </p:sp>
      <p:sp>
        <p:nvSpPr>
          <p:cNvPr id="11" name="Text 9"/>
          <p:cNvSpPr txBox="1"/>
          <p:nvPr/>
        </p:nvSpPr>
        <p:spPr>
          <a:xfrm>
            <a:off x="2880360" y="2651760"/>
            <a:ext cx="1554480" cy="365760"/>
          </a:xfrm>
          <a:prstGeom prst="rect">
            <a:avLst/>
          </a:prstGeom>
          <a:noFill/>
          <a:ln/>
        </p:spPr>
        <p:txBody>
          <a:bodyPr wrap="square" lIns="0" tIns="0" rIns="0" bIns="0" rtlCol="0" anchor="t"/>
          <a:lstStyle/>
          <a:p>
            <a:pPr marL="0" indent="0">
              <a:buNone/>
            </a:pPr>
            <a:r>
              <a:rPr lang="en-US" sz="1800" dirty="0">
                <a:solidFill>
                  <a:srgbClr val="2F2440"/>
                </a:solidFill>
                <a:latin typeface="Georgia" pitchFamily="34" charset="0"/>
                <a:ea typeface="Georgia" pitchFamily="34" charset="-122"/>
                <a:cs typeface="Georgia" pitchFamily="34" charset="-120"/>
              </a:rPr>
              <a:t>It compares</a:t>
            </a:r>
            <a:endParaRPr lang="en-US" sz="1800" dirty="0"/>
          </a:p>
        </p:txBody>
      </p:sp>
      <p:sp>
        <p:nvSpPr>
          <p:cNvPr id="12" name="Text 10"/>
          <p:cNvSpPr txBox="1"/>
          <p:nvPr/>
        </p:nvSpPr>
        <p:spPr>
          <a:xfrm>
            <a:off x="2880360" y="3044952"/>
            <a:ext cx="1508760" cy="594360"/>
          </a:xfrm>
          <a:prstGeom prst="rect">
            <a:avLst/>
          </a:prstGeom>
          <a:noFill/>
          <a:ln/>
        </p:spPr>
        <p:txBody>
          <a:bodyPr wrap="square" lIns="0" tIns="0" rIns="0" bIns="0" rtlCol="0" anchor="t"/>
          <a:lstStyle/>
          <a:p>
            <a:pPr marL="0" indent="0">
              <a:buNone/>
            </a:pPr>
            <a:r>
              <a:rPr lang="en-US" sz="1250" dirty="0">
                <a:solidFill>
                  <a:srgbClr val="7D6D8E"/>
                </a:solidFill>
                <a:latin typeface="Calibri" pitchFamily="34" charset="0"/>
                <a:ea typeface="Calibri" pitchFamily="34" charset="-122"/>
                <a:cs typeface="Calibri" pitchFamily="34" charset="-120"/>
              </a:rPr>
              <a:t>Bradley–Terry update on 7 signals</a:t>
            </a:r>
            <a:endParaRPr lang="en-US" sz="1250" dirty="0"/>
          </a:p>
        </p:txBody>
      </p:sp>
      <p:sp>
        <p:nvSpPr>
          <p:cNvPr id="13" name="Text 11"/>
          <p:cNvSpPr txBox="1"/>
          <p:nvPr/>
        </p:nvSpPr>
        <p:spPr>
          <a:xfrm>
            <a:off x="4526280" y="2743200"/>
            <a:ext cx="228600" cy="365760"/>
          </a:xfrm>
          <a:prstGeom prst="rect">
            <a:avLst/>
          </a:prstGeom>
          <a:noFill/>
          <a:ln/>
        </p:spPr>
        <p:txBody>
          <a:bodyPr wrap="square" lIns="0" tIns="0" rIns="0" bIns="0" rtlCol="0" anchor="t"/>
          <a:lstStyle/>
          <a:p>
            <a:pPr marL="0" indent="0" algn="ctr">
              <a:buNone/>
            </a:pPr>
            <a:r>
              <a:rPr lang="en-US" sz="1600" dirty="0">
                <a:solidFill>
                  <a:srgbClr val="8F7BC6"/>
                </a:solidFill>
                <a:latin typeface="Calibri" pitchFamily="34" charset="0"/>
                <a:ea typeface="Calibri" pitchFamily="34" charset="-122"/>
                <a:cs typeface="Calibri" pitchFamily="34" charset="-120"/>
              </a:rPr>
              <a:t>→</a:t>
            </a:r>
            <a:endParaRPr lang="en-US" sz="1600" dirty="0"/>
          </a:p>
        </p:txBody>
      </p:sp>
      <p:sp>
        <p:nvSpPr>
          <p:cNvPr id="14" name="Shape 12"/>
          <p:cNvSpPr/>
          <p:nvPr/>
        </p:nvSpPr>
        <p:spPr>
          <a:xfrm>
            <a:off x="4754880" y="2148840"/>
            <a:ext cx="1874520" cy="1600200"/>
          </a:xfrm>
          <a:prstGeom prst="roundRect">
            <a:avLst>
              <a:gd name="adj" fmla="val 8000"/>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5" name="Text 13"/>
          <p:cNvSpPr txBox="1"/>
          <p:nvPr/>
        </p:nvSpPr>
        <p:spPr>
          <a:xfrm>
            <a:off x="4983480" y="2377440"/>
            <a:ext cx="914400" cy="274320"/>
          </a:xfrm>
          <a:prstGeom prst="rect">
            <a:avLst/>
          </a:prstGeom>
          <a:noFill/>
          <a:ln/>
        </p:spPr>
        <p:txBody>
          <a:bodyPr wrap="square" lIns="0" tIns="0" rIns="0" bIns="0" rtlCol="0" anchor="t"/>
          <a:lstStyle/>
          <a:p>
            <a:pPr marL="0" indent="0">
              <a:buNone/>
            </a:pPr>
            <a:r>
              <a:rPr lang="en-US" sz="1100" b="1" kern="0" spc="200" dirty="0">
                <a:solidFill>
                  <a:srgbClr val="8F7BC6"/>
                </a:solidFill>
                <a:latin typeface="Calibri" pitchFamily="34" charset="0"/>
                <a:ea typeface="Calibri" pitchFamily="34" charset="-122"/>
                <a:cs typeface="Calibri" pitchFamily="34" charset="-120"/>
              </a:rPr>
              <a:t>03</a:t>
            </a:r>
            <a:endParaRPr lang="en-US" sz="1100" dirty="0"/>
          </a:p>
        </p:txBody>
      </p:sp>
      <p:sp>
        <p:nvSpPr>
          <p:cNvPr id="16" name="Text 14"/>
          <p:cNvSpPr txBox="1"/>
          <p:nvPr/>
        </p:nvSpPr>
        <p:spPr>
          <a:xfrm>
            <a:off x="4983480" y="2651760"/>
            <a:ext cx="1554480" cy="365760"/>
          </a:xfrm>
          <a:prstGeom prst="rect">
            <a:avLst/>
          </a:prstGeom>
          <a:noFill/>
          <a:ln/>
        </p:spPr>
        <p:txBody>
          <a:bodyPr wrap="square" lIns="0" tIns="0" rIns="0" bIns="0" rtlCol="0" anchor="t"/>
          <a:lstStyle/>
          <a:p>
            <a:pPr marL="0" indent="0">
              <a:buNone/>
            </a:pPr>
            <a:r>
              <a:rPr lang="en-US" sz="1800" dirty="0">
                <a:solidFill>
                  <a:srgbClr val="2F2440"/>
                </a:solidFill>
                <a:latin typeface="Georgia" pitchFamily="34" charset="0"/>
                <a:ea typeface="Georgia" pitchFamily="34" charset="-122"/>
                <a:cs typeface="Georgia" pitchFamily="34" charset="-120"/>
              </a:rPr>
              <a:t>It adapts</a:t>
            </a:r>
            <a:endParaRPr lang="en-US" sz="1800" dirty="0"/>
          </a:p>
        </p:txBody>
      </p:sp>
      <p:sp>
        <p:nvSpPr>
          <p:cNvPr id="17" name="Text 15"/>
          <p:cNvSpPr txBox="1"/>
          <p:nvPr/>
        </p:nvSpPr>
        <p:spPr>
          <a:xfrm>
            <a:off x="4983480" y="3044952"/>
            <a:ext cx="1508760" cy="594360"/>
          </a:xfrm>
          <a:prstGeom prst="rect">
            <a:avLst/>
          </a:prstGeom>
          <a:noFill/>
          <a:ln/>
        </p:spPr>
        <p:txBody>
          <a:bodyPr wrap="square" lIns="0" tIns="0" rIns="0" bIns="0" rtlCol="0" anchor="t"/>
          <a:lstStyle/>
          <a:p>
            <a:pPr marL="0" indent="0">
              <a:buNone/>
            </a:pPr>
            <a:r>
              <a:rPr lang="en-US" sz="1250" dirty="0">
                <a:solidFill>
                  <a:srgbClr val="7D6D8E"/>
                </a:solidFill>
                <a:latin typeface="Calibri" pitchFamily="34" charset="0"/>
                <a:ea typeface="Calibri" pitchFamily="34" charset="-122"/>
                <a:cs typeface="Calibri" pitchFamily="34" charset="-120"/>
              </a:rPr>
              <a:t>Your weights re-rank every set</a:t>
            </a:r>
            <a:endParaRPr lang="en-US" sz="1250" dirty="0"/>
          </a:p>
        </p:txBody>
      </p:sp>
      <p:sp>
        <p:nvSpPr>
          <p:cNvPr id="18" name="Text 16"/>
          <p:cNvSpPr txBox="1"/>
          <p:nvPr/>
        </p:nvSpPr>
        <p:spPr>
          <a:xfrm>
            <a:off x="548640" y="4206240"/>
            <a:ext cx="3291840" cy="1005840"/>
          </a:xfrm>
          <a:prstGeom prst="rect">
            <a:avLst/>
          </a:prstGeom>
          <a:noFill/>
          <a:ln/>
        </p:spPr>
        <p:txBody>
          <a:bodyPr wrap="square" lIns="0" tIns="0" rIns="0" bIns="0" rtlCol="0" anchor="t"/>
          <a:lstStyle/>
          <a:p>
            <a:pPr marL="0" indent="0">
              <a:buNone/>
            </a:pPr>
            <a:r>
              <a:rPr lang="en-US" sz="6600" dirty="0">
                <a:solidFill>
                  <a:srgbClr val="8F7BC6"/>
                </a:solidFill>
                <a:latin typeface="Georgia" pitchFamily="34" charset="0"/>
                <a:ea typeface="Georgia" pitchFamily="34" charset="-122"/>
                <a:cs typeface="Georgia" pitchFamily="34" charset="-120"/>
              </a:rPr>
              <a:t>20–60</a:t>
            </a:r>
            <a:endParaRPr lang="en-US" sz="6600" dirty="0"/>
          </a:p>
        </p:txBody>
      </p:sp>
      <p:sp>
        <p:nvSpPr>
          <p:cNvPr id="19" name="Text 17"/>
          <p:cNvSpPr txBox="1"/>
          <p:nvPr/>
        </p:nvSpPr>
        <p:spPr>
          <a:xfrm>
            <a:off x="3474720" y="4526280"/>
            <a:ext cx="2926080" cy="640080"/>
          </a:xfrm>
          <a:prstGeom prst="rect">
            <a:avLst/>
          </a:prstGeom>
          <a:noFill/>
          <a:ln/>
        </p:spPr>
        <p:txBody>
          <a:bodyPr wrap="square" lIns="0" tIns="0" rIns="0" bIns="0" rtlCol="0" anchor="t"/>
          <a:lstStyle/>
          <a:p>
            <a:pPr marL="0" indent="0">
              <a:buNone/>
            </a:pPr>
            <a:r>
              <a:rPr lang="en-US" sz="1500" dirty="0">
                <a:solidFill>
                  <a:srgbClr val="7D6D8E"/>
                </a:solidFill>
                <a:latin typeface="Calibri" pitchFamily="34" charset="0"/>
                <a:ea typeface="Calibri" pitchFamily="34" charset="-122"/>
                <a:cs typeface="Calibri" pitchFamily="34" charset="-120"/>
              </a:rPr>
              <a:t>swaps to learn a simulated</a:t>
            </a:r>
            <a:endParaRPr lang="en-US" sz="1500" dirty="0"/>
          </a:p>
          <a:p>
            <a:pPr marL="0" indent="0">
              <a:buNone/>
            </a:pPr>
            <a:r>
              <a:rPr lang="en-US" sz="1500" dirty="0">
                <a:solidFill>
                  <a:srgbClr val="7D6D8E"/>
                </a:solidFill>
                <a:latin typeface="Calibri" pitchFamily="34" charset="0"/>
                <a:ea typeface="Calibri" pitchFamily="34" charset="-122"/>
                <a:cs typeface="Calibri" pitchFamily="34" charset="-120"/>
              </a:rPr>
              <a:t>user's taste</a:t>
            </a:r>
            <a:endParaRPr lang="en-US" sz="1500" dirty="0"/>
          </a:p>
        </p:txBody>
      </p:sp>
      <p:pic>
        <p:nvPicPr>
          <p:cNvPr id="20" name="Image 0" descr="C:\Users\himat\AppData\Local\Temp\claude\c--Ai-stuffs-lumina\f3d460ba-f3ac-44b0-bd4c-6f066a888707\scratchpad\deck\assets\t_taste.png"/>
          <p:cNvPicPr>
            <a:picLocks noChangeAspect="1"/>
          </p:cNvPicPr>
          <p:nvPr/>
        </p:nvPicPr>
        <p:blipFill>
          <a:blip r:embed="rId4"/>
          <a:stretch>
            <a:fillRect/>
          </a:stretch>
        </p:blipFill>
        <p:spPr>
          <a:xfrm>
            <a:off x="7388352" y="1033272"/>
            <a:ext cx="3968496" cy="4579412"/>
          </a:xfrm>
          <a:prstGeom prst="rect">
            <a:avLst/>
          </a:prstGeom>
        </p:spPr>
      </p:pic>
      <p:pic>
        <p:nvPicPr>
          <p:cNvPr id="21" name="Image 1" descr="C:\Users\himat\AppData\Local\Temp\claude\c--Ai-stuffs-lumina\f3d460ba-f3ac-44b0-bd4c-6f066a888707\scratchpad\deck\assets\lumi_hug.png"/>
          <p:cNvPicPr>
            <a:picLocks noChangeAspect="1"/>
          </p:cNvPicPr>
          <p:nvPr/>
        </p:nvPicPr>
        <p:blipFill>
          <a:blip r:embed="rId5"/>
          <a:stretch>
            <a:fillRect/>
          </a:stretch>
        </p:blipFill>
        <p:spPr>
          <a:xfrm>
            <a:off x="6355366" y="4617720"/>
            <a:ext cx="1051274" cy="1783080"/>
          </a:xfrm>
          <a:prstGeom prst="rect">
            <a:avLst/>
          </a:prstGeom>
        </p:spPr>
      </p:pic>
      <p:sp>
        <p:nvSpPr>
          <p:cNvPr id="23" name="Text 18"/>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24" name="Text 19"/>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08  ·  BEYOND CURATION</a:t>
            </a:r>
            <a:endParaRPr lang="en-US" sz="1100" dirty="0"/>
          </a:p>
        </p:txBody>
      </p:sp>
      <p:sp>
        <p:nvSpPr>
          <p:cNvPr id="3" name="Text 1"/>
          <p:cNvSpPr txBox="1"/>
          <p:nvPr/>
        </p:nvSpPr>
        <p:spPr>
          <a:xfrm>
            <a:off x="548640" y="804672"/>
            <a:ext cx="82296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Then make something with it</a:t>
            </a:r>
            <a:endParaRPr lang="en-US" sz="3800" dirty="0"/>
          </a:p>
        </p:txBody>
      </p:sp>
      <p:pic>
        <p:nvPicPr>
          <p:cNvPr id="4" name="Image 0" descr="C:\Users\himat\AppData\Local\Temp\claude\c--Ai-stuffs-lumina\f3d460ba-f3ac-44b0-bd4c-6f066a888707\scratchpad\deck\assets\b_album.png"/>
          <p:cNvPicPr>
            <a:picLocks noChangeAspect="1"/>
          </p:cNvPicPr>
          <p:nvPr/>
        </p:nvPicPr>
        <p:blipFill>
          <a:blip r:embed="rId4"/>
          <a:stretch>
            <a:fillRect/>
          </a:stretch>
        </p:blipFill>
        <p:spPr>
          <a:xfrm>
            <a:off x="347472" y="1581912"/>
            <a:ext cx="3977640" cy="2478024"/>
          </a:xfrm>
          <a:prstGeom prst="rect">
            <a:avLst/>
          </a:prstGeom>
        </p:spPr>
      </p:pic>
      <p:sp>
        <p:nvSpPr>
          <p:cNvPr id="5" name="Shape 2"/>
          <p:cNvSpPr/>
          <p:nvPr/>
        </p:nvSpPr>
        <p:spPr>
          <a:xfrm>
            <a:off x="685800" y="3383280"/>
            <a:ext cx="1531620" cy="338328"/>
          </a:xfrm>
          <a:prstGeom prst="roundRect">
            <a:avLst>
              <a:gd name="adj" fmla="val 48649"/>
            </a:avLst>
          </a:prstGeom>
          <a:solidFill>
            <a:srgbClr val="FFFFFF"/>
          </a:solidFill>
          <a:ln/>
        </p:spPr>
        <p:txBody>
          <a:bodyPr/>
          <a:lstStyle/>
          <a:p>
            <a:endParaRPr lang="en-US"/>
          </a:p>
        </p:txBody>
      </p:sp>
      <p:sp>
        <p:nvSpPr>
          <p:cNvPr id="6" name="Text 3"/>
          <p:cNvSpPr txBox="1"/>
          <p:nvPr/>
        </p:nvSpPr>
        <p:spPr>
          <a:xfrm>
            <a:off x="685800" y="3383280"/>
            <a:ext cx="1531620" cy="338328"/>
          </a:xfrm>
          <a:prstGeom prst="rect">
            <a:avLst/>
          </a:prstGeom>
          <a:noFill/>
          <a:ln/>
        </p:spPr>
        <p:txBody>
          <a:bodyPr wrap="square" lIns="0" tIns="0" rIns="0" bIns="0" rtlCol="0" anchor="ctr"/>
          <a:lstStyle/>
          <a:p>
            <a:pPr marL="0" indent="0" algn="ctr">
              <a:buNone/>
            </a:pPr>
            <a:r>
              <a:rPr lang="en-US" sz="1200" b="1" dirty="0">
                <a:solidFill>
                  <a:srgbClr val="2F2440"/>
                </a:solidFill>
                <a:latin typeface="Calibri" pitchFamily="34" charset="0"/>
                <a:ea typeface="Calibri" pitchFamily="34" charset="-122"/>
                <a:cs typeface="Calibri" pitchFamily="34" charset="-120"/>
              </a:rPr>
              <a:t>Printable album</a:t>
            </a:r>
            <a:endParaRPr lang="en-US" sz="1200" dirty="0"/>
          </a:p>
        </p:txBody>
      </p:sp>
      <p:pic>
        <p:nvPicPr>
          <p:cNvPr id="7" name="Image 1" descr="C:\Users\himat\AppData\Local\Temp\claude\c--Ai-stuffs-lumina\f3d460ba-f3ac-44b0-bd4c-6f066a888707\scratchpad\deck\assets\b_page.png"/>
          <p:cNvPicPr>
            <a:picLocks noChangeAspect="1"/>
          </p:cNvPicPr>
          <p:nvPr/>
        </p:nvPicPr>
        <p:blipFill>
          <a:blip r:embed="rId5"/>
          <a:stretch>
            <a:fillRect/>
          </a:stretch>
        </p:blipFill>
        <p:spPr>
          <a:xfrm>
            <a:off x="4197096" y="1581912"/>
            <a:ext cx="3977640" cy="2478024"/>
          </a:xfrm>
          <a:prstGeom prst="rect">
            <a:avLst/>
          </a:prstGeom>
        </p:spPr>
      </p:pic>
      <p:sp>
        <p:nvSpPr>
          <p:cNvPr id="8" name="Shape 4"/>
          <p:cNvSpPr/>
          <p:nvPr/>
        </p:nvSpPr>
        <p:spPr>
          <a:xfrm>
            <a:off x="4535424" y="3383280"/>
            <a:ext cx="2075688" cy="338328"/>
          </a:xfrm>
          <a:prstGeom prst="roundRect">
            <a:avLst>
              <a:gd name="adj" fmla="val 48649"/>
            </a:avLst>
          </a:prstGeom>
          <a:solidFill>
            <a:srgbClr val="FFFFFF"/>
          </a:solidFill>
          <a:ln/>
        </p:spPr>
        <p:txBody>
          <a:bodyPr/>
          <a:lstStyle/>
          <a:p>
            <a:endParaRPr lang="en-US"/>
          </a:p>
        </p:txBody>
      </p:sp>
      <p:sp>
        <p:nvSpPr>
          <p:cNvPr id="9" name="Text 5"/>
          <p:cNvSpPr txBox="1"/>
          <p:nvPr/>
        </p:nvSpPr>
        <p:spPr>
          <a:xfrm>
            <a:off x="4535424" y="3383280"/>
            <a:ext cx="2075688" cy="338328"/>
          </a:xfrm>
          <a:prstGeom prst="rect">
            <a:avLst/>
          </a:prstGeom>
          <a:noFill/>
          <a:ln/>
        </p:spPr>
        <p:txBody>
          <a:bodyPr wrap="square" lIns="0" tIns="0" rIns="0" bIns="0" rtlCol="0" anchor="ctr"/>
          <a:lstStyle/>
          <a:p>
            <a:pPr marL="0" indent="0" algn="ctr">
              <a:buNone/>
            </a:pPr>
            <a:r>
              <a:rPr lang="en-US" sz="1200" b="1" dirty="0">
                <a:solidFill>
                  <a:srgbClr val="2F2440"/>
                </a:solidFill>
                <a:latin typeface="Calibri" pitchFamily="34" charset="0"/>
                <a:ea typeface="Calibri" pitchFamily="34" charset="-122"/>
                <a:cs typeface="Calibri" pitchFamily="34" charset="-120"/>
              </a:rPr>
              <a:t>Lumi holds your photos</a:t>
            </a:r>
            <a:endParaRPr lang="en-US" sz="1200" dirty="0"/>
          </a:p>
        </p:txBody>
      </p:sp>
      <p:pic>
        <p:nvPicPr>
          <p:cNvPr id="10" name="Image 2" descr="C:\Users\himat\AppData\Local\Temp\claude\c--Ai-stuffs-lumina\f3d460ba-f3ac-44b0-bd4c-6f066a888707\scratchpad\deck\assets\b_search.png"/>
          <p:cNvPicPr>
            <a:picLocks noChangeAspect="1"/>
          </p:cNvPicPr>
          <p:nvPr/>
        </p:nvPicPr>
        <p:blipFill>
          <a:blip r:embed="rId6"/>
          <a:stretch>
            <a:fillRect/>
          </a:stretch>
        </p:blipFill>
        <p:spPr>
          <a:xfrm>
            <a:off x="8046720" y="1581912"/>
            <a:ext cx="3977640" cy="2478024"/>
          </a:xfrm>
          <a:prstGeom prst="rect">
            <a:avLst/>
          </a:prstGeom>
        </p:spPr>
      </p:pic>
      <p:sp>
        <p:nvSpPr>
          <p:cNvPr id="11" name="Shape 6"/>
          <p:cNvSpPr/>
          <p:nvPr/>
        </p:nvSpPr>
        <p:spPr>
          <a:xfrm>
            <a:off x="8385048" y="3383280"/>
            <a:ext cx="1997964" cy="338328"/>
          </a:xfrm>
          <a:prstGeom prst="roundRect">
            <a:avLst>
              <a:gd name="adj" fmla="val 48649"/>
            </a:avLst>
          </a:prstGeom>
          <a:solidFill>
            <a:srgbClr val="FFFFFF"/>
          </a:solidFill>
          <a:ln/>
        </p:spPr>
        <p:txBody>
          <a:bodyPr/>
          <a:lstStyle/>
          <a:p>
            <a:endParaRPr lang="en-US"/>
          </a:p>
        </p:txBody>
      </p:sp>
      <p:sp>
        <p:nvSpPr>
          <p:cNvPr id="12" name="Text 7"/>
          <p:cNvSpPr txBox="1"/>
          <p:nvPr/>
        </p:nvSpPr>
        <p:spPr>
          <a:xfrm>
            <a:off x="8385048" y="3383280"/>
            <a:ext cx="1997964" cy="338328"/>
          </a:xfrm>
          <a:prstGeom prst="rect">
            <a:avLst/>
          </a:prstGeom>
          <a:noFill/>
          <a:ln/>
        </p:spPr>
        <p:txBody>
          <a:bodyPr wrap="square" lIns="0" tIns="0" rIns="0" bIns="0" rtlCol="0" anchor="ctr"/>
          <a:lstStyle/>
          <a:p>
            <a:pPr marL="0" indent="0" algn="ctr">
              <a:buNone/>
            </a:pPr>
            <a:r>
              <a:rPr lang="en-US" sz="1200" b="1" dirty="0">
                <a:solidFill>
                  <a:srgbClr val="2F2440"/>
                </a:solidFill>
                <a:latin typeface="Calibri" pitchFamily="34" charset="0"/>
                <a:ea typeface="Calibri" pitchFamily="34" charset="-122"/>
                <a:cs typeface="Calibri" pitchFamily="34" charset="-120"/>
              </a:rPr>
              <a:t>Search in plain words</a:t>
            </a:r>
            <a:endParaRPr lang="en-US" sz="1200" dirty="0"/>
          </a:p>
        </p:txBody>
      </p:sp>
      <p:pic>
        <p:nvPicPr>
          <p:cNvPr id="13" name="Image 3" descr="C:\Users\himat\AppData\Local\Temp\claude\c--Ai-stuffs-lumina\f3d460ba-f3ac-44b0-bd4c-6f066a888707\scratchpad\deck\assets\b_video.png"/>
          <p:cNvPicPr>
            <a:picLocks noChangeAspect="1"/>
          </p:cNvPicPr>
          <p:nvPr/>
        </p:nvPicPr>
        <p:blipFill>
          <a:blip r:embed="rId7"/>
          <a:stretch>
            <a:fillRect/>
          </a:stretch>
        </p:blipFill>
        <p:spPr>
          <a:xfrm>
            <a:off x="347472" y="3931920"/>
            <a:ext cx="3977640" cy="2478024"/>
          </a:xfrm>
          <a:prstGeom prst="rect">
            <a:avLst/>
          </a:prstGeom>
        </p:spPr>
      </p:pic>
      <p:sp>
        <p:nvSpPr>
          <p:cNvPr id="14" name="Shape 8"/>
          <p:cNvSpPr/>
          <p:nvPr/>
        </p:nvSpPr>
        <p:spPr>
          <a:xfrm>
            <a:off x="685800" y="5733288"/>
            <a:ext cx="2542032" cy="338328"/>
          </a:xfrm>
          <a:prstGeom prst="roundRect">
            <a:avLst>
              <a:gd name="adj" fmla="val 48649"/>
            </a:avLst>
          </a:prstGeom>
          <a:solidFill>
            <a:srgbClr val="FFFFFF"/>
          </a:solidFill>
          <a:ln/>
        </p:spPr>
        <p:txBody>
          <a:bodyPr/>
          <a:lstStyle/>
          <a:p>
            <a:endParaRPr lang="en-US"/>
          </a:p>
        </p:txBody>
      </p:sp>
      <p:sp>
        <p:nvSpPr>
          <p:cNvPr id="15" name="Text 9"/>
          <p:cNvSpPr txBox="1"/>
          <p:nvPr/>
        </p:nvSpPr>
        <p:spPr>
          <a:xfrm>
            <a:off x="685800" y="5733288"/>
            <a:ext cx="2542032" cy="338328"/>
          </a:xfrm>
          <a:prstGeom prst="rect">
            <a:avLst/>
          </a:prstGeom>
          <a:noFill/>
          <a:ln/>
        </p:spPr>
        <p:txBody>
          <a:bodyPr wrap="square" lIns="0" tIns="0" rIns="0" bIns="0" rtlCol="0" anchor="ctr"/>
          <a:lstStyle/>
          <a:p>
            <a:pPr marL="0" indent="0" algn="ctr">
              <a:buNone/>
            </a:pPr>
            <a:r>
              <a:rPr lang="en-US" sz="1200" b="1" dirty="0">
                <a:solidFill>
                  <a:srgbClr val="2F2440"/>
                </a:solidFill>
                <a:latin typeface="Calibri" pitchFamily="34" charset="0"/>
                <a:ea typeface="Calibri" pitchFamily="34" charset="-122"/>
                <a:cs typeface="Calibri" pitchFamily="34" charset="-120"/>
              </a:rPr>
              <a:t>1080p video, cut to the beat</a:t>
            </a:r>
            <a:endParaRPr lang="en-US" sz="1200" dirty="0"/>
          </a:p>
        </p:txBody>
      </p:sp>
      <p:pic>
        <p:nvPicPr>
          <p:cNvPr id="16" name="Image 4" descr="C:\Users\himat\AppData\Local\Temp\claude\c--Ai-stuffs-lumina\f3d460ba-f3ac-44b0-bd4c-6f066a888707\scratchpad\deck\assets\b_world.png"/>
          <p:cNvPicPr>
            <a:picLocks noChangeAspect="1"/>
          </p:cNvPicPr>
          <p:nvPr/>
        </p:nvPicPr>
        <p:blipFill>
          <a:blip r:embed="rId8"/>
          <a:stretch>
            <a:fillRect/>
          </a:stretch>
        </p:blipFill>
        <p:spPr>
          <a:xfrm>
            <a:off x="4197096" y="3931920"/>
            <a:ext cx="3977640" cy="2478024"/>
          </a:xfrm>
          <a:prstGeom prst="rect">
            <a:avLst/>
          </a:prstGeom>
        </p:spPr>
      </p:pic>
      <p:sp>
        <p:nvSpPr>
          <p:cNvPr id="17" name="Shape 10"/>
          <p:cNvSpPr/>
          <p:nvPr/>
        </p:nvSpPr>
        <p:spPr>
          <a:xfrm>
            <a:off x="4535424" y="5733288"/>
            <a:ext cx="2231136" cy="338328"/>
          </a:xfrm>
          <a:prstGeom prst="roundRect">
            <a:avLst>
              <a:gd name="adj" fmla="val 48649"/>
            </a:avLst>
          </a:prstGeom>
          <a:solidFill>
            <a:srgbClr val="FFFFFF"/>
          </a:solidFill>
          <a:ln/>
        </p:spPr>
        <p:txBody>
          <a:bodyPr/>
          <a:lstStyle/>
          <a:p>
            <a:endParaRPr lang="en-US"/>
          </a:p>
        </p:txBody>
      </p:sp>
      <p:sp>
        <p:nvSpPr>
          <p:cNvPr id="18" name="Text 11"/>
          <p:cNvSpPr txBox="1"/>
          <p:nvPr/>
        </p:nvSpPr>
        <p:spPr>
          <a:xfrm>
            <a:off x="4535424" y="5733288"/>
            <a:ext cx="2231136" cy="338328"/>
          </a:xfrm>
          <a:prstGeom prst="rect">
            <a:avLst/>
          </a:prstGeom>
          <a:noFill/>
          <a:ln/>
        </p:spPr>
        <p:txBody>
          <a:bodyPr wrap="square" lIns="0" tIns="0" rIns="0" bIns="0" rtlCol="0" anchor="ctr"/>
          <a:lstStyle/>
          <a:p>
            <a:pPr marL="0" indent="0" algn="ctr">
              <a:buNone/>
            </a:pPr>
            <a:r>
              <a:rPr lang="en-US" sz="1200" b="1" dirty="0">
                <a:solidFill>
                  <a:srgbClr val="2F2440"/>
                </a:solidFill>
                <a:latin typeface="Calibri" pitchFamily="34" charset="0"/>
                <a:ea typeface="Calibri" pitchFamily="34" charset="-122"/>
                <a:cs typeface="Calibri" pitchFamily="34" charset="-120"/>
              </a:rPr>
              <a:t>Walk your memories in 3D</a:t>
            </a:r>
            <a:endParaRPr lang="en-US" sz="1200" dirty="0"/>
          </a:p>
        </p:txBody>
      </p:sp>
      <p:pic>
        <p:nvPicPr>
          <p:cNvPr id="19" name="Image 5" descr="C:\Users\himat\AppData\Local\Temp\claude\c--Ai-stuffs-lumina\f3d460ba-f3ac-44b0-bd4c-6f066a888707\scratchpad\deck\assets\b_cleanup.png"/>
          <p:cNvPicPr>
            <a:picLocks noChangeAspect="1"/>
          </p:cNvPicPr>
          <p:nvPr/>
        </p:nvPicPr>
        <p:blipFill>
          <a:blip r:embed="rId9"/>
          <a:stretch>
            <a:fillRect/>
          </a:stretch>
        </p:blipFill>
        <p:spPr>
          <a:xfrm>
            <a:off x="8046720" y="3931920"/>
            <a:ext cx="3977640" cy="2478024"/>
          </a:xfrm>
          <a:prstGeom prst="rect">
            <a:avLst/>
          </a:prstGeom>
        </p:spPr>
      </p:pic>
      <p:sp>
        <p:nvSpPr>
          <p:cNvPr id="20" name="Shape 12"/>
          <p:cNvSpPr/>
          <p:nvPr/>
        </p:nvSpPr>
        <p:spPr>
          <a:xfrm>
            <a:off x="8385048" y="5733288"/>
            <a:ext cx="2464308" cy="338328"/>
          </a:xfrm>
          <a:prstGeom prst="roundRect">
            <a:avLst>
              <a:gd name="adj" fmla="val 48649"/>
            </a:avLst>
          </a:prstGeom>
          <a:solidFill>
            <a:srgbClr val="FFFFFF"/>
          </a:solidFill>
          <a:ln/>
        </p:spPr>
        <p:txBody>
          <a:bodyPr/>
          <a:lstStyle/>
          <a:p>
            <a:endParaRPr lang="en-US"/>
          </a:p>
        </p:txBody>
      </p:sp>
      <p:sp>
        <p:nvSpPr>
          <p:cNvPr id="21" name="Text 13"/>
          <p:cNvSpPr txBox="1"/>
          <p:nvPr/>
        </p:nvSpPr>
        <p:spPr>
          <a:xfrm>
            <a:off x="8385048" y="5733288"/>
            <a:ext cx="2464308" cy="338328"/>
          </a:xfrm>
          <a:prstGeom prst="rect">
            <a:avLst/>
          </a:prstGeom>
          <a:noFill/>
          <a:ln/>
        </p:spPr>
        <p:txBody>
          <a:bodyPr wrap="square" lIns="0" tIns="0" rIns="0" bIns="0" rtlCol="0" anchor="ctr"/>
          <a:lstStyle/>
          <a:p>
            <a:pPr marL="0" indent="0" algn="ctr">
              <a:buNone/>
            </a:pPr>
            <a:r>
              <a:rPr lang="en-US" sz="1200" b="1" dirty="0">
                <a:solidFill>
                  <a:srgbClr val="2F2440"/>
                </a:solidFill>
                <a:latin typeface="Calibri" pitchFamily="34" charset="0"/>
                <a:ea typeface="Calibri" pitchFamily="34" charset="-122"/>
                <a:cs typeface="Calibri" pitchFamily="34" charset="-120"/>
              </a:rPr>
              <a:t>Cleanup: duplicates, blinks</a:t>
            </a:r>
            <a:endParaRPr lang="en-US" sz="1200" dirty="0"/>
          </a:p>
        </p:txBody>
      </p:sp>
      <p:sp>
        <p:nvSpPr>
          <p:cNvPr id="23" name="Text 14"/>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24" name="Text 15"/>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09  ·  PERSONAL TOUCH</a:t>
            </a:r>
            <a:endParaRPr lang="en-US" sz="1100" dirty="0"/>
          </a:p>
        </p:txBody>
      </p:sp>
      <p:sp>
        <p:nvSpPr>
          <p:cNvPr id="3" name="Text 1"/>
          <p:cNvSpPr txBox="1"/>
          <p:nvPr/>
        </p:nvSpPr>
        <p:spPr>
          <a:xfrm>
            <a:off x="548640" y="1005840"/>
            <a:ext cx="82296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Lumi dresses for your photos</a:t>
            </a:r>
            <a:endParaRPr lang="en-US" sz="3800" dirty="0"/>
          </a:p>
        </p:txBody>
      </p:sp>
      <p:sp>
        <p:nvSpPr>
          <p:cNvPr id="4" name="Text 2"/>
          <p:cNvSpPr txBox="1"/>
          <p:nvPr/>
        </p:nvSpPr>
        <p:spPr>
          <a:xfrm>
            <a:off x="548640" y="1737360"/>
            <a:ext cx="8229600" cy="365760"/>
          </a:xfrm>
          <a:prstGeom prst="rect">
            <a:avLst/>
          </a:prstGeom>
          <a:noFill/>
          <a:ln/>
        </p:spPr>
        <p:txBody>
          <a:bodyPr wrap="square" lIns="0" tIns="0" rIns="0" bIns="0" rtlCol="0" anchor="t"/>
          <a:lstStyle/>
          <a:p>
            <a:pPr marL="0" indent="0">
              <a:buNone/>
            </a:pPr>
            <a:r>
              <a:rPr lang="en-US" sz="1600" dirty="0">
                <a:solidFill>
                  <a:srgbClr val="7D6D8E"/>
                </a:solidFill>
                <a:latin typeface="Calibri" pitchFamily="34" charset="0"/>
                <a:ea typeface="Calibri" pitchFamily="34" charset="-122"/>
                <a:cs typeface="Calibri" pitchFamily="34" charset="-120"/>
              </a:rPr>
              <a:t>CLIP names each moment. Lumi picks the outfit.</a:t>
            </a:r>
            <a:endParaRPr lang="en-US" sz="1600" dirty="0"/>
          </a:p>
        </p:txBody>
      </p:sp>
      <p:sp>
        <p:nvSpPr>
          <p:cNvPr id="5" name="Shape 3"/>
          <p:cNvSpPr/>
          <p:nvPr/>
        </p:nvSpPr>
        <p:spPr>
          <a:xfrm>
            <a:off x="539496" y="2423160"/>
            <a:ext cx="1691640" cy="2514600"/>
          </a:xfrm>
          <a:prstGeom prst="roundRect">
            <a:avLst>
              <a:gd name="adj" fmla="val 7568"/>
            </a:avLst>
          </a:prstGeom>
          <a:solidFill>
            <a:srgbClr val="FFFFFF">
              <a:alpha val="70000"/>
            </a:srgbClr>
          </a:solidFill>
          <a:ln/>
          <a:effectLst>
            <a:outerShdw blurRad="177800" dist="38100" dir="5400000" algn="bl" rotWithShape="0">
              <a:srgbClr val="4A345C">
                <a:alpha val="14000"/>
              </a:srgbClr>
            </a:outerShdw>
          </a:effectLst>
        </p:spPr>
        <p:txBody>
          <a:bodyPr/>
          <a:lstStyle/>
          <a:p>
            <a:endParaRPr lang="en-US"/>
          </a:p>
        </p:txBody>
      </p:sp>
      <p:pic>
        <p:nvPicPr>
          <p:cNvPr id="6" name="Image 0" descr="C:\Users\himat\AppData\Local\Temp\claude\c--Ai-stuffs-lumina\f3d460ba-f3ac-44b0-bd4c-6f066a888707\scratchpad\deck\assets\lumi_beach.png"/>
          <p:cNvPicPr>
            <a:picLocks noChangeAspect="1"/>
          </p:cNvPicPr>
          <p:nvPr/>
        </p:nvPicPr>
        <p:blipFill>
          <a:blip r:embed="rId4"/>
          <a:stretch>
            <a:fillRect/>
          </a:stretch>
        </p:blipFill>
        <p:spPr>
          <a:xfrm>
            <a:off x="729663" y="2606040"/>
            <a:ext cx="1311307" cy="1783080"/>
          </a:xfrm>
          <a:prstGeom prst="rect">
            <a:avLst/>
          </a:prstGeom>
        </p:spPr>
      </p:pic>
      <p:sp>
        <p:nvSpPr>
          <p:cNvPr id="7" name="Text 4"/>
          <p:cNvSpPr txBox="1"/>
          <p:nvPr/>
        </p:nvSpPr>
        <p:spPr>
          <a:xfrm>
            <a:off x="539496" y="4480560"/>
            <a:ext cx="1691640" cy="320040"/>
          </a:xfrm>
          <a:prstGeom prst="rect">
            <a:avLst/>
          </a:prstGeom>
          <a:noFill/>
          <a:ln/>
        </p:spPr>
        <p:txBody>
          <a:bodyPr wrap="square" lIns="0" tIns="0" rIns="0" bIns="0" rtlCol="0" anchor="t"/>
          <a:lstStyle/>
          <a:p>
            <a:pPr marL="0" indent="0" algn="ctr">
              <a:buNone/>
            </a:pPr>
            <a:r>
              <a:rPr lang="en-US" sz="1400" b="1" dirty="0">
                <a:solidFill>
                  <a:srgbClr val="2F2440"/>
                </a:solidFill>
                <a:latin typeface="Calibri" pitchFamily="34" charset="0"/>
                <a:ea typeface="Calibri" pitchFamily="34" charset="-122"/>
                <a:cs typeface="Calibri" pitchFamily="34" charset="-120"/>
              </a:rPr>
              <a:t>Beach</a:t>
            </a:r>
            <a:endParaRPr lang="en-US" sz="1400" dirty="0"/>
          </a:p>
        </p:txBody>
      </p:sp>
      <p:sp>
        <p:nvSpPr>
          <p:cNvPr id="8" name="Shape 5"/>
          <p:cNvSpPr/>
          <p:nvPr/>
        </p:nvSpPr>
        <p:spPr>
          <a:xfrm>
            <a:off x="2423160" y="2423160"/>
            <a:ext cx="1691640" cy="2514600"/>
          </a:xfrm>
          <a:prstGeom prst="roundRect">
            <a:avLst>
              <a:gd name="adj" fmla="val 7568"/>
            </a:avLst>
          </a:prstGeom>
          <a:solidFill>
            <a:srgbClr val="FFFFFF">
              <a:alpha val="70000"/>
            </a:srgbClr>
          </a:solidFill>
          <a:ln/>
          <a:effectLst>
            <a:outerShdw blurRad="177800" dist="38100" dir="5400000" algn="bl" rotWithShape="0">
              <a:srgbClr val="4A345C">
                <a:alpha val="14000"/>
              </a:srgbClr>
            </a:outerShdw>
          </a:effectLst>
        </p:spPr>
        <p:txBody>
          <a:bodyPr/>
          <a:lstStyle/>
          <a:p>
            <a:endParaRPr lang="en-US"/>
          </a:p>
        </p:txBody>
      </p:sp>
      <p:pic>
        <p:nvPicPr>
          <p:cNvPr id="9" name="Image 1" descr="C:\Users\himat\AppData\Local\Temp\claude\c--Ai-stuffs-lumina\f3d460ba-f3ac-44b0-bd4c-6f066a888707\scratchpad\deck\assets\lumi_birthday.png"/>
          <p:cNvPicPr>
            <a:picLocks noChangeAspect="1"/>
          </p:cNvPicPr>
          <p:nvPr/>
        </p:nvPicPr>
        <p:blipFill>
          <a:blip r:embed="rId5"/>
          <a:stretch>
            <a:fillRect/>
          </a:stretch>
        </p:blipFill>
        <p:spPr>
          <a:xfrm>
            <a:off x="2797207" y="2606040"/>
            <a:ext cx="943547" cy="1783080"/>
          </a:xfrm>
          <a:prstGeom prst="rect">
            <a:avLst/>
          </a:prstGeom>
        </p:spPr>
      </p:pic>
      <p:sp>
        <p:nvSpPr>
          <p:cNvPr id="10" name="Text 6"/>
          <p:cNvSpPr txBox="1"/>
          <p:nvPr/>
        </p:nvSpPr>
        <p:spPr>
          <a:xfrm>
            <a:off x="2423160" y="4480560"/>
            <a:ext cx="1691640" cy="320040"/>
          </a:xfrm>
          <a:prstGeom prst="rect">
            <a:avLst/>
          </a:prstGeom>
          <a:noFill/>
          <a:ln/>
        </p:spPr>
        <p:txBody>
          <a:bodyPr wrap="square" lIns="0" tIns="0" rIns="0" bIns="0" rtlCol="0" anchor="t"/>
          <a:lstStyle/>
          <a:p>
            <a:pPr marL="0" indent="0" algn="ctr">
              <a:buNone/>
            </a:pPr>
            <a:r>
              <a:rPr lang="en-US" sz="1400" b="1" dirty="0">
                <a:solidFill>
                  <a:srgbClr val="2F2440"/>
                </a:solidFill>
                <a:latin typeface="Calibri" pitchFamily="34" charset="0"/>
                <a:ea typeface="Calibri" pitchFamily="34" charset="-122"/>
                <a:cs typeface="Calibri" pitchFamily="34" charset="-120"/>
              </a:rPr>
              <a:t>Birthday</a:t>
            </a:r>
            <a:endParaRPr lang="en-US" sz="1400" dirty="0"/>
          </a:p>
        </p:txBody>
      </p:sp>
      <p:sp>
        <p:nvSpPr>
          <p:cNvPr id="11" name="Shape 7"/>
          <p:cNvSpPr/>
          <p:nvPr/>
        </p:nvSpPr>
        <p:spPr>
          <a:xfrm>
            <a:off x="4306824" y="2423160"/>
            <a:ext cx="1691640" cy="2514600"/>
          </a:xfrm>
          <a:prstGeom prst="roundRect">
            <a:avLst>
              <a:gd name="adj" fmla="val 7568"/>
            </a:avLst>
          </a:prstGeom>
          <a:solidFill>
            <a:srgbClr val="FFFFFF">
              <a:alpha val="70000"/>
            </a:srgbClr>
          </a:solidFill>
          <a:ln/>
          <a:effectLst>
            <a:outerShdw blurRad="177800" dist="38100" dir="5400000" algn="bl" rotWithShape="0">
              <a:srgbClr val="4A345C">
                <a:alpha val="14000"/>
              </a:srgbClr>
            </a:outerShdw>
          </a:effectLst>
        </p:spPr>
        <p:txBody>
          <a:bodyPr/>
          <a:lstStyle/>
          <a:p>
            <a:endParaRPr lang="en-US"/>
          </a:p>
        </p:txBody>
      </p:sp>
      <p:pic>
        <p:nvPicPr>
          <p:cNvPr id="12" name="Image 2" descr="C:\Users\himat\AppData\Local\Temp\claude\c--Ai-stuffs-lumina\f3d460ba-f3ac-44b0-bd4c-6f066a888707\scratchpad\deck\assets\lumi_hiking.png"/>
          <p:cNvPicPr>
            <a:picLocks noChangeAspect="1"/>
          </p:cNvPicPr>
          <p:nvPr/>
        </p:nvPicPr>
        <p:blipFill>
          <a:blip r:embed="rId6"/>
          <a:stretch>
            <a:fillRect/>
          </a:stretch>
        </p:blipFill>
        <p:spPr>
          <a:xfrm>
            <a:off x="4554569" y="2606040"/>
            <a:ext cx="1196150" cy="1783080"/>
          </a:xfrm>
          <a:prstGeom prst="rect">
            <a:avLst/>
          </a:prstGeom>
        </p:spPr>
      </p:pic>
      <p:sp>
        <p:nvSpPr>
          <p:cNvPr id="13" name="Text 8"/>
          <p:cNvSpPr txBox="1"/>
          <p:nvPr/>
        </p:nvSpPr>
        <p:spPr>
          <a:xfrm>
            <a:off x="4306824" y="4480560"/>
            <a:ext cx="1691640" cy="320040"/>
          </a:xfrm>
          <a:prstGeom prst="rect">
            <a:avLst/>
          </a:prstGeom>
          <a:noFill/>
          <a:ln/>
        </p:spPr>
        <p:txBody>
          <a:bodyPr wrap="square" lIns="0" tIns="0" rIns="0" bIns="0" rtlCol="0" anchor="t"/>
          <a:lstStyle/>
          <a:p>
            <a:pPr marL="0" indent="0" algn="ctr">
              <a:buNone/>
            </a:pPr>
            <a:r>
              <a:rPr lang="en-US" sz="1400" b="1" dirty="0">
                <a:solidFill>
                  <a:srgbClr val="2F2440"/>
                </a:solidFill>
                <a:latin typeface="Calibri" pitchFamily="34" charset="0"/>
                <a:ea typeface="Calibri" pitchFamily="34" charset="-122"/>
                <a:cs typeface="Calibri" pitchFamily="34" charset="-120"/>
              </a:rPr>
              <a:t>Hiking</a:t>
            </a:r>
            <a:endParaRPr lang="en-US" sz="1400" dirty="0"/>
          </a:p>
        </p:txBody>
      </p:sp>
      <p:sp>
        <p:nvSpPr>
          <p:cNvPr id="14" name="Shape 9"/>
          <p:cNvSpPr/>
          <p:nvPr/>
        </p:nvSpPr>
        <p:spPr>
          <a:xfrm>
            <a:off x="6190488" y="2423160"/>
            <a:ext cx="1691640" cy="2514600"/>
          </a:xfrm>
          <a:prstGeom prst="roundRect">
            <a:avLst>
              <a:gd name="adj" fmla="val 7568"/>
            </a:avLst>
          </a:prstGeom>
          <a:solidFill>
            <a:srgbClr val="FFFFFF">
              <a:alpha val="70000"/>
            </a:srgbClr>
          </a:solidFill>
          <a:ln/>
          <a:effectLst>
            <a:outerShdw blurRad="177800" dist="38100" dir="5400000" algn="bl" rotWithShape="0">
              <a:srgbClr val="4A345C">
                <a:alpha val="14000"/>
              </a:srgbClr>
            </a:outerShdw>
          </a:effectLst>
        </p:spPr>
        <p:txBody>
          <a:bodyPr/>
          <a:lstStyle/>
          <a:p>
            <a:endParaRPr lang="en-US"/>
          </a:p>
        </p:txBody>
      </p:sp>
      <p:pic>
        <p:nvPicPr>
          <p:cNvPr id="15" name="Image 3" descr="C:\Users\himat\AppData\Local\Temp\claude\c--Ai-stuffs-lumina\f3d460ba-f3ac-44b0-bd4c-6f066a888707\scratchpad\deck\assets\lumi_wedding.png"/>
          <p:cNvPicPr>
            <a:picLocks noChangeAspect="1"/>
          </p:cNvPicPr>
          <p:nvPr/>
        </p:nvPicPr>
        <p:blipFill>
          <a:blip r:embed="rId7"/>
          <a:stretch>
            <a:fillRect/>
          </a:stretch>
        </p:blipFill>
        <p:spPr>
          <a:xfrm>
            <a:off x="6384369" y="2606040"/>
            <a:ext cx="1303877" cy="1783080"/>
          </a:xfrm>
          <a:prstGeom prst="rect">
            <a:avLst/>
          </a:prstGeom>
        </p:spPr>
      </p:pic>
      <p:sp>
        <p:nvSpPr>
          <p:cNvPr id="16" name="Text 10"/>
          <p:cNvSpPr txBox="1"/>
          <p:nvPr/>
        </p:nvSpPr>
        <p:spPr>
          <a:xfrm>
            <a:off x="6190488" y="4480560"/>
            <a:ext cx="1691640" cy="320040"/>
          </a:xfrm>
          <a:prstGeom prst="rect">
            <a:avLst/>
          </a:prstGeom>
          <a:noFill/>
          <a:ln/>
        </p:spPr>
        <p:txBody>
          <a:bodyPr wrap="square" lIns="0" tIns="0" rIns="0" bIns="0" rtlCol="0" anchor="t"/>
          <a:lstStyle/>
          <a:p>
            <a:pPr marL="0" indent="0" algn="ctr">
              <a:buNone/>
            </a:pPr>
            <a:r>
              <a:rPr lang="en-US" sz="1400" b="1" dirty="0">
                <a:solidFill>
                  <a:srgbClr val="2F2440"/>
                </a:solidFill>
                <a:latin typeface="Calibri" pitchFamily="34" charset="0"/>
                <a:ea typeface="Calibri" pitchFamily="34" charset="-122"/>
                <a:cs typeface="Calibri" pitchFamily="34" charset="-120"/>
              </a:rPr>
              <a:t>Wedding</a:t>
            </a:r>
            <a:endParaRPr lang="en-US" sz="1400" dirty="0"/>
          </a:p>
        </p:txBody>
      </p:sp>
      <p:sp>
        <p:nvSpPr>
          <p:cNvPr id="17" name="Shape 11"/>
          <p:cNvSpPr/>
          <p:nvPr/>
        </p:nvSpPr>
        <p:spPr>
          <a:xfrm>
            <a:off x="8074152" y="2423160"/>
            <a:ext cx="1691640" cy="2514600"/>
          </a:xfrm>
          <a:prstGeom prst="roundRect">
            <a:avLst>
              <a:gd name="adj" fmla="val 7568"/>
            </a:avLst>
          </a:prstGeom>
          <a:solidFill>
            <a:srgbClr val="FFFFFF">
              <a:alpha val="70000"/>
            </a:srgbClr>
          </a:solidFill>
          <a:ln/>
          <a:effectLst>
            <a:outerShdw blurRad="177800" dist="38100" dir="5400000" algn="bl" rotWithShape="0">
              <a:srgbClr val="4A345C">
                <a:alpha val="14000"/>
              </a:srgbClr>
            </a:outerShdw>
          </a:effectLst>
        </p:spPr>
        <p:txBody>
          <a:bodyPr/>
          <a:lstStyle/>
          <a:p>
            <a:endParaRPr lang="en-US"/>
          </a:p>
        </p:txBody>
      </p:sp>
      <p:pic>
        <p:nvPicPr>
          <p:cNvPr id="18" name="Image 4" descr="C:\Users\himat\AppData\Local\Temp\claude\c--Ai-stuffs-lumina\f3d460ba-f3ac-44b0-bd4c-6f066a888707\scratchpad\deck\assets\lumi_graduation.png"/>
          <p:cNvPicPr>
            <a:picLocks noChangeAspect="1"/>
          </p:cNvPicPr>
          <p:nvPr/>
        </p:nvPicPr>
        <p:blipFill>
          <a:blip r:embed="rId8"/>
          <a:stretch>
            <a:fillRect/>
          </a:stretch>
        </p:blipFill>
        <p:spPr>
          <a:xfrm>
            <a:off x="8333042" y="2606040"/>
            <a:ext cx="1173861" cy="1783080"/>
          </a:xfrm>
          <a:prstGeom prst="rect">
            <a:avLst/>
          </a:prstGeom>
        </p:spPr>
      </p:pic>
      <p:sp>
        <p:nvSpPr>
          <p:cNvPr id="19" name="Text 12"/>
          <p:cNvSpPr txBox="1"/>
          <p:nvPr/>
        </p:nvSpPr>
        <p:spPr>
          <a:xfrm>
            <a:off x="8074152" y="4480560"/>
            <a:ext cx="1691640" cy="320040"/>
          </a:xfrm>
          <a:prstGeom prst="rect">
            <a:avLst/>
          </a:prstGeom>
          <a:noFill/>
          <a:ln/>
        </p:spPr>
        <p:txBody>
          <a:bodyPr wrap="square" lIns="0" tIns="0" rIns="0" bIns="0" rtlCol="0" anchor="t"/>
          <a:lstStyle/>
          <a:p>
            <a:pPr marL="0" indent="0" algn="ctr">
              <a:buNone/>
            </a:pPr>
            <a:r>
              <a:rPr lang="en-US" sz="1400" b="1" dirty="0">
                <a:solidFill>
                  <a:srgbClr val="2F2440"/>
                </a:solidFill>
                <a:latin typeface="Calibri" pitchFamily="34" charset="0"/>
                <a:ea typeface="Calibri" pitchFamily="34" charset="-122"/>
                <a:cs typeface="Calibri" pitchFamily="34" charset="-120"/>
              </a:rPr>
              <a:t>Graduation</a:t>
            </a:r>
            <a:endParaRPr lang="en-US" sz="1400" dirty="0"/>
          </a:p>
        </p:txBody>
      </p:sp>
      <p:sp>
        <p:nvSpPr>
          <p:cNvPr id="20" name="Shape 13"/>
          <p:cNvSpPr/>
          <p:nvPr/>
        </p:nvSpPr>
        <p:spPr>
          <a:xfrm>
            <a:off x="9957816" y="2423160"/>
            <a:ext cx="1691640" cy="2514600"/>
          </a:xfrm>
          <a:prstGeom prst="roundRect">
            <a:avLst>
              <a:gd name="adj" fmla="val 7568"/>
            </a:avLst>
          </a:prstGeom>
          <a:solidFill>
            <a:srgbClr val="FFFFFF">
              <a:alpha val="70000"/>
            </a:srgbClr>
          </a:solidFill>
          <a:ln/>
          <a:effectLst>
            <a:outerShdw blurRad="177800" dist="38100" dir="5400000" algn="bl" rotWithShape="0">
              <a:srgbClr val="4A345C">
                <a:alpha val="14000"/>
              </a:srgbClr>
            </a:outerShdw>
          </a:effectLst>
        </p:spPr>
        <p:txBody>
          <a:bodyPr/>
          <a:lstStyle/>
          <a:p>
            <a:endParaRPr lang="en-US"/>
          </a:p>
        </p:txBody>
      </p:sp>
      <p:pic>
        <p:nvPicPr>
          <p:cNvPr id="21" name="Image 5" descr="C:\Users\himat\AppData\Local\Temp\claude\c--Ai-stuffs-lumina\f3d460ba-f3ac-44b0-bd4c-6f066a888707\scratchpad\deck\assets\lumi_dinner.png"/>
          <p:cNvPicPr>
            <a:picLocks noChangeAspect="1"/>
          </p:cNvPicPr>
          <p:nvPr/>
        </p:nvPicPr>
        <p:blipFill>
          <a:blip r:embed="rId9"/>
          <a:stretch>
            <a:fillRect/>
          </a:stretch>
        </p:blipFill>
        <p:spPr>
          <a:xfrm>
            <a:off x="10263140" y="2606040"/>
            <a:ext cx="1080992" cy="1783080"/>
          </a:xfrm>
          <a:prstGeom prst="rect">
            <a:avLst/>
          </a:prstGeom>
        </p:spPr>
      </p:pic>
      <p:sp>
        <p:nvSpPr>
          <p:cNvPr id="22" name="Text 14"/>
          <p:cNvSpPr txBox="1"/>
          <p:nvPr/>
        </p:nvSpPr>
        <p:spPr>
          <a:xfrm>
            <a:off x="9957816" y="4480560"/>
            <a:ext cx="1691640" cy="320040"/>
          </a:xfrm>
          <a:prstGeom prst="rect">
            <a:avLst/>
          </a:prstGeom>
          <a:noFill/>
          <a:ln/>
        </p:spPr>
        <p:txBody>
          <a:bodyPr wrap="square" lIns="0" tIns="0" rIns="0" bIns="0" rtlCol="0" anchor="t"/>
          <a:lstStyle/>
          <a:p>
            <a:pPr marL="0" indent="0" algn="ctr">
              <a:buNone/>
            </a:pPr>
            <a:r>
              <a:rPr lang="en-US" sz="1400" b="1" dirty="0">
                <a:solidFill>
                  <a:srgbClr val="2F2440"/>
                </a:solidFill>
                <a:latin typeface="Calibri" pitchFamily="34" charset="0"/>
                <a:ea typeface="Calibri" pitchFamily="34" charset="-122"/>
                <a:cs typeface="Calibri" pitchFamily="34" charset="-120"/>
              </a:rPr>
              <a:t>Dinner</a:t>
            </a:r>
            <a:endParaRPr lang="en-US" sz="1400" dirty="0"/>
          </a:p>
        </p:txBody>
      </p:sp>
      <p:sp>
        <p:nvSpPr>
          <p:cNvPr id="23" name="Text 15"/>
          <p:cNvSpPr txBox="1"/>
          <p:nvPr/>
        </p:nvSpPr>
        <p:spPr>
          <a:xfrm>
            <a:off x="3221083" y="5312229"/>
            <a:ext cx="1463040" cy="731520"/>
          </a:xfrm>
          <a:prstGeom prst="rect">
            <a:avLst/>
          </a:prstGeom>
          <a:noFill/>
          <a:ln/>
        </p:spPr>
        <p:txBody>
          <a:bodyPr wrap="square" lIns="0" tIns="0" rIns="0" bIns="0" rtlCol="0" anchor="t"/>
          <a:lstStyle/>
          <a:p>
            <a:pPr marL="0" indent="0">
              <a:buNone/>
            </a:pPr>
            <a:r>
              <a:rPr lang="en-US" sz="4000" dirty="0">
                <a:solidFill>
                  <a:srgbClr val="8F7BC6"/>
                </a:solidFill>
                <a:latin typeface="Georgia" pitchFamily="34" charset="0"/>
                <a:ea typeface="Georgia" pitchFamily="34" charset="-122"/>
                <a:cs typeface="Georgia" pitchFamily="34" charset="-120"/>
              </a:rPr>
              <a:t>30</a:t>
            </a:r>
            <a:endParaRPr lang="en-US" sz="4000" dirty="0"/>
          </a:p>
        </p:txBody>
      </p:sp>
      <p:sp>
        <p:nvSpPr>
          <p:cNvPr id="24" name="Text 16"/>
          <p:cNvSpPr txBox="1"/>
          <p:nvPr/>
        </p:nvSpPr>
        <p:spPr>
          <a:xfrm>
            <a:off x="3998323" y="5540829"/>
            <a:ext cx="2194560" cy="365760"/>
          </a:xfrm>
          <a:prstGeom prst="rect">
            <a:avLst/>
          </a:prstGeom>
          <a:noFill/>
          <a:ln/>
        </p:spPr>
        <p:txBody>
          <a:bodyPr wrap="square" lIns="0" tIns="0" rIns="0" bIns="0" rtlCol="0" anchor="t"/>
          <a:lstStyle/>
          <a:p>
            <a:pPr marL="0" indent="0">
              <a:buNone/>
            </a:pPr>
            <a:r>
              <a:rPr lang="en-US" sz="1400" dirty="0">
                <a:solidFill>
                  <a:srgbClr val="7D6D8E"/>
                </a:solidFill>
                <a:latin typeface="Calibri" pitchFamily="34" charset="0"/>
                <a:ea typeface="Calibri" pitchFamily="34" charset="-122"/>
                <a:cs typeface="Calibri" pitchFamily="34" charset="-120"/>
              </a:rPr>
              <a:t>poses</a:t>
            </a:r>
            <a:endParaRPr lang="en-US" sz="1400" dirty="0"/>
          </a:p>
        </p:txBody>
      </p:sp>
      <p:sp>
        <p:nvSpPr>
          <p:cNvPr id="25" name="Text 17"/>
          <p:cNvSpPr txBox="1"/>
          <p:nvPr/>
        </p:nvSpPr>
        <p:spPr>
          <a:xfrm>
            <a:off x="6970123" y="5312229"/>
            <a:ext cx="1463040" cy="731520"/>
          </a:xfrm>
          <a:prstGeom prst="rect">
            <a:avLst/>
          </a:prstGeom>
          <a:noFill/>
          <a:ln/>
        </p:spPr>
        <p:txBody>
          <a:bodyPr wrap="square" lIns="0" tIns="0" rIns="0" bIns="0" rtlCol="0" anchor="t"/>
          <a:lstStyle/>
          <a:p>
            <a:pPr marL="0" indent="0">
              <a:buNone/>
            </a:pPr>
            <a:r>
              <a:rPr lang="en-US" sz="4000" dirty="0">
                <a:solidFill>
                  <a:srgbClr val="8F7BC6"/>
                </a:solidFill>
                <a:latin typeface="Georgia" pitchFamily="34" charset="0"/>
                <a:ea typeface="Georgia" pitchFamily="34" charset="-122"/>
                <a:cs typeface="Georgia" pitchFamily="34" charset="-120"/>
              </a:rPr>
              <a:t>4</a:t>
            </a:r>
            <a:endParaRPr lang="en-US" sz="4000" dirty="0"/>
          </a:p>
        </p:txBody>
      </p:sp>
      <p:sp>
        <p:nvSpPr>
          <p:cNvPr id="26" name="Text 18"/>
          <p:cNvSpPr txBox="1"/>
          <p:nvPr/>
        </p:nvSpPr>
        <p:spPr>
          <a:xfrm>
            <a:off x="7427323" y="5540829"/>
            <a:ext cx="2194560" cy="365760"/>
          </a:xfrm>
          <a:prstGeom prst="rect">
            <a:avLst/>
          </a:prstGeom>
          <a:noFill/>
          <a:ln/>
        </p:spPr>
        <p:txBody>
          <a:bodyPr wrap="square" lIns="0" tIns="0" rIns="0" bIns="0" rtlCol="0" anchor="t"/>
          <a:lstStyle/>
          <a:p>
            <a:pPr marL="0" indent="0">
              <a:buNone/>
            </a:pPr>
            <a:r>
              <a:rPr lang="en-US" sz="1400" dirty="0">
                <a:solidFill>
                  <a:srgbClr val="7D6D8E"/>
                </a:solidFill>
                <a:latin typeface="Calibri" pitchFamily="34" charset="0"/>
                <a:ea typeface="Calibri" pitchFamily="34" charset="-122"/>
                <a:cs typeface="Calibri" pitchFamily="34" charset="-120"/>
              </a:rPr>
              <a:t>outfits, one recolour each</a:t>
            </a:r>
            <a:endParaRPr lang="en-US" sz="1400" dirty="0"/>
          </a:p>
        </p:txBody>
      </p:sp>
      <p:sp>
        <p:nvSpPr>
          <p:cNvPr id="27" name="Text 19"/>
          <p:cNvSpPr txBox="1"/>
          <p:nvPr/>
        </p:nvSpPr>
        <p:spPr>
          <a:xfrm>
            <a:off x="8046720" y="5257800"/>
            <a:ext cx="1463040" cy="731520"/>
          </a:xfrm>
          <a:prstGeom prst="rect">
            <a:avLst/>
          </a:prstGeom>
          <a:noFill/>
          <a:ln/>
        </p:spPr>
        <p:txBody>
          <a:bodyPr wrap="square" lIns="0" tIns="0" rIns="0" bIns="0" rtlCol="0" anchor="t"/>
          <a:lstStyle/>
          <a:p>
            <a:pPr marL="0" indent="0">
              <a:buNone/>
            </a:pPr>
            <a:endParaRPr lang="en-US" sz="4000" dirty="0"/>
          </a:p>
        </p:txBody>
      </p:sp>
      <p:sp>
        <p:nvSpPr>
          <p:cNvPr id="28" name="Text 20"/>
          <p:cNvSpPr txBox="1"/>
          <p:nvPr/>
        </p:nvSpPr>
        <p:spPr>
          <a:xfrm>
            <a:off x="9509760" y="5486400"/>
            <a:ext cx="2194560" cy="365760"/>
          </a:xfrm>
          <a:prstGeom prst="rect">
            <a:avLst/>
          </a:prstGeom>
          <a:noFill/>
          <a:ln/>
        </p:spPr>
        <p:txBody>
          <a:bodyPr wrap="square" lIns="0" tIns="0" rIns="0" bIns="0" rtlCol="0" anchor="t"/>
          <a:lstStyle/>
          <a:p>
            <a:pPr marL="0" indent="0">
              <a:buNone/>
            </a:pPr>
            <a:endParaRPr lang="en-US" sz="1400" dirty="0"/>
          </a:p>
        </p:txBody>
      </p:sp>
      <p:sp>
        <p:nvSpPr>
          <p:cNvPr id="30" name="Text 21"/>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31" name="Text 22"/>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10  ·  PROGRESS</a:t>
            </a:r>
            <a:endParaRPr lang="en-US" sz="1100" dirty="0"/>
          </a:p>
        </p:txBody>
      </p:sp>
      <p:sp>
        <p:nvSpPr>
          <p:cNvPr id="3" name="Text 1"/>
          <p:cNvSpPr txBox="1"/>
          <p:nvPr/>
        </p:nvSpPr>
        <p:spPr>
          <a:xfrm>
            <a:off x="548640" y="1005840"/>
            <a:ext cx="73152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From baseline to product</a:t>
            </a:r>
            <a:endParaRPr lang="en-US" sz="3800" dirty="0"/>
          </a:p>
        </p:txBody>
      </p:sp>
      <p:sp>
        <p:nvSpPr>
          <p:cNvPr id="4" name="Text 2"/>
          <p:cNvSpPr txBox="1"/>
          <p:nvPr/>
        </p:nvSpPr>
        <p:spPr>
          <a:xfrm>
            <a:off x="548640" y="1828800"/>
            <a:ext cx="2743200" cy="274320"/>
          </a:xfrm>
          <a:prstGeom prst="rect">
            <a:avLst/>
          </a:prstGeom>
          <a:noFill/>
          <a:ln/>
        </p:spPr>
        <p:txBody>
          <a:bodyPr wrap="square" lIns="0" tIns="0" rIns="0" bIns="0" rtlCol="0" anchor="ctr"/>
          <a:lstStyle/>
          <a:p>
            <a:pPr marL="0" indent="0">
              <a:buNone/>
            </a:pPr>
            <a:r>
              <a:rPr lang="en-US" sz="1100" b="1" kern="0" spc="300" dirty="0">
                <a:solidFill>
                  <a:srgbClr val="7D6D8E"/>
                </a:solidFill>
                <a:latin typeface="Calibri" pitchFamily="34" charset="0"/>
                <a:ea typeface="Calibri" pitchFamily="34" charset="-122"/>
                <a:cs typeface="Calibri" pitchFamily="34" charset="-120"/>
              </a:rPr>
              <a:t>SEMESTER 1</a:t>
            </a:r>
            <a:endParaRPr lang="en-US" sz="1100" dirty="0"/>
          </a:p>
        </p:txBody>
      </p:sp>
      <p:sp>
        <p:nvSpPr>
          <p:cNvPr id="5" name="Text 3"/>
          <p:cNvSpPr txBox="1"/>
          <p:nvPr/>
        </p:nvSpPr>
        <p:spPr>
          <a:xfrm>
            <a:off x="5257800" y="1828800"/>
            <a:ext cx="27432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NOW</a:t>
            </a:r>
            <a:endParaRPr lang="en-US" sz="1100" dirty="0"/>
          </a:p>
        </p:txBody>
      </p:sp>
      <p:sp>
        <p:nvSpPr>
          <p:cNvPr id="6" name="Shape 4"/>
          <p:cNvSpPr/>
          <p:nvPr/>
        </p:nvSpPr>
        <p:spPr>
          <a:xfrm>
            <a:off x="548640" y="2194560"/>
            <a:ext cx="4114800" cy="530352"/>
          </a:xfrm>
          <a:prstGeom prst="roundRect">
            <a:avLst>
              <a:gd name="adj" fmla="val 17241"/>
            </a:avLst>
          </a:prstGeom>
          <a:solidFill>
            <a:srgbClr val="FFFFFF">
              <a:alpha val="55000"/>
            </a:srgbClr>
          </a:solidFill>
          <a:ln/>
        </p:spPr>
        <p:txBody>
          <a:bodyPr/>
          <a:lstStyle/>
          <a:p>
            <a:endParaRPr lang="en-US"/>
          </a:p>
        </p:txBody>
      </p:sp>
      <p:sp>
        <p:nvSpPr>
          <p:cNvPr id="7" name="Text 5"/>
          <p:cNvSpPr txBox="1"/>
          <p:nvPr/>
        </p:nvSpPr>
        <p:spPr>
          <a:xfrm>
            <a:off x="777240" y="2194560"/>
            <a:ext cx="3749040" cy="530352"/>
          </a:xfrm>
          <a:prstGeom prst="rect">
            <a:avLst/>
          </a:prstGeom>
          <a:noFill/>
          <a:ln/>
        </p:spPr>
        <p:txBody>
          <a:bodyPr wrap="square" lIns="0" tIns="0" rIns="0" bIns="0" rtlCol="0" anchor="ctr"/>
          <a:lstStyle/>
          <a:p>
            <a:pPr marL="0" indent="0">
              <a:buNone/>
            </a:pPr>
            <a:r>
              <a:rPr lang="en-US" sz="1500" dirty="0">
                <a:solidFill>
                  <a:srgbClr val="7D6D8E"/>
                </a:solidFill>
                <a:latin typeface="Calibri" pitchFamily="34" charset="0"/>
                <a:ea typeface="Calibri" pitchFamily="34" charset="-122"/>
                <a:cs typeface="Calibri" pitchFamily="34" charset="-120"/>
              </a:rPr>
              <a:t>Fixed weights</a:t>
            </a:r>
            <a:endParaRPr lang="en-US" sz="1500" dirty="0"/>
          </a:p>
        </p:txBody>
      </p:sp>
      <p:sp>
        <p:nvSpPr>
          <p:cNvPr id="8" name="Text 6"/>
          <p:cNvSpPr txBox="1"/>
          <p:nvPr/>
        </p:nvSpPr>
        <p:spPr>
          <a:xfrm>
            <a:off x="4709160" y="2194560"/>
            <a:ext cx="457200" cy="530352"/>
          </a:xfrm>
          <a:prstGeom prst="rect">
            <a:avLst/>
          </a:prstGeom>
          <a:noFill/>
          <a:ln/>
        </p:spPr>
        <p:txBody>
          <a:bodyPr wrap="square" lIns="0" tIns="0" rIns="0" bIns="0" rtlCol="0" anchor="ctr"/>
          <a:lstStyle/>
          <a:p>
            <a:pPr marL="0" indent="0" algn="ctr">
              <a:buNone/>
            </a:pPr>
            <a:r>
              <a:rPr lang="en-US" sz="1800" dirty="0">
                <a:solidFill>
                  <a:srgbClr val="8F7BC6"/>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5257800" y="2194560"/>
            <a:ext cx="3840480" cy="530352"/>
          </a:xfrm>
          <a:prstGeom prst="roundRect">
            <a:avLst>
              <a:gd name="adj" fmla="val 17241"/>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0" name="Text 8"/>
          <p:cNvSpPr txBox="1"/>
          <p:nvPr/>
        </p:nvSpPr>
        <p:spPr>
          <a:xfrm>
            <a:off x="5486400" y="2194560"/>
            <a:ext cx="3474720" cy="530352"/>
          </a:xfrm>
          <a:prstGeom prst="rect">
            <a:avLst/>
          </a:prstGeom>
          <a:noFill/>
          <a:ln/>
        </p:spPr>
        <p:txBody>
          <a:bodyPr wrap="square" lIns="0" tIns="0" rIns="0" bIns="0" rtlCol="0" anchor="ctr"/>
          <a:lstStyle/>
          <a:p>
            <a:pPr marL="0" indent="0">
              <a:buNone/>
            </a:pPr>
            <a:r>
              <a:rPr lang="en-US" sz="1500" b="1" dirty="0">
                <a:solidFill>
                  <a:srgbClr val="2F2440"/>
                </a:solidFill>
                <a:latin typeface="Calibri" pitchFamily="34" charset="0"/>
                <a:ea typeface="Calibri" pitchFamily="34" charset="-122"/>
                <a:cs typeface="Calibri" pitchFamily="34" charset="-120"/>
              </a:rPr>
              <a:t>Learns your taste</a:t>
            </a:r>
            <a:endParaRPr lang="en-US" sz="1500" dirty="0"/>
          </a:p>
        </p:txBody>
      </p:sp>
      <p:sp>
        <p:nvSpPr>
          <p:cNvPr id="11" name="Shape 9"/>
          <p:cNvSpPr/>
          <p:nvPr/>
        </p:nvSpPr>
        <p:spPr>
          <a:xfrm>
            <a:off x="548640" y="2862072"/>
            <a:ext cx="4114800" cy="530352"/>
          </a:xfrm>
          <a:prstGeom prst="roundRect">
            <a:avLst>
              <a:gd name="adj" fmla="val 17241"/>
            </a:avLst>
          </a:prstGeom>
          <a:solidFill>
            <a:srgbClr val="FFFFFF">
              <a:alpha val="55000"/>
            </a:srgbClr>
          </a:solidFill>
          <a:ln/>
        </p:spPr>
        <p:txBody>
          <a:bodyPr/>
          <a:lstStyle/>
          <a:p>
            <a:endParaRPr lang="en-US"/>
          </a:p>
        </p:txBody>
      </p:sp>
      <p:sp>
        <p:nvSpPr>
          <p:cNvPr id="12" name="Text 10"/>
          <p:cNvSpPr txBox="1"/>
          <p:nvPr/>
        </p:nvSpPr>
        <p:spPr>
          <a:xfrm>
            <a:off x="777240" y="2862072"/>
            <a:ext cx="3749040" cy="530352"/>
          </a:xfrm>
          <a:prstGeom prst="rect">
            <a:avLst/>
          </a:prstGeom>
          <a:noFill/>
          <a:ln/>
        </p:spPr>
        <p:txBody>
          <a:bodyPr wrap="square" lIns="0" tIns="0" rIns="0" bIns="0" rtlCol="0" anchor="ctr"/>
          <a:lstStyle/>
          <a:p>
            <a:pPr marL="0" indent="0">
              <a:buNone/>
            </a:pPr>
            <a:r>
              <a:rPr lang="en-US" sz="1500" dirty="0">
                <a:solidFill>
                  <a:srgbClr val="7D6D8E"/>
                </a:solidFill>
                <a:latin typeface="Calibri" pitchFamily="34" charset="0"/>
                <a:ea typeface="Calibri" pitchFamily="34" charset="-122"/>
                <a:cs typeface="Calibri" pitchFamily="34" charset="-120"/>
              </a:rPr>
              <a:t>Re-runs everything</a:t>
            </a:r>
            <a:endParaRPr lang="en-US" sz="1500" dirty="0"/>
          </a:p>
        </p:txBody>
      </p:sp>
      <p:sp>
        <p:nvSpPr>
          <p:cNvPr id="13" name="Text 11"/>
          <p:cNvSpPr txBox="1"/>
          <p:nvPr/>
        </p:nvSpPr>
        <p:spPr>
          <a:xfrm>
            <a:off x="4709160" y="2862072"/>
            <a:ext cx="457200" cy="530352"/>
          </a:xfrm>
          <a:prstGeom prst="rect">
            <a:avLst/>
          </a:prstGeom>
          <a:noFill/>
          <a:ln/>
        </p:spPr>
        <p:txBody>
          <a:bodyPr wrap="square" lIns="0" tIns="0" rIns="0" bIns="0" rtlCol="0" anchor="ctr"/>
          <a:lstStyle/>
          <a:p>
            <a:pPr marL="0" indent="0" algn="ctr">
              <a:buNone/>
            </a:pPr>
            <a:r>
              <a:rPr lang="en-US" sz="1800" dirty="0">
                <a:solidFill>
                  <a:srgbClr val="8F7BC6"/>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5257800" y="2862072"/>
            <a:ext cx="3840480" cy="530352"/>
          </a:xfrm>
          <a:prstGeom prst="roundRect">
            <a:avLst>
              <a:gd name="adj" fmla="val 17241"/>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5" name="Text 13"/>
          <p:cNvSpPr txBox="1"/>
          <p:nvPr/>
        </p:nvSpPr>
        <p:spPr>
          <a:xfrm>
            <a:off x="5486400" y="2862072"/>
            <a:ext cx="3474720" cy="530352"/>
          </a:xfrm>
          <a:prstGeom prst="rect">
            <a:avLst/>
          </a:prstGeom>
          <a:noFill/>
          <a:ln/>
        </p:spPr>
        <p:txBody>
          <a:bodyPr wrap="square" lIns="0" tIns="0" rIns="0" bIns="0" rtlCol="0" anchor="ctr"/>
          <a:lstStyle/>
          <a:p>
            <a:pPr marL="0" indent="0">
              <a:buNone/>
            </a:pPr>
            <a:r>
              <a:rPr lang="en-US" sz="1500" b="1" dirty="0">
                <a:solidFill>
                  <a:srgbClr val="2F2440"/>
                </a:solidFill>
                <a:latin typeface="Calibri" pitchFamily="34" charset="0"/>
                <a:ea typeface="Calibri" pitchFamily="34" charset="-122"/>
                <a:cs typeface="Calibri" pitchFamily="34" charset="-120"/>
              </a:rPr>
              <a:t>SHA-256 feature cache</a:t>
            </a:r>
            <a:endParaRPr lang="en-US" sz="1500" dirty="0"/>
          </a:p>
        </p:txBody>
      </p:sp>
      <p:sp>
        <p:nvSpPr>
          <p:cNvPr id="16" name="Shape 14"/>
          <p:cNvSpPr/>
          <p:nvPr/>
        </p:nvSpPr>
        <p:spPr>
          <a:xfrm>
            <a:off x="548640" y="3529584"/>
            <a:ext cx="4114800" cy="530352"/>
          </a:xfrm>
          <a:prstGeom prst="roundRect">
            <a:avLst>
              <a:gd name="adj" fmla="val 17241"/>
            </a:avLst>
          </a:prstGeom>
          <a:solidFill>
            <a:srgbClr val="FFFFFF">
              <a:alpha val="55000"/>
            </a:srgbClr>
          </a:solidFill>
          <a:ln/>
        </p:spPr>
        <p:txBody>
          <a:bodyPr/>
          <a:lstStyle/>
          <a:p>
            <a:endParaRPr lang="en-US"/>
          </a:p>
        </p:txBody>
      </p:sp>
      <p:sp>
        <p:nvSpPr>
          <p:cNvPr id="17" name="Text 15"/>
          <p:cNvSpPr txBox="1"/>
          <p:nvPr/>
        </p:nvSpPr>
        <p:spPr>
          <a:xfrm>
            <a:off x="777240" y="3529584"/>
            <a:ext cx="3749040" cy="530352"/>
          </a:xfrm>
          <a:prstGeom prst="rect">
            <a:avLst/>
          </a:prstGeom>
          <a:noFill/>
          <a:ln/>
        </p:spPr>
        <p:txBody>
          <a:bodyPr wrap="square" lIns="0" tIns="0" rIns="0" bIns="0" rtlCol="0" anchor="ctr"/>
          <a:lstStyle/>
          <a:p>
            <a:pPr marL="0" indent="0">
              <a:buNone/>
            </a:pPr>
            <a:r>
              <a:rPr lang="en-US" sz="1500" dirty="0">
                <a:solidFill>
                  <a:srgbClr val="7D6D8E"/>
                </a:solidFill>
                <a:latin typeface="Calibri" pitchFamily="34" charset="0"/>
                <a:ea typeface="Calibri" pitchFamily="34" charset="-122"/>
                <a:cs typeface="Calibri" pitchFamily="34" charset="-120"/>
              </a:rPr>
              <a:t>Black-box picks</a:t>
            </a:r>
            <a:endParaRPr lang="en-US" sz="1500" dirty="0"/>
          </a:p>
        </p:txBody>
      </p:sp>
      <p:sp>
        <p:nvSpPr>
          <p:cNvPr id="18" name="Text 16"/>
          <p:cNvSpPr txBox="1"/>
          <p:nvPr/>
        </p:nvSpPr>
        <p:spPr>
          <a:xfrm>
            <a:off x="4709160" y="3529584"/>
            <a:ext cx="457200" cy="530352"/>
          </a:xfrm>
          <a:prstGeom prst="rect">
            <a:avLst/>
          </a:prstGeom>
          <a:noFill/>
          <a:ln/>
        </p:spPr>
        <p:txBody>
          <a:bodyPr wrap="square" lIns="0" tIns="0" rIns="0" bIns="0" rtlCol="0" anchor="ctr"/>
          <a:lstStyle/>
          <a:p>
            <a:pPr marL="0" indent="0" algn="ctr">
              <a:buNone/>
            </a:pPr>
            <a:r>
              <a:rPr lang="en-US" sz="1800" dirty="0">
                <a:solidFill>
                  <a:srgbClr val="8F7BC6"/>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5257800" y="3529584"/>
            <a:ext cx="3840480" cy="530352"/>
          </a:xfrm>
          <a:prstGeom prst="roundRect">
            <a:avLst>
              <a:gd name="adj" fmla="val 17241"/>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20" name="Text 18"/>
          <p:cNvSpPr txBox="1"/>
          <p:nvPr/>
        </p:nvSpPr>
        <p:spPr>
          <a:xfrm>
            <a:off x="5486400" y="3529584"/>
            <a:ext cx="3474720" cy="530352"/>
          </a:xfrm>
          <a:prstGeom prst="rect">
            <a:avLst/>
          </a:prstGeom>
          <a:noFill/>
          <a:ln/>
        </p:spPr>
        <p:txBody>
          <a:bodyPr wrap="square" lIns="0" tIns="0" rIns="0" bIns="0" rtlCol="0" anchor="ctr"/>
          <a:lstStyle/>
          <a:p>
            <a:pPr marL="0" indent="0">
              <a:buNone/>
            </a:pPr>
            <a:r>
              <a:rPr lang="en-US" sz="1500" b="1" dirty="0">
                <a:solidFill>
                  <a:srgbClr val="2F2440"/>
                </a:solidFill>
                <a:latin typeface="Calibri" pitchFamily="34" charset="0"/>
                <a:ea typeface="Calibri" pitchFamily="34" charset="-122"/>
                <a:cs typeface="Calibri" pitchFamily="34" charset="-120"/>
              </a:rPr>
              <a:t>Plain-word reasons</a:t>
            </a:r>
            <a:endParaRPr lang="en-US" sz="1500" dirty="0"/>
          </a:p>
        </p:txBody>
      </p:sp>
      <p:sp>
        <p:nvSpPr>
          <p:cNvPr id="21" name="Shape 19"/>
          <p:cNvSpPr/>
          <p:nvPr/>
        </p:nvSpPr>
        <p:spPr>
          <a:xfrm>
            <a:off x="548640" y="4197096"/>
            <a:ext cx="4114800" cy="530352"/>
          </a:xfrm>
          <a:prstGeom prst="roundRect">
            <a:avLst>
              <a:gd name="adj" fmla="val 17241"/>
            </a:avLst>
          </a:prstGeom>
          <a:solidFill>
            <a:srgbClr val="FFFFFF">
              <a:alpha val="55000"/>
            </a:srgbClr>
          </a:solidFill>
          <a:ln/>
        </p:spPr>
        <p:txBody>
          <a:bodyPr/>
          <a:lstStyle/>
          <a:p>
            <a:endParaRPr lang="en-US"/>
          </a:p>
        </p:txBody>
      </p:sp>
      <p:sp>
        <p:nvSpPr>
          <p:cNvPr id="22" name="Text 20"/>
          <p:cNvSpPr txBox="1"/>
          <p:nvPr/>
        </p:nvSpPr>
        <p:spPr>
          <a:xfrm>
            <a:off x="777240" y="4197096"/>
            <a:ext cx="3749040" cy="530352"/>
          </a:xfrm>
          <a:prstGeom prst="rect">
            <a:avLst/>
          </a:prstGeom>
          <a:noFill/>
          <a:ln/>
        </p:spPr>
        <p:txBody>
          <a:bodyPr wrap="square" lIns="0" tIns="0" rIns="0" bIns="0" rtlCol="0" anchor="ctr"/>
          <a:lstStyle/>
          <a:p>
            <a:pPr marL="0" indent="0">
              <a:buNone/>
            </a:pPr>
            <a:r>
              <a:rPr lang="en-US" sz="1500" dirty="0">
                <a:solidFill>
                  <a:srgbClr val="7D6D8E"/>
                </a:solidFill>
                <a:latin typeface="Calibri" pitchFamily="34" charset="0"/>
                <a:ea typeface="Calibri" pitchFamily="34" charset="-122"/>
                <a:cs typeface="Calibri" pitchFamily="34" charset="-120"/>
              </a:rPr>
              <a:t>No search</a:t>
            </a:r>
            <a:endParaRPr lang="en-US" sz="1500" dirty="0"/>
          </a:p>
        </p:txBody>
      </p:sp>
      <p:sp>
        <p:nvSpPr>
          <p:cNvPr id="23" name="Text 21"/>
          <p:cNvSpPr txBox="1"/>
          <p:nvPr/>
        </p:nvSpPr>
        <p:spPr>
          <a:xfrm>
            <a:off x="4709160" y="4197096"/>
            <a:ext cx="457200" cy="530352"/>
          </a:xfrm>
          <a:prstGeom prst="rect">
            <a:avLst/>
          </a:prstGeom>
          <a:noFill/>
          <a:ln/>
        </p:spPr>
        <p:txBody>
          <a:bodyPr wrap="square" lIns="0" tIns="0" rIns="0" bIns="0" rtlCol="0" anchor="ctr"/>
          <a:lstStyle/>
          <a:p>
            <a:pPr marL="0" indent="0" algn="ctr">
              <a:buNone/>
            </a:pPr>
            <a:r>
              <a:rPr lang="en-US" sz="1800" dirty="0">
                <a:solidFill>
                  <a:srgbClr val="8F7BC6"/>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5257800" y="4197096"/>
            <a:ext cx="3840480" cy="530352"/>
          </a:xfrm>
          <a:prstGeom prst="roundRect">
            <a:avLst>
              <a:gd name="adj" fmla="val 17241"/>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25" name="Text 23"/>
          <p:cNvSpPr txBox="1"/>
          <p:nvPr/>
        </p:nvSpPr>
        <p:spPr>
          <a:xfrm>
            <a:off x="5486400" y="4197096"/>
            <a:ext cx="3474720" cy="530352"/>
          </a:xfrm>
          <a:prstGeom prst="rect">
            <a:avLst/>
          </a:prstGeom>
          <a:noFill/>
          <a:ln/>
        </p:spPr>
        <p:txBody>
          <a:bodyPr wrap="square" lIns="0" tIns="0" rIns="0" bIns="0" rtlCol="0" anchor="ctr"/>
          <a:lstStyle/>
          <a:p>
            <a:pPr marL="0" indent="0">
              <a:buNone/>
            </a:pPr>
            <a:r>
              <a:rPr lang="en-US" sz="1500" b="1" dirty="0">
                <a:solidFill>
                  <a:srgbClr val="2F2440"/>
                </a:solidFill>
                <a:latin typeface="Calibri" pitchFamily="34" charset="0"/>
                <a:ea typeface="Calibri" pitchFamily="34" charset="-122"/>
                <a:cs typeface="Calibri" pitchFamily="34" charset="-120"/>
              </a:rPr>
              <a:t>CLIP text search</a:t>
            </a:r>
            <a:endParaRPr lang="en-US" sz="1500" dirty="0"/>
          </a:p>
        </p:txBody>
      </p:sp>
      <p:sp>
        <p:nvSpPr>
          <p:cNvPr id="26" name="Shape 24"/>
          <p:cNvSpPr/>
          <p:nvPr/>
        </p:nvSpPr>
        <p:spPr>
          <a:xfrm>
            <a:off x="548640" y="4864608"/>
            <a:ext cx="4114800" cy="530352"/>
          </a:xfrm>
          <a:prstGeom prst="roundRect">
            <a:avLst>
              <a:gd name="adj" fmla="val 17241"/>
            </a:avLst>
          </a:prstGeom>
          <a:solidFill>
            <a:srgbClr val="FFFFFF">
              <a:alpha val="55000"/>
            </a:srgbClr>
          </a:solidFill>
          <a:ln/>
        </p:spPr>
        <p:txBody>
          <a:bodyPr/>
          <a:lstStyle/>
          <a:p>
            <a:endParaRPr lang="en-US"/>
          </a:p>
        </p:txBody>
      </p:sp>
      <p:sp>
        <p:nvSpPr>
          <p:cNvPr id="27" name="Text 25"/>
          <p:cNvSpPr txBox="1"/>
          <p:nvPr/>
        </p:nvSpPr>
        <p:spPr>
          <a:xfrm>
            <a:off x="777240" y="4864608"/>
            <a:ext cx="3749040" cy="530352"/>
          </a:xfrm>
          <a:prstGeom prst="rect">
            <a:avLst/>
          </a:prstGeom>
          <a:noFill/>
          <a:ln/>
        </p:spPr>
        <p:txBody>
          <a:bodyPr wrap="square" lIns="0" tIns="0" rIns="0" bIns="0" rtlCol="0" anchor="ctr"/>
          <a:lstStyle/>
          <a:p>
            <a:pPr marL="0" indent="0">
              <a:buNone/>
            </a:pPr>
            <a:r>
              <a:rPr lang="en-US" sz="1500" dirty="0">
                <a:solidFill>
                  <a:srgbClr val="7D6D8E"/>
                </a:solidFill>
                <a:latin typeface="Calibri" pitchFamily="34" charset="0"/>
                <a:ea typeface="Calibri" pitchFamily="34" charset="-122"/>
                <a:cs typeface="Calibri" pitchFamily="34" charset="-120"/>
              </a:rPr>
              <a:t>One pick per group</a:t>
            </a:r>
            <a:endParaRPr lang="en-US" sz="1500" dirty="0"/>
          </a:p>
        </p:txBody>
      </p:sp>
      <p:sp>
        <p:nvSpPr>
          <p:cNvPr id="28" name="Text 26"/>
          <p:cNvSpPr txBox="1"/>
          <p:nvPr/>
        </p:nvSpPr>
        <p:spPr>
          <a:xfrm>
            <a:off x="4709160" y="4864608"/>
            <a:ext cx="457200" cy="530352"/>
          </a:xfrm>
          <a:prstGeom prst="rect">
            <a:avLst/>
          </a:prstGeom>
          <a:noFill/>
          <a:ln/>
        </p:spPr>
        <p:txBody>
          <a:bodyPr wrap="square" lIns="0" tIns="0" rIns="0" bIns="0" rtlCol="0" anchor="ctr"/>
          <a:lstStyle/>
          <a:p>
            <a:pPr marL="0" indent="0" algn="ctr">
              <a:buNone/>
            </a:pPr>
            <a:r>
              <a:rPr lang="en-US" sz="1800" dirty="0">
                <a:solidFill>
                  <a:srgbClr val="8F7BC6"/>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5257800" y="4864608"/>
            <a:ext cx="3840480" cy="530352"/>
          </a:xfrm>
          <a:prstGeom prst="roundRect">
            <a:avLst>
              <a:gd name="adj" fmla="val 17241"/>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30" name="Text 28"/>
          <p:cNvSpPr txBox="1"/>
          <p:nvPr/>
        </p:nvSpPr>
        <p:spPr>
          <a:xfrm>
            <a:off x="5486400" y="4864608"/>
            <a:ext cx="3474720" cy="530352"/>
          </a:xfrm>
          <a:prstGeom prst="rect">
            <a:avLst/>
          </a:prstGeom>
          <a:noFill/>
          <a:ln/>
        </p:spPr>
        <p:txBody>
          <a:bodyPr wrap="square" lIns="0" tIns="0" rIns="0" bIns="0" rtlCol="0" anchor="ctr"/>
          <a:lstStyle/>
          <a:p>
            <a:pPr marL="0" indent="0">
              <a:buNone/>
            </a:pPr>
            <a:r>
              <a:rPr lang="en-US" sz="1500" b="1" dirty="0">
                <a:solidFill>
                  <a:srgbClr val="2F2440"/>
                </a:solidFill>
                <a:latin typeface="Calibri" pitchFamily="34" charset="0"/>
                <a:ea typeface="Calibri" pitchFamily="34" charset="-122"/>
                <a:cs typeface="Calibri" pitchFamily="34" charset="-120"/>
              </a:rPr>
              <a:t>Quality · Balanced · Diverse</a:t>
            </a:r>
            <a:endParaRPr lang="en-US" sz="1500" dirty="0"/>
          </a:p>
        </p:txBody>
      </p:sp>
      <p:sp>
        <p:nvSpPr>
          <p:cNvPr id="31" name="Shape 29"/>
          <p:cNvSpPr/>
          <p:nvPr/>
        </p:nvSpPr>
        <p:spPr>
          <a:xfrm>
            <a:off x="548640" y="5532120"/>
            <a:ext cx="4114800" cy="530352"/>
          </a:xfrm>
          <a:prstGeom prst="roundRect">
            <a:avLst>
              <a:gd name="adj" fmla="val 17241"/>
            </a:avLst>
          </a:prstGeom>
          <a:solidFill>
            <a:srgbClr val="FFFFFF">
              <a:alpha val="55000"/>
            </a:srgbClr>
          </a:solidFill>
          <a:ln/>
        </p:spPr>
        <p:txBody>
          <a:bodyPr/>
          <a:lstStyle/>
          <a:p>
            <a:endParaRPr lang="en-US"/>
          </a:p>
        </p:txBody>
      </p:sp>
      <p:sp>
        <p:nvSpPr>
          <p:cNvPr id="32" name="Text 30"/>
          <p:cNvSpPr txBox="1"/>
          <p:nvPr/>
        </p:nvSpPr>
        <p:spPr>
          <a:xfrm>
            <a:off x="777240" y="5532120"/>
            <a:ext cx="3749040" cy="530352"/>
          </a:xfrm>
          <a:prstGeom prst="rect">
            <a:avLst/>
          </a:prstGeom>
          <a:noFill/>
          <a:ln/>
        </p:spPr>
        <p:txBody>
          <a:bodyPr wrap="square" lIns="0" tIns="0" rIns="0" bIns="0" rtlCol="0" anchor="ctr"/>
          <a:lstStyle/>
          <a:p>
            <a:pPr marL="0" indent="0">
              <a:buNone/>
            </a:pPr>
            <a:r>
              <a:rPr lang="en-US" sz="1500" dirty="0">
                <a:solidFill>
                  <a:srgbClr val="7D6D8E"/>
                </a:solidFill>
                <a:latin typeface="Calibri" pitchFamily="34" charset="0"/>
                <a:ea typeface="Calibri" pitchFamily="34" charset="-122"/>
                <a:cs typeface="Calibri" pitchFamily="34" charset="-120"/>
              </a:rPr>
              <a:t>Body-only identity</a:t>
            </a:r>
            <a:endParaRPr lang="en-US" sz="1500" dirty="0"/>
          </a:p>
        </p:txBody>
      </p:sp>
      <p:sp>
        <p:nvSpPr>
          <p:cNvPr id="33" name="Text 31"/>
          <p:cNvSpPr txBox="1"/>
          <p:nvPr/>
        </p:nvSpPr>
        <p:spPr>
          <a:xfrm>
            <a:off x="4709160" y="5532120"/>
            <a:ext cx="457200" cy="530352"/>
          </a:xfrm>
          <a:prstGeom prst="rect">
            <a:avLst/>
          </a:prstGeom>
          <a:noFill/>
          <a:ln/>
        </p:spPr>
        <p:txBody>
          <a:bodyPr wrap="square" lIns="0" tIns="0" rIns="0" bIns="0" rtlCol="0" anchor="ctr"/>
          <a:lstStyle/>
          <a:p>
            <a:pPr marL="0" indent="0" algn="ctr">
              <a:buNone/>
            </a:pPr>
            <a:r>
              <a:rPr lang="en-US" sz="1800" dirty="0">
                <a:solidFill>
                  <a:srgbClr val="8F7BC6"/>
                </a:solidFill>
                <a:latin typeface="Calibri" pitchFamily="34" charset="0"/>
                <a:ea typeface="Calibri" pitchFamily="34" charset="-122"/>
                <a:cs typeface="Calibri" pitchFamily="34" charset="-120"/>
              </a:rPr>
              <a:t>→</a:t>
            </a:r>
            <a:endParaRPr lang="en-US" sz="1800" dirty="0"/>
          </a:p>
        </p:txBody>
      </p:sp>
      <p:sp>
        <p:nvSpPr>
          <p:cNvPr id="34" name="Shape 32"/>
          <p:cNvSpPr/>
          <p:nvPr/>
        </p:nvSpPr>
        <p:spPr>
          <a:xfrm>
            <a:off x="5257800" y="5532120"/>
            <a:ext cx="3840480" cy="530352"/>
          </a:xfrm>
          <a:prstGeom prst="roundRect">
            <a:avLst>
              <a:gd name="adj" fmla="val 17241"/>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35" name="Text 33"/>
          <p:cNvSpPr txBox="1"/>
          <p:nvPr/>
        </p:nvSpPr>
        <p:spPr>
          <a:xfrm>
            <a:off x="5486400" y="5532120"/>
            <a:ext cx="3474720" cy="530352"/>
          </a:xfrm>
          <a:prstGeom prst="rect">
            <a:avLst/>
          </a:prstGeom>
          <a:noFill/>
          <a:ln/>
        </p:spPr>
        <p:txBody>
          <a:bodyPr wrap="square" lIns="0" tIns="0" rIns="0" bIns="0" rtlCol="0" anchor="ctr"/>
          <a:lstStyle/>
          <a:p>
            <a:pPr marL="0" indent="0">
              <a:buNone/>
            </a:pPr>
            <a:r>
              <a:rPr lang="en-US" sz="1500" b="1" dirty="0">
                <a:solidFill>
                  <a:srgbClr val="2F2440"/>
                </a:solidFill>
                <a:latin typeface="Calibri" pitchFamily="34" charset="0"/>
                <a:ea typeface="Calibri" pitchFamily="34" charset="-122"/>
                <a:cs typeface="Calibri" pitchFamily="34" charset="-120"/>
              </a:rPr>
              <a:t>Face + body fusion</a:t>
            </a:r>
            <a:endParaRPr lang="en-US" sz="1500" dirty="0"/>
          </a:p>
        </p:txBody>
      </p:sp>
      <p:pic>
        <p:nvPicPr>
          <p:cNvPr id="36" name="Image 0" descr="C:\Users\himat\AppData\Local\Temp\claude\c--Ai-stuffs-lumina\f3d460ba-f3ac-44b0-bd4c-6f066a888707\scratchpad\deck\assets\lumi_carry.png"/>
          <p:cNvPicPr>
            <a:picLocks noChangeAspect="1"/>
          </p:cNvPicPr>
          <p:nvPr/>
        </p:nvPicPr>
        <p:blipFill>
          <a:blip r:embed="rId4"/>
          <a:stretch>
            <a:fillRect/>
          </a:stretch>
        </p:blipFill>
        <p:spPr>
          <a:xfrm>
            <a:off x="9537192" y="3108960"/>
            <a:ext cx="2121408" cy="2651760"/>
          </a:xfrm>
          <a:prstGeom prst="rect">
            <a:avLst/>
          </a:prstGeom>
        </p:spPr>
      </p:pic>
      <p:sp>
        <p:nvSpPr>
          <p:cNvPr id="38" name="Text 34"/>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39" name="Text 35"/>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11  ·  RESULTS</a:t>
            </a:r>
            <a:endParaRPr lang="en-US" sz="1100" dirty="0"/>
          </a:p>
        </p:txBody>
      </p:sp>
      <p:sp>
        <p:nvSpPr>
          <p:cNvPr id="3" name="Text 1"/>
          <p:cNvSpPr txBox="1"/>
          <p:nvPr/>
        </p:nvSpPr>
        <p:spPr>
          <a:xfrm>
            <a:off x="548640" y="1005840"/>
            <a:ext cx="73152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Does it work?</a:t>
            </a:r>
            <a:endParaRPr lang="en-US" sz="3800" dirty="0"/>
          </a:p>
        </p:txBody>
      </p:sp>
      <p:sp>
        <p:nvSpPr>
          <p:cNvPr id="4" name="Shape 2"/>
          <p:cNvSpPr/>
          <p:nvPr/>
        </p:nvSpPr>
        <p:spPr>
          <a:xfrm>
            <a:off x="548640" y="1920240"/>
            <a:ext cx="2651760" cy="1783080"/>
          </a:xfrm>
          <a:prstGeom prst="roundRect">
            <a:avLst>
              <a:gd name="adj" fmla="val 717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5" name="Text 3"/>
          <p:cNvSpPr txBox="1"/>
          <p:nvPr/>
        </p:nvSpPr>
        <p:spPr>
          <a:xfrm>
            <a:off x="822960" y="2148840"/>
            <a:ext cx="2194560" cy="777240"/>
          </a:xfrm>
          <a:prstGeom prst="rect">
            <a:avLst/>
          </a:prstGeom>
          <a:noFill/>
          <a:ln/>
        </p:spPr>
        <p:txBody>
          <a:bodyPr wrap="square" lIns="0" tIns="0" rIns="0" bIns="0" rtlCol="0" anchor="t"/>
          <a:lstStyle/>
          <a:p>
            <a:pPr marL="0" indent="0">
              <a:buNone/>
            </a:pPr>
            <a:r>
              <a:rPr lang="en-US" sz="4400" dirty="0">
                <a:solidFill>
                  <a:srgbClr val="8F7BC6"/>
                </a:solidFill>
                <a:latin typeface="Georgia" pitchFamily="34" charset="0"/>
                <a:ea typeface="Georgia" pitchFamily="34" charset="-122"/>
                <a:cs typeface="Georgia" pitchFamily="34" charset="-120"/>
              </a:rPr>
              <a:t>0.775</a:t>
            </a:r>
            <a:endParaRPr lang="en-US" sz="4400" dirty="0"/>
          </a:p>
        </p:txBody>
      </p:sp>
      <p:sp>
        <p:nvSpPr>
          <p:cNvPr id="6" name="Text 4"/>
          <p:cNvSpPr txBox="1"/>
          <p:nvPr/>
        </p:nvSpPr>
        <p:spPr>
          <a:xfrm>
            <a:off x="822960" y="2926080"/>
            <a:ext cx="2286000" cy="64008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event silhouette,</a:t>
            </a:r>
            <a:endParaRPr lang="en-US" sz="1300" dirty="0"/>
          </a:p>
          <a:p>
            <a:pPr marL="0" indent="0">
              <a:buNone/>
            </a:pPr>
            <a:r>
              <a:rPr lang="en-US" sz="1300" dirty="0">
                <a:solidFill>
                  <a:srgbClr val="7D6D8E"/>
                </a:solidFill>
                <a:latin typeface="Calibri" pitchFamily="34" charset="0"/>
                <a:ea typeface="Calibri" pitchFamily="34" charset="-122"/>
                <a:cs typeface="Calibri" pitchFamily="34" charset="-120"/>
              </a:rPr>
              <a:t>7 moments found</a:t>
            </a:r>
            <a:endParaRPr lang="en-US" sz="1300" dirty="0"/>
          </a:p>
        </p:txBody>
      </p:sp>
      <p:sp>
        <p:nvSpPr>
          <p:cNvPr id="7" name="Shape 5"/>
          <p:cNvSpPr/>
          <p:nvPr/>
        </p:nvSpPr>
        <p:spPr>
          <a:xfrm>
            <a:off x="3419856" y="1920240"/>
            <a:ext cx="2651760" cy="1783080"/>
          </a:xfrm>
          <a:prstGeom prst="roundRect">
            <a:avLst>
              <a:gd name="adj" fmla="val 717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8" name="Text 6"/>
          <p:cNvSpPr txBox="1"/>
          <p:nvPr/>
        </p:nvSpPr>
        <p:spPr>
          <a:xfrm>
            <a:off x="3694176" y="2148840"/>
            <a:ext cx="2194560" cy="777240"/>
          </a:xfrm>
          <a:prstGeom prst="rect">
            <a:avLst/>
          </a:prstGeom>
          <a:noFill/>
          <a:ln/>
        </p:spPr>
        <p:txBody>
          <a:bodyPr wrap="square" lIns="0" tIns="0" rIns="0" bIns="0" rtlCol="0" anchor="t"/>
          <a:lstStyle/>
          <a:p>
            <a:pPr marL="0" indent="0">
              <a:buNone/>
            </a:pPr>
            <a:r>
              <a:rPr lang="en-US" sz="4400" dirty="0">
                <a:solidFill>
                  <a:srgbClr val="E38C9E"/>
                </a:solidFill>
                <a:latin typeface="Georgia" pitchFamily="34" charset="0"/>
                <a:ea typeface="Georgia" pitchFamily="34" charset="-122"/>
                <a:cs typeface="Georgia" pitchFamily="34" charset="-120"/>
              </a:rPr>
              <a:t>1</a:t>
            </a:r>
            <a:endParaRPr lang="en-US" sz="4400" dirty="0"/>
          </a:p>
        </p:txBody>
      </p:sp>
      <p:sp>
        <p:nvSpPr>
          <p:cNvPr id="9" name="Text 7"/>
          <p:cNvSpPr txBox="1"/>
          <p:nvPr/>
        </p:nvSpPr>
        <p:spPr>
          <a:xfrm>
            <a:off x="3694176" y="2926080"/>
            <a:ext cx="2286000" cy="64008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top-pick flip under</a:t>
            </a:r>
            <a:endParaRPr lang="en-US" sz="1300" dirty="0"/>
          </a:p>
          <a:p>
            <a:pPr marL="0" indent="0">
              <a:buNone/>
            </a:pPr>
            <a:r>
              <a:rPr lang="en-US" sz="1300" dirty="0">
                <a:solidFill>
                  <a:srgbClr val="7D6D8E"/>
                </a:solidFill>
                <a:latin typeface="Calibri" pitchFamily="34" charset="0"/>
                <a:ea typeface="Calibri" pitchFamily="34" charset="-122"/>
                <a:cs typeface="Calibri" pitchFamily="34" charset="-120"/>
              </a:rPr>
              <a:t>±20% weight jitter</a:t>
            </a:r>
            <a:endParaRPr lang="en-US" sz="1300" dirty="0"/>
          </a:p>
        </p:txBody>
      </p:sp>
      <p:sp>
        <p:nvSpPr>
          <p:cNvPr id="10" name="Shape 8"/>
          <p:cNvSpPr/>
          <p:nvPr/>
        </p:nvSpPr>
        <p:spPr>
          <a:xfrm>
            <a:off x="6291072" y="1920240"/>
            <a:ext cx="2651760" cy="1783080"/>
          </a:xfrm>
          <a:prstGeom prst="roundRect">
            <a:avLst>
              <a:gd name="adj" fmla="val 717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1" name="Text 9"/>
          <p:cNvSpPr txBox="1"/>
          <p:nvPr/>
        </p:nvSpPr>
        <p:spPr>
          <a:xfrm>
            <a:off x="6565392" y="2148840"/>
            <a:ext cx="2194560" cy="777240"/>
          </a:xfrm>
          <a:prstGeom prst="rect">
            <a:avLst/>
          </a:prstGeom>
          <a:noFill/>
          <a:ln/>
        </p:spPr>
        <p:txBody>
          <a:bodyPr wrap="square" lIns="0" tIns="0" rIns="0" bIns="0" rtlCol="0" anchor="t"/>
          <a:lstStyle/>
          <a:p>
            <a:pPr marL="0" indent="0">
              <a:buNone/>
            </a:pPr>
            <a:r>
              <a:rPr lang="en-US" sz="4400" dirty="0">
                <a:solidFill>
                  <a:srgbClr val="8F7BC6"/>
                </a:solidFill>
                <a:latin typeface="Georgia" pitchFamily="34" charset="0"/>
                <a:ea typeface="Georgia" pitchFamily="34" charset="-122"/>
                <a:cs typeface="Georgia" pitchFamily="34" charset="-120"/>
              </a:rPr>
              <a:t>0.96</a:t>
            </a:r>
            <a:endParaRPr lang="en-US" sz="4400" dirty="0"/>
          </a:p>
        </p:txBody>
      </p:sp>
      <p:sp>
        <p:nvSpPr>
          <p:cNvPr id="12" name="Text 10"/>
          <p:cNvSpPr txBox="1"/>
          <p:nvPr/>
        </p:nvSpPr>
        <p:spPr>
          <a:xfrm>
            <a:off x="6565392" y="2926080"/>
            <a:ext cx="2286000" cy="64008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face identity kept</a:t>
            </a:r>
            <a:endParaRPr lang="en-US" sz="1300" dirty="0"/>
          </a:p>
          <a:p>
            <a:pPr marL="0" indent="0">
              <a:buNone/>
            </a:pPr>
            <a:r>
              <a:rPr lang="en-US" sz="1300" dirty="0">
                <a:solidFill>
                  <a:srgbClr val="7D6D8E"/>
                </a:solidFill>
                <a:latin typeface="Calibri" pitchFamily="34" charset="0"/>
                <a:ea typeface="Calibri" pitchFamily="34" charset="-122"/>
                <a:cs typeface="Calibri" pitchFamily="34" charset="-120"/>
              </a:rPr>
              <a:t>after Enhance</a:t>
            </a:r>
            <a:endParaRPr lang="en-US" sz="1300" dirty="0"/>
          </a:p>
        </p:txBody>
      </p:sp>
      <p:sp>
        <p:nvSpPr>
          <p:cNvPr id="13" name="Shape 11"/>
          <p:cNvSpPr/>
          <p:nvPr/>
        </p:nvSpPr>
        <p:spPr>
          <a:xfrm>
            <a:off x="9162288" y="1920240"/>
            <a:ext cx="2651760" cy="1783080"/>
          </a:xfrm>
          <a:prstGeom prst="roundRect">
            <a:avLst>
              <a:gd name="adj" fmla="val 7179"/>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14" name="Text 12"/>
          <p:cNvSpPr txBox="1"/>
          <p:nvPr/>
        </p:nvSpPr>
        <p:spPr>
          <a:xfrm>
            <a:off x="9436608" y="2148840"/>
            <a:ext cx="2194560" cy="777240"/>
          </a:xfrm>
          <a:prstGeom prst="rect">
            <a:avLst/>
          </a:prstGeom>
          <a:noFill/>
          <a:ln/>
        </p:spPr>
        <p:txBody>
          <a:bodyPr wrap="square" lIns="0" tIns="0" rIns="0" bIns="0" rtlCol="0" anchor="t"/>
          <a:lstStyle/>
          <a:p>
            <a:pPr marL="0" indent="0">
              <a:buNone/>
            </a:pPr>
            <a:r>
              <a:rPr lang="en-US" sz="4400" dirty="0">
                <a:solidFill>
                  <a:srgbClr val="E38C9E"/>
                </a:solidFill>
                <a:latin typeface="Georgia" pitchFamily="34" charset="0"/>
                <a:ea typeface="Georgia" pitchFamily="34" charset="-122"/>
                <a:cs typeface="Georgia" pitchFamily="34" charset="-120"/>
              </a:rPr>
              <a:t>5.7×</a:t>
            </a:r>
            <a:endParaRPr lang="en-US" sz="4400" dirty="0"/>
          </a:p>
        </p:txBody>
      </p:sp>
      <p:sp>
        <p:nvSpPr>
          <p:cNvPr id="15" name="Text 13"/>
          <p:cNvSpPr txBox="1"/>
          <p:nvPr/>
        </p:nvSpPr>
        <p:spPr>
          <a:xfrm>
            <a:off x="9436608" y="2926080"/>
            <a:ext cx="2286000" cy="64008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faster upload,</a:t>
            </a:r>
            <a:endParaRPr lang="en-US" sz="1300" dirty="0"/>
          </a:p>
          <a:p>
            <a:pPr marL="0" indent="0">
              <a:buNone/>
            </a:pPr>
            <a:r>
              <a:rPr lang="en-US" sz="1300" dirty="0">
                <a:solidFill>
                  <a:srgbClr val="7D6D8E"/>
                </a:solidFill>
                <a:latin typeface="Calibri" pitchFamily="34" charset="0"/>
                <a:ea typeface="Calibri" pitchFamily="34" charset="-122"/>
                <a:cs typeface="Calibri" pitchFamily="34" charset="-120"/>
              </a:rPr>
              <a:t>4.3 s → 0.75 s</a:t>
            </a:r>
            <a:endParaRPr lang="en-US" sz="1300" dirty="0"/>
          </a:p>
        </p:txBody>
      </p:sp>
      <p:sp>
        <p:nvSpPr>
          <p:cNvPr id="16" name="Text 14"/>
          <p:cNvSpPr txBox="1"/>
          <p:nvPr/>
        </p:nvSpPr>
        <p:spPr>
          <a:xfrm>
            <a:off x="548640" y="4069080"/>
            <a:ext cx="7315200" cy="320040"/>
          </a:xfrm>
          <a:prstGeom prst="rect">
            <a:avLst/>
          </a:prstGeom>
          <a:noFill/>
          <a:ln/>
        </p:spPr>
        <p:txBody>
          <a:bodyPr wrap="square" lIns="0" tIns="0" rIns="0" bIns="0" rtlCol="0" anchor="t"/>
          <a:lstStyle/>
          <a:p>
            <a:pPr marL="0" indent="0">
              <a:buNone/>
            </a:pPr>
            <a:r>
              <a:rPr lang="en-US" sz="1300" i="1" dirty="0">
                <a:solidFill>
                  <a:srgbClr val="7D6D8E"/>
                </a:solidFill>
                <a:latin typeface="Calibri" pitchFamily="34" charset="0"/>
                <a:ea typeface="Calibri" pitchFamily="34" charset="-122"/>
                <a:cs typeface="Calibri" pitchFamily="34" charset="-120"/>
              </a:rPr>
              <a:t>Remove one signal: how stable is the ranking?  (Kendall τ, lower = matters more)</a:t>
            </a:r>
            <a:endParaRPr lang="en-US" sz="1300" dirty="0"/>
          </a:p>
        </p:txBody>
      </p:sp>
      <p:graphicFrame>
        <p:nvGraphicFramePr>
          <p:cNvPr id="17" name="Chart 0"/>
          <p:cNvGraphicFramePr/>
          <p:nvPr/>
        </p:nvGraphicFramePr>
        <p:xfrm>
          <a:off x="365760" y="4389120"/>
          <a:ext cx="7132320" cy="1965960"/>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 15"/>
          <p:cNvSpPr txBox="1"/>
          <p:nvPr/>
        </p:nvSpPr>
        <p:spPr>
          <a:xfrm>
            <a:off x="8092440" y="4526280"/>
            <a:ext cx="3566160" cy="822960"/>
          </a:xfrm>
          <a:prstGeom prst="rect">
            <a:avLst/>
          </a:prstGeom>
          <a:noFill/>
          <a:ln/>
        </p:spPr>
        <p:txBody>
          <a:bodyPr wrap="square" lIns="0" tIns="0" rIns="0" bIns="0" rtlCol="0" anchor="t"/>
          <a:lstStyle/>
          <a:p>
            <a:pPr marL="0" indent="0">
              <a:buNone/>
            </a:pPr>
            <a:r>
              <a:rPr lang="en-US" sz="2000" dirty="0">
                <a:solidFill>
                  <a:srgbClr val="2F2440"/>
                </a:solidFill>
                <a:latin typeface="Georgia" pitchFamily="34" charset="0"/>
                <a:ea typeface="Georgia" pitchFamily="34" charset="-122"/>
                <a:cs typeface="Georgia" pitchFamily="34" charset="-120"/>
              </a:rPr>
              <a:t>Sharpness and face size decide the pick.</a:t>
            </a:r>
            <a:endParaRPr lang="en-US" sz="2000" dirty="0"/>
          </a:p>
        </p:txBody>
      </p:sp>
      <p:sp>
        <p:nvSpPr>
          <p:cNvPr id="19" name="Text 16"/>
          <p:cNvSpPr txBox="1"/>
          <p:nvPr/>
        </p:nvSpPr>
        <p:spPr>
          <a:xfrm>
            <a:off x="8092440" y="5394960"/>
            <a:ext cx="3383280" cy="640080"/>
          </a:xfrm>
          <a:prstGeom prst="rect">
            <a:avLst/>
          </a:prstGeom>
          <a:noFill/>
          <a:ln/>
        </p:spPr>
        <p:txBody>
          <a:bodyPr wrap="square" lIns="0" tIns="0" rIns="0" bIns="0" rtlCol="0" anchor="t"/>
          <a:lstStyle/>
          <a:p>
            <a:pPr marL="0" indent="0">
              <a:buNone/>
            </a:pPr>
            <a:r>
              <a:rPr lang="en-US" sz="1300" dirty="0">
                <a:solidFill>
                  <a:srgbClr val="7D6D8E"/>
                </a:solidFill>
                <a:latin typeface="Calibri" pitchFamily="34" charset="0"/>
                <a:ea typeface="Calibri" pitchFamily="34" charset="-122"/>
                <a:cs typeface="Calibri" pitchFamily="34" charset="-120"/>
              </a:rPr>
              <a:t>The blink check rarely decides, but stops the worst shot winning.</a:t>
            </a:r>
            <a:endParaRPr lang="en-US" sz="1300" dirty="0"/>
          </a:p>
        </p:txBody>
      </p:sp>
      <p:sp>
        <p:nvSpPr>
          <p:cNvPr id="21" name="Text 17"/>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22" name="Text 18"/>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12  ·  REFLECTION</a:t>
            </a:r>
            <a:endParaRPr lang="en-US" sz="1100" dirty="0"/>
          </a:p>
        </p:txBody>
      </p:sp>
      <p:sp>
        <p:nvSpPr>
          <p:cNvPr id="3" name="Text 1"/>
          <p:cNvSpPr txBox="1"/>
          <p:nvPr/>
        </p:nvSpPr>
        <p:spPr>
          <a:xfrm>
            <a:off x="548640" y="1005840"/>
            <a:ext cx="7315200" cy="731520"/>
          </a:xfrm>
          <a:prstGeom prst="rect">
            <a:avLst/>
          </a:prstGeom>
          <a:noFill/>
          <a:ln/>
        </p:spPr>
        <p:txBody>
          <a:bodyPr wrap="square" lIns="0" tIns="0" rIns="0" bIns="0" rtlCol="0" anchor="t"/>
          <a:lstStyle/>
          <a:p>
            <a:pPr marL="0" indent="0">
              <a:buNone/>
            </a:pPr>
            <a:r>
              <a:rPr lang="en-US" sz="3800" dirty="0">
                <a:solidFill>
                  <a:srgbClr val="2F2440"/>
                </a:solidFill>
                <a:latin typeface="Georgia" pitchFamily="34" charset="0"/>
                <a:ea typeface="Georgia" pitchFamily="34" charset="-122"/>
                <a:cs typeface="Georgia" pitchFamily="34" charset="-120"/>
              </a:rPr>
              <a:t>Limits, and what's next</a:t>
            </a:r>
            <a:endParaRPr lang="en-US" sz="3800" dirty="0"/>
          </a:p>
        </p:txBody>
      </p:sp>
      <p:sp>
        <p:nvSpPr>
          <p:cNvPr id="4" name="Shape 2"/>
          <p:cNvSpPr/>
          <p:nvPr/>
        </p:nvSpPr>
        <p:spPr>
          <a:xfrm>
            <a:off x="548640" y="2011680"/>
            <a:ext cx="4297680" cy="3108960"/>
          </a:xfrm>
          <a:prstGeom prst="roundRect">
            <a:avLst>
              <a:gd name="adj" fmla="val 4118"/>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5" name="Shape 3"/>
          <p:cNvSpPr/>
          <p:nvPr/>
        </p:nvSpPr>
        <p:spPr>
          <a:xfrm>
            <a:off x="914400" y="2468880"/>
            <a:ext cx="164592" cy="164592"/>
          </a:xfrm>
          <a:prstGeom prst="ellipse">
            <a:avLst/>
          </a:prstGeom>
          <a:solidFill>
            <a:srgbClr val="E38C9E"/>
          </a:solidFill>
          <a:ln/>
        </p:spPr>
        <p:txBody>
          <a:bodyPr/>
          <a:lstStyle/>
          <a:p>
            <a:endParaRPr lang="en-US"/>
          </a:p>
        </p:txBody>
      </p:sp>
      <p:sp>
        <p:nvSpPr>
          <p:cNvPr id="6" name="Text 4"/>
          <p:cNvSpPr txBox="1"/>
          <p:nvPr/>
        </p:nvSpPr>
        <p:spPr>
          <a:xfrm>
            <a:off x="1234440" y="2350008"/>
            <a:ext cx="2743200" cy="411480"/>
          </a:xfrm>
          <a:prstGeom prst="rect">
            <a:avLst/>
          </a:prstGeom>
          <a:noFill/>
          <a:ln/>
        </p:spPr>
        <p:txBody>
          <a:bodyPr wrap="square" lIns="0" tIns="0" rIns="0" bIns="0" rtlCol="0" anchor="t"/>
          <a:lstStyle/>
          <a:p>
            <a:pPr marL="0" indent="0">
              <a:buNone/>
            </a:pPr>
            <a:r>
              <a:rPr lang="en-US" sz="2400" dirty="0">
                <a:solidFill>
                  <a:srgbClr val="2F2440"/>
                </a:solidFill>
                <a:latin typeface="Georgia" pitchFamily="34" charset="0"/>
                <a:ea typeface="Georgia" pitchFamily="34" charset="-122"/>
                <a:cs typeface="Georgia" pitchFamily="34" charset="-120"/>
              </a:rPr>
              <a:t>Limits</a:t>
            </a:r>
            <a:endParaRPr lang="en-US" sz="2400" dirty="0"/>
          </a:p>
        </p:txBody>
      </p:sp>
      <p:sp>
        <p:nvSpPr>
          <p:cNvPr id="7" name="Text 5"/>
          <p:cNvSpPr txBox="1"/>
          <p:nvPr/>
        </p:nvSpPr>
        <p:spPr>
          <a:xfrm>
            <a:off x="914400" y="3108960"/>
            <a:ext cx="3749040" cy="182880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Small labelled test set</a:t>
            </a:r>
            <a:endParaRPr lang="en-US" sz="1600" dirty="0"/>
          </a:p>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CPU hosting: slow first load</a:t>
            </a:r>
            <a:endParaRPr lang="en-US" sz="1600" dirty="0"/>
          </a:p>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200 photos per batch</a:t>
            </a:r>
            <a:endParaRPr lang="en-US" sz="1600" dirty="0"/>
          </a:p>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Enhance needs a paid API</a:t>
            </a:r>
            <a:endParaRPr lang="en-US" sz="1600" dirty="0"/>
          </a:p>
        </p:txBody>
      </p:sp>
      <p:sp>
        <p:nvSpPr>
          <p:cNvPr id="8" name="Shape 6"/>
          <p:cNvSpPr/>
          <p:nvPr/>
        </p:nvSpPr>
        <p:spPr>
          <a:xfrm>
            <a:off x="5074920" y="2011680"/>
            <a:ext cx="4297680" cy="3108960"/>
          </a:xfrm>
          <a:prstGeom prst="roundRect">
            <a:avLst>
              <a:gd name="adj" fmla="val 4118"/>
            </a:avLst>
          </a:prstGeom>
          <a:solidFill>
            <a:srgbClr val="FFFFFF"/>
          </a:solidFill>
          <a:ln/>
          <a:effectLst>
            <a:outerShdw blurRad="177800" dist="38100" dir="5400000" algn="bl" rotWithShape="0">
              <a:srgbClr val="4A345C">
                <a:alpha val="14000"/>
              </a:srgbClr>
            </a:outerShdw>
          </a:effectLst>
        </p:spPr>
        <p:txBody>
          <a:bodyPr/>
          <a:lstStyle/>
          <a:p>
            <a:endParaRPr lang="en-US"/>
          </a:p>
        </p:txBody>
      </p:sp>
      <p:sp>
        <p:nvSpPr>
          <p:cNvPr id="9" name="Shape 7"/>
          <p:cNvSpPr/>
          <p:nvPr/>
        </p:nvSpPr>
        <p:spPr>
          <a:xfrm>
            <a:off x="5440680" y="2468880"/>
            <a:ext cx="164592" cy="164592"/>
          </a:xfrm>
          <a:prstGeom prst="ellipse">
            <a:avLst/>
          </a:prstGeom>
          <a:solidFill>
            <a:srgbClr val="8F7BC6"/>
          </a:solidFill>
          <a:ln/>
        </p:spPr>
        <p:txBody>
          <a:bodyPr/>
          <a:lstStyle/>
          <a:p>
            <a:endParaRPr lang="en-US"/>
          </a:p>
        </p:txBody>
      </p:sp>
      <p:sp>
        <p:nvSpPr>
          <p:cNvPr id="10" name="Text 8"/>
          <p:cNvSpPr txBox="1"/>
          <p:nvPr/>
        </p:nvSpPr>
        <p:spPr>
          <a:xfrm>
            <a:off x="5760720" y="2350008"/>
            <a:ext cx="2743200" cy="411480"/>
          </a:xfrm>
          <a:prstGeom prst="rect">
            <a:avLst/>
          </a:prstGeom>
          <a:noFill/>
          <a:ln/>
        </p:spPr>
        <p:txBody>
          <a:bodyPr wrap="square" lIns="0" tIns="0" rIns="0" bIns="0" rtlCol="0" anchor="t"/>
          <a:lstStyle/>
          <a:p>
            <a:pPr marL="0" indent="0">
              <a:buNone/>
            </a:pPr>
            <a:r>
              <a:rPr lang="en-US" sz="2400" dirty="0">
                <a:solidFill>
                  <a:srgbClr val="2F2440"/>
                </a:solidFill>
                <a:latin typeface="Georgia" pitchFamily="34" charset="0"/>
                <a:ea typeface="Georgia" pitchFamily="34" charset="-122"/>
                <a:cs typeface="Georgia" pitchFamily="34" charset="-120"/>
              </a:rPr>
              <a:t>Next</a:t>
            </a:r>
            <a:endParaRPr lang="en-US" sz="2400" dirty="0"/>
          </a:p>
        </p:txBody>
      </p:sp>
      <p:sp>
        <p:nvSpPr>
          <p:cNvPr id="11" name="Text 9"/>
          <p:cNvSpPr txBox="1"/>
          <p:nvPr/>
        </p:nvSpPr>
        <p:spPr>
          <a:xfrm>
            <a:off x="5440680" y="3108960"/>
            <a:ext cx="3749040" cy="182880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Time and GPS for sharper moments</a:t>
            </a:r>
            <a:endParaRPr lang="en-US" sz="1600" dirty="0"/>
          </a:p>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Ask the user on unsure faces</a:t>
            </a:r>
            <a:endParaRPr lang="en-US" sz="1600" dirty="0"/>
          </a:p>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On-device, offline mode</a:t>
            </a:r>
            <a:endParaRPr lang="en-US" sz="1600" dirty="0"/>
          </a:p>
          <a:p>
            <a:pPr marL="228600" indent="-228600">
              <a:spcAft>
                <a:spcPts val="1400"/>
              </a:spcAft>
              <a:buSzPct val="100000"/>
              <a:buChar char="•"/>
            </a:pPr>
            <a:r>
              <a:rPr lang="en-US" sz="1600" dirty="0">
                <a:solidFill>
                  <a:srgbClr val="2F2440"/>
                </a:solidFill>
                <a:latin typeface="Calibri" pitchFamily="34" charset="0"/>
                <a:ea typeface="Calibri" pitchFamily="34" charset="-122"/>
                <a:cs typeface="Calibri" pitchFamily="34" charset="-120"/>
              </a:rPr>
              <a:t>Key-frames from video</a:t>
            </a:r>
            <a:endParaRPr lang="en-US" sz="1600" dirty="0"/>
          </a:p>
        </p:txBody>
      </p:sp>
      <p:pic>
        <p:nvPicPr>
          <p:cNvPr id="12" name="Image 0" descr="C:\Users\himat\AppData\Local\Temp\claude\c--Ai-stuffs-lumina\f3d460ba-f3ac-44b0-bd4c-6f066a888707\scratchpad\deck\assets\lumi_travel.png"/>
          <p:cNvPicPr>
            <a:picLocks noChangeAspect="1"/>
          </p:cNvPicPr>
          <p:nvPr/>
        </p:nvPicPr>
        <p:blipFill>
          <a:blip r:embed="rId4"/>
          <a:stretch>
            <a:fillRect/>
          </a:stretch>
        </p:blipFill>
        <p:spPr>
          <a:xfrm>
            <a:off x="9449562" y="2926080"/>
            <a:ext cx="2209038" cy="2377440"/>
          </a:xfrm>
          <a:prstGeom prst="rect">
            <a:avLst/>
          </a:prstGeom>
        </p:spPr>
      </p:pic>
      <p:sp>
        <p:nvSpPr>
          <p:cNvPr id="14" name="Text 10"/>
          <p:cNvSpPr txBox="1"/>
          <p:nvPr/>
        </p:nvSpPr>
        <p:spPr>
          <a:xfrm>
            <a:off x="548640" y="6419088"/>
            <a:ext cx="1828800" cy="256032"/>
          </a:xfrm>
          <a:prstGeom prst="rect">
            <a:avLst/>
          </a:prstGeom>
          <a:noFill/>
          <a:ln/>
        </p:spPr>
        <p:txBody>
          <a:bodyPr wrap="square" lIns="0" tIns="0" rIns="0" bIns="0" rtlCol="0" anchor="ctr"/>
          <a:lstStyle/>
          <a:p>
            <a:pPr marL="0" indent="0">
              <a:buNone/>
            </a:pPr>
            <a:r>
              <a:rPr lang="en-US" sz="1000" dirty="0">
                <a:solidFill>
                  <a:srgbClr val="7D6D8E"/>
                </a:solidFill>
                <a:latin typeface="Georgia" pitchFamily="34" charset="0"/>
                <a:ea typeface="Georgia" pitchFamily="34" charset="-122"/>
                <a:cs typeface="Georgia" pitchFamily="34" charset="-120"/>
              </a:rPr>
              <a:t>Lumina</a:t>
            </a:r>
            <a:endParaRPr lang="en-US" sz="1000" dirty="0"/>
          </a:p>
        </p:txBody>
      </p:sp>
      <p:sp>
        <p:nvSpPr>
          <p:cNvPr id="15" name="Text 11"/>
          <p:cNvSpPr txBox="1"/>
          <p:nvPr/>
        </p:nvSpPr>
        <p:spPr>
          <a:xfrm>
            <a:off x="10728655" y="6419088"/>
            <a:ext cx="914400" cy="256032"/>
          </a:xfrm>
          <a:prstGeom prst="rect">
            <a:avLst/>
          </a:prstGeom>
          <a:noFill/>
          <a:ln/>
        </p:spPr>
        <p:txBody>
          <a:bodyPr wrap="square" lIns="0" tIns="0" rIns="0" bIns="0" rtlCol="0" anchor="ctr"/>
          <a:lstStyle/>
          <a:p>
            <a:pPr marL="0" indent="0" algn="r">
              <a:buNone/>
            </a:pPr>
            <a:r>
              <a:rPr lang="en-US" sz="1000" dirty="0">
                <a:solidFill>
                  <a:srgbClr val="7D6D8E"/>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914400"/>
            <a:ext cx="5760720" cy="5029200"/>
          </a:xfrm>
          <a:prstGeom prst="roundRect">
            <a:avLst>
              <a:gd name="adj" fmla="val 3636"/>
            </a:avLst>
          </a:prstGeom>
          <a:solidFill>
            <a:srgbClr val="FFFFFF">
              <a:alpha val="78000"/>
            </a:srgbClr>
          </a:solidFill>
          <a:ln/>
          <a:effectLst>
            <a:outerShdw blurRad="177800" dist="38100" dir="5400000" algn="bl" rotWithShape="0">
              <a:srgbClr val="4A345C">
                <a:alpha val="14000"/>
              </a:srgbClr>
            </a:outerShdw>
          </a:effectLst>
        </p:spPr>
        <p:txBody>
          <a:bodyPr/>
          <a:lstStyle/>
          <a:p>
            <a:endParaRPr lang="en-US"/>
          </a:p>
        </p:txBody>
      </p:sp>
      <p:sp>
        <p:nvSpPr>
          <p:cNvPr id="3" name="Text 1"/>
          <p:cNvSpPr txBox="1"/>
          <p:nvPr/>
        </p:nvSpPr>
        <p:spPr>
          <a:xfrm>
            <a:off x="960120" y="1325880"/>
            <a:ext cx="5486400" cy="274320"/>
          </a:xfrm>
          <a:prstGeom prst="rect">
            <a:avLst/>
          </a:prstGeom>
          <a:noFill/>
          <a:ln/>
        </p:spPr>
        <p:txBody>
          <a:bodyPr wrap="square" lIns="0" tIns="0" rIns="0" bIns="0" rtlCol="0" anchor="ctr"/>
          <a:lstStyle/>
          <a:p>
            <a:pPr marL="0" indent="0">
              <a:buNone/>
            </a:pPr>
            <a:r>
              <a:rPr lang="en-US" sz="1100" b="1" kern="0" spc="300" dirty="0">
                <a:solidFill>
                  <a:srgbClr val="8F7BC6"/>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960120" y="1645920"/>
            <a:ext cx="5120640" cy="1463040"/>
          </a:xfrm>
          <a:prstGeom prst="rect">
            <a:avLst/>
          </a:prstGeom>
          <a:noFill/>
          <a:ln/>
        </p:spPr>
        <p:txBody>
          <a:bodyPr wrap="square" lIns="0" tIns="0" rIns="0" bIns="0" rtlCol="0" anchor="t"/>
          <a:lstStyle/>
          <a:p>
            <a:pPr marL="0" indent="0">
              <a:buNone/>
            </a:pPr>
            <a:r>
              <a:rPr lang="en-US" sz="4000" dirty="0">
                <a:solidFill>
                  <a:srgbClr val="2F2440"/>
                </a:solidFill>
                <a:latin typeface="Georgia" pitchFamily="34" charset="0"/>
                <a:ea typeface="Georgia" pitchFamily="34" charset="-122"/>
                <a:cs typeface="Georgia" pitchFamily="34" charset="-120"/>
              </a:rPr>
              <a:t>Less scrolling.</a:t>
            </a:r>
            <a:endParaRPr lang="en-US" sz="4000" dirty="0"/>
          </a:p>
          <a:p>
            <a:pPr marL="0" indent="0">
              <a:buNone/>
            </a:pPr>
            <a:r>
              <a:rPr lang="en-US" sz="4000" dirty="0">
                <a:solidFill>
                  <a:srgbClr val="2F2440"/>
                </a:solidFill>
                <a:latin typeface="Georgia" pitchFamily="34" charset="0"/>
                <a:ea typeface="Georgia" pitchFamily="34" charset="-122"/>
                <a:cs typeface="Georgia" pitchFamily="34" charset="-120"/>
              </a:rPr>
              <a:t>More remembering.</a:t>
            </a:r>
            <a:endParaRPr lang="en-US" sz="4000" dirty="0"/>
          </a:p>
        </p:txBody>
      </p:sp>
      <p:sp>
        <p:nvSpPr>
          <p:cNvPr id="5" name="Text 3"/>
          <p:cNvSpPr txBox="1"/>
          <p:nvPr/>
        </p:nvSpPr>
        <p:spPr>
          <a:xfrm>
            <a:off x="960120" y="3648456"/>
            <a:ext cx="457200" cy="320040"/>
          </a:xfrm>
          <a:prstGeom prst="rect">
            <a:avLst/>
          </a:prstGeom>
          <a:noFill/>
          <a:ln/>
        </p:spPr>
        <p:txBody>
          <a:bodyPr wrap="square" lIns="0" tIns="0" rIns="0" bIns="0" rtlCol="0" anchor="t"/>
          <a:lstStyle/>
          <a:p>
            <a:pPr marL="0" indent="0">
              <a:buNone/>
            </a:pPr>
            <a:r>
              <a:rPr lang="en-US" sz="1200" b="1" kern="0" spc="200" dirty="0">
                <a:solidFill>
                  <a:srgbClr val="8F7BC6"/>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463040" y="3611880"/>
            <a:ext cx="4480560" cy="365760"/>
          </a:xfrm>
          <a:prstGeom prst="rect">
            <a:avLst/>
          </a:prstGeom>
          <a:noFill/>
          <a:ln/>
        </p:spPr>
        <p:txBody>
          <a:bodyPr wrap="square" lIns="0" tIns="0" rIns="0" bIns="0" rtlCol="0" anchor="t"/>
          <a:lstStyle/>
          <a:p>
            <a:pPr marL="0" indent="0">
              <a:buNone/>
            </a:pPr>
            <a:r>
              <a:rPr lang="en-US" sz="1700" dirty="0">
                <a:solidFill>
                  <a:srgbClr val="2F2440"/>
                </a:solidFill>
                <a:latin typeface="Calibri" pitchFamily="34" charset="0"/>
                <a:ea typeface="Calibri" pitchFamily="34" charset="-122"/>
                <a:cs typeface="Calibri" pitchFamily="34" charset="-120"/>
              </a:rPr>
              <a:t>Finds the people and the moments.</a:t>
            </a:r>
            <a:endParaRPr lang="en-US" sz="1700" dirty="0"/>
          </a:p>
        </p:txBody>
      </p:sp>
      <p:sp>
        <p:nvSpPr>
          <p:cNvPr id="7" name="Text 5"/>
          <p:cNvSpPr txBox="1"/>
          <p:nvPr/>
        </p:nvSpPr>
        <p:spPr>
          <a:xfrm>
            <a:off x="960120" y="4306824"/>
            <a:ext cx="457200" cy="320040"/>
          </a:xfrm>
          <a:prstGeom prst="rect">
            <a:avLst/>
          </a:prstGeom>
          <a:noFill/>
          <a:ln/>
        </p:spPr>
        <p:txBody>
          <a:bodyPr wrap="square" lIns="0" tIns="0" rIns="0" bIns="0" rtlCol="0" anchor="t"/>
          <a:lstStyle/>
          <a:p>
            <a:pPr marL="0" indent="0">
              <a:buNone/>
            </a:pPr>
            <a:r>
              <a:rPr lang="en-US" sz="1200" b="1" kern="0" spc="200" dirty="0">
                <a:solidFill>
                  <a:srgbClr val="8F7BC6"/>
                </a:solidFill>
                <a:latin typeface="Calibri" pitchFamily="34" charset="0"/>
                <a:ea typeface="Calibri" pitchFamily="34" charset="-122"/>
                <a:cs typeface="Calibri" pitchFamily="34" charset="-120"/>
              </a:rPr>
              <a:t>02</a:t>
            </a:r>
            <a:endParaRPr lang="en-US" sz="1200" dirty="0"/>
          </a:p>
        </p:txBody>
      </p:sp>
      <p:sp>
        <p:nvSpPr>
          <p:cNvPr id="8" name="Text 6"/>
          <p:cNvSpPr txBox="1"/>
          <p:nvPr/>
        </p:nvSpPr>
        <p:spPr>
          <a:xfrm>
            <a:off x="1463040" y="4270248"/>
            <a:ext cx="4480560" cy="365760"/>
          </a:xfrm>
          <a:prstGeom prst="rect">
            <a:avLst/>
          </a:prstGeom>
          <a:noFill/>
          <a:ln/>
        </p:spPr>
        <p:txBody>
          <a:bodyPr wrap="square" lIns="0" tIns="0" rIns="0" bIns="0" rtlCol="0" anchor="t"/>
          <a:lstStyle/>
          <a:p>
            <a:pPr marL="0" indent="0">
              <a:buNone/>
            </a:pPr>
            <a:r>
              <a:rPr lang="en-US" sz="1700" dirty="0">
                <a:solidFill>
                  <a:srgbClr val="2F2440"/>
                </a:solidFill>
                <a:latin typeface="Calibri" pitchFamily="34" charset="0"/>
                <a:ea typeface="Calibri" pitchFamily="34" charset="-122"/>
                <a:cs typeface="Calibri" pitchFamily="34" charset="-120"/>
              </a:rPr>
              <a:t>Picks the best shot, and says why.</a:t>
            </a:r>
            <a:endParaRPr lang="en-US" sz="1700" dirty="0"/>
          </a:p>
        </p:txBody>
      </p:sp>
      <p:sp>
        <p:nvSpPr>
          <p:cNvPr id="9" name="Text 7"/>
          <p:cNvSpPr txBox="1"/>
          <p:nvPr/>
        </p:nvSpPr>
        <p:spPr>
          <a:xfrm>
            <a:off x="960120" y="4965192"/>
            <a:ext cx="457200" cy="320040"/>
          </a:xfrm>
          <a:prstGeom prst="rect">
            <a:avLst/>
          </a:prstGeom>
          <a:noFill/>
          <a:ln/>
        </p:spPr>
        <p:txBody>
          <a:bodyPr wrap="square" lIns="0" tIns="0" rIns="0" bIns="0" rtlCol="0" anchor="t"/>
          <a:lstStyle/>
          <a:p>
            <a:pPr marL="0" indent="0">
              <a:buNone/>
            </a:pPr>
            <a:r>
              <a:rPr lang="en-US" sz="1200" b="1" kern="0" spc="200" dirty="0">
                <a:solidFill>
                  <a:srgbClr val="8F7BC6"/>
                </a:solidFill>
                <a:latin typeface="Calibri" pitchFamily="34" charset="0"/>
                <a:ea typeface="Calibri" pitchFamily="34" charset="-122"/>
                <a:cs typeface="Calibri" pitchFamily="34" charset="-120"/>
              </a:rPr>
              <a:t>03</a:t>
            </a:r>
            <a:endParaRPr lang="en-US" sz="1200" dirty="0"/>
          </a:p>
        </p:txBody>
      </p:sp>
      <p:sp>
        <p:nvSpPr>
          <p:cNvPr id="10" name="Text 8"/>
          <p:cNvSpPr txBox="1"/>
          <p:nvPr/>
        </p:nvSpPr>
        <p:spPr>
          <a:xfrm>
            <a:off x="1463040" y="4928616"/>
            <a:ext cx="4480560" cy="365760"/>
          </a:xfrm>
          <a:prstGeom prst="rect">
            <a:avLst/>
          </a:prstGeom>
          <a:noFill/>
          <a:ln/>
        </p:spPr>
        <p:txBody>
          <a:bodyPr wrap="square" lIns="0" tIns="0" rIns="0" bIns="0" rtlCol="0" anchor="t"/>
          <a:lstStyle/>
          <a:p>
            <a:pPr marL="0" indent="0">
              <a:buNone/>
            </a:pPr>
            <a:r>
              <a:rPr lang="en-US" sz="1700" dirty="0">
                <a:solidFill>
                  <a:srgbClr val="2F2440"/>
                </a:solidFill>
                <a:latin typeface="Calibri" pitchFamily="34" charset="0"/>
                <a:ea typeface="Calibri" pitchFamily="34" charset="-122"/>
                <a:cs typeface="Calibri" pitchFamily="34" charset="-120"/>
              </a:rPr>
              <a:t>Learns you, then makes something to keep.</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737360"/>
            <a:ext cx="6400800" cy="1280160"/>
          </a:xfrm>
          <a:prstGeom prst="rect">
            <a:avLst/>
          </a:prstGeom>
          <a:noFill/>
          <a:ln/>
        </p:spPr>
        <p:txBody>
          <a:bodyPr wrap="square" lIns="0" tIns="0" rIns="0" bIns="0" rtlCol="0" anchor="ctr"/>
          <a:lstStyle/>
          <a:p>
            <a:pPr marL="0" indent="0">
              <a:buNone/>
            </a:pPr>
            <a:r>
              <a:rPr lang="en-US" sz="8000" dirty="0">
                <a:solidFill>
                  <a:srgbClr val="FFFFFF"/>
                </a:solidFill>
                <a:latin typeface="Georgia" pitchFamily="34" charset="0"/>
                <a:ea typeface="Georgia" pitchFamily="34" charset="-122"/>
                <a:cs typeface="Georgia" pitchFamily="34" charset="-120"/>
              </a:rPr>
              <a:t>Questions?</a:t>
            </a:r>
            <a:endParaRPr lang="en-US" sz="8000" dirty="0"/>
          </a:p>
        </p:txBody>
      </p:sp>
      <p:sp>
        <p:nvSpPr>
          <p:cNvPr id="3" name="Text 1"/>
          <p:cNvSpPr txBox="1"/>
          <p:nvPr/>
        </p:nvSpPr>
        <p:spPr>
          <a:xfrm>
            <a:off x="777240" y="3063240"/>
            <a:ext cx="6400800" cy="457200"/>
          </a:xfrm>
          <a:prstGeom prst="rect">
            <a:avLst/>
          </a:prstGeom>
          <a:noFill/>
          <a:ln/>
        </p:spPr>
        <p:txBody>
          <a:bodyPr wrap="square" lIns="0" tIns="0" rIns="0" bIns="0" rtlCol="0" anchor="ctr"/>
          <a:lstStyle/>
          <a:p>
            <a:pPr marL="0" indent="0">
              <a:buNone/>
            </a:pPr>
            <a:r>
              <a:rPr lang="en-US" sz="2200" i="1" dirty="0">
                <a:solidFill>
                  <a:srgbClr val="FFFFFF"/>
                </a:solidFill>
                <a:latin typeface="Georgia" pitchFamily="34" charset="0"/>
                <a:ea typeface="Georgia" pitchFamily="34" charset="-122"/>
                <a:cs typeface="Georgia" pitchFamily="34" charset="-120"/>
              </a:rPr>
              <a:t>Thank you, from us and from Lumi.</a:t>
            </a:r>
            <a:endParaRPr lang="en-US" sz="2200" dirty="0"/>
          </a:p>
        </p:txBody>
      </p:sp>
      <p:sp>
        <p:nvSpPr>
          <p:cNvPr id="4" name="Text 2"/>
          <p:cNvSpPr txBox="1"/>
          <p:nvPr/>
        </p:nvSpPr>
        <p:spPr>
          <a:xfrm>
            <a:off x="777240" y="5577840"/>
            <a:ext cx="6400800" cy="640080"/>
          </a:xfrm>
          <a:prstGeom prst="rect">
            <a:avLst/>
          </a:prstGeom>
          <a:noFill/>
          <a:ln/>
        </p:spPr>
        <p:txBody>
          <a:bodyPr wrap="square" lIns="0" tIns="0" rIns="0" bIns="0" rtlCol="0" anchor="ctr"/>
          <a:lstStyle/>
          <a:p>
            <a:pPr marL="0" indent="0">
              <a:buNone/>
            </a:pPr>
            <a:r>
              <a:rPr lang="en-US" sz="1500" b="1" dirty="0">
                <a:solidFill>
                  <a:srgbClr val="8F7BC6"/>
                </a:solidFill>
                <a:latin typeface="Calibri" pitchFamily="34" charset="0"/>
                <a:ea typeface="Calibri" pitchFamily="34" charset="-122"/>
                <a:cs typeface="Calibri" pitchFamily="34" charset="-120"/>
              </a:rPr>
              <a:t>Try it</a:t>
            </a:r>
            <a:endParaRPr lang="en-US" sz="1500" dirty="0"/>
          </a:p>
          <a:p>
            <a:pPr marL="0" indent="0">
              <a:buNone/>
            </a:pPr>
            <a:r>
              <a:rPr lang="en-US" sz="1500" dirty="0">
                <a:solidFill>
                  <a:srgbClr val="2F2440"/>
                </a:solidFill>
                <a:latin typeface="Calibri" pitchFamily="34" charset="0"/>
                <a:ea typeface="Calibri" pitchFamily="34" charset="-122"/>
                <a:cs typeface="Calibri" pitchFamily="34" charset="-120"/>
              </a:rPr>
              <a:t>lumina-production-639d.up.railway.app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772</TotalTime>
  <Words>1599</Words>
  <Application>Microsoft Office PowerPoint</Application>
  <PresentationFormat>Widescreen</PresentationFormat>
  <Paragraphs>225</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Lumina — Capstone Presentation</dc:title>
  <dc:subject>PptxGenJS Presentation</dc:subject>
  <dc:creator>Ong Qing Quan, Agustinus Benyamin Prasetyo</dc:creator>
  <cp:lastModifiedBy>qing quan ong</cp:lastModifiedBy>
  <cp:revision>2</cp:revision>
  <dcterms:created xsi:type="dcterms:W3CDTF">2026-09-26T16:32:45Z</dcterms:created>
  <dcterms:modified xsi:type="dcterms:W3CDTF">2026-09-27T05:25:56Z</dcterms:modified>
</cp:coreProperties>
</file>